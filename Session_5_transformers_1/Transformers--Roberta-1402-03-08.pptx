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0"/>
  </p:notesMasterIdLst>
  <p:sldIdLst>
    <p:sldId id="256" r:id="rId2"/>
    <p:sldId id="287" r:id="rId3"/>
    <p:sldId id="275" r:id="rId4"/>
    <p:sldId id="281" r:id="rId5"/>
    <p:sldId id="274" r:id="rId6"/>
    <p:sldId id="280" r:id="rId7"/>
    <p:sldId id="267" r:id="rId8"/>
    <p:sldId id="285" r:id="rId9"/>
    <p:sldId id="261" r:id="rId10"/>
    <p:sldId id="277" r:id="rId11"/>
    <p:sldId id="286" r:id="rId12"/>
    <p:sldId id="269" r:id="rId13"/>
    <p:sldId id="263" r:id="rId14"/>
    <p:sldId id="271" r:id="rId15"/>
    <p:sldId id="272" r:id="rId16"/>
    <p:sldId id="273" r:id="rId17"/>
    <p:sldId id="259" r:id="rId18"/>
    <p:sldId id="265" r:id="rId19"/>
    <p:sldId id="282" r:id="rId20"/>
    <p:sldId id="283" r:id="rId21"/>
    <p:sldId id="284" r:id="rId22"/>
    <p:sldId id="270" r:id="rId23"/>
    <p:sldId id="278" r:id="rId24"/>
    <p:sldId id="279" r:id="rId25"/>
    <p:sldId id="268" r:id="rId26"/>
    <p:sldId id="266" r:id="rId27"/>
    <p:sldId id="257" r:id="rId28"/>
    <p:sldId id="258" r:id="rId2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8" d="100"/>
          <a:sy n="78" d="100"/>
        </p:scale>
        <p:origin x="850"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73DB4AB-4707-44CB-992A-BC0B3E5A0614}" type="datetimeFigureOut">
              <a:rPr lang="en-US" smtClean="0"/>
              <a:t>5/29/2024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BFEE141-B1BF-48B9-ABCD-94B2C41C0D06}" type="slidenum">
              <a:rPr lang="en-US" smtClean="0"/>
              <a:t>‹#›</a:t>
            </a:fld>
            <a:endParaRPr lang="en-US"/>
          </a:p>
        </p:txBody>
      </p:sp>
    </p:spTree>
    <p:extLst>
      <p:ext uri="{BB962C8B-B14F-4D97-AF65-F5344CB8AC3E}">
        <p14:creationId xmlns:p14="http://schemas.microsoft.com/office/powerpoint/2010/main" val="26745556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BFEE141-B1BF-48B9-ABCD-94B2C41C0D06}" type="slidenum">
              <a:rPr lang="en-US" smtClean="0"/>
              <a:t>3</a:t>
            </a:fld>
            <a:endParaRPr lang="en-US"/>
          </a:p>
        </p:txBody>
      </p:sp>
    </p:spTree>
    <p:extLst>
      <p:ext uri="{BB962C8B-B14F-4D97-AF65-F5344CB8AC3E}">
        <p14:creationId xmlns:p14="http://schemas.microsoft.com/office/powerpoint/2010/main" val="419011861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50DA14-2B53-E5A4-D99D-5749D572483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BACD8795-423D-FE5B-9F77-146EC409E91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1FCC8E86-4AC4-00A6-3D06-42B1FEB32CD0}"/>
              </a:ext>
            </a:extLst>
          </p:cNvPr>
          <p:cNvSpPr>
            <a:spLocks noGrp="1"/>
          </p:cNvSpPr>
          <p:nvPr>
            <p:ph type="dt" sz="half" idx="10"/>
          </p:nvPr>
        </p:nvSpPr>
        <p:spPr/>
        <p:txBody>
          <a:bodyPr/>
          <a:lstStyle/>
          <a:p>
            <a:fld id="{A30BC93E-EE2C-4DA0-AB2E-64072B161BD0}" type="datetimeFigureOut">
              <a:rPr lang="en-US" smtClean="0"/>
              <a:t>5/29/2024</a:t>
            </a:fld>
            <a:endParaRPr lang="en-US"/>
          </a:p>
        </p:txBody>
      </p:sp>
      <p:sp>
        <p:nvSpPr>
          <p:cNvPr id="5" name="Footer Placeholder 4">
            <a:extLst>
              <a:ext uri="{FF2B5EF4-FFF2-40B4-BE49-F238E27FC236}">
                <a16:creationId xmlns:a16="http://schemas.microsoft.com/office/drawing/2014/main" id="{E6575FE8-A9E2-E478-1798-38F59A792C2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2EDB256-E5B1-242A-5443-36DAB2867852}"/>
              </a:ext>
            </a:extLst>
          </p:cNvPr>
          <p:cNvSpPr>
            <a:spLocks noGrp="1"/>
          </p:cNvSpPr>
          <p:nvPr>
            <p:ph type="sldNum" sz="quarter" idx="12"/>
          </p:nvPr>
        </p:nvSpPr>
        <p:spPr/>
        <p:txBody>
          <a:bodyPr/>
          <a:lstStyle/>
          <a:p>
            <a:fld id="{40B7CB69-DA8A-43D8-A253-D1F174C20779}" type="slidenum">
              <a:rPr lang="en-US" smtClean="0"/>
              <a:t>‹#›</a:t>
            </a:fld>
            <a:endParaRPr lang="en-US"/>
          </a:p>
        </p:txBody>
      </p:sp>
    </p:spTree>
    <p:extLst>
      <p:ext uri="{BB962C8B-B14F-4D97-AF65-F5344CB8AC3E}">
        <p14:creationId xmlns:p14="http://schemas.microsoft.com/office/powerpoint/2010/main" val="16357395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2F081-20FC-378B-7800-B9718F7E24C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830FB96-B9F5-C751-CB83-61E4D253065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6E0124E-48BF-C95E-8D29-1CF29891D28B}"/>
              </a:ext>
            </a:extLst>
          </p:cNvPr>
          <p:cNvSpPr>
            <a:spLocks noGrp="1"/>
          </p:cNvSpPr>
          <p:nvPr>
            <p:ph type="dt" sz="half" idx="10"/>
          </p:nvPr>
        </p:nvSpPr>
        <p:spPr/>
        <p:txBody>
          <a:bodyPr/>
          <a:lstStyle/>
          <a:p>
            <a:fld id="{A30BC93E-EE2C-4DA0-AB2E-64072B161BD0}" type="datetimeFigureOut">
              <a:rPr lang="en-US" smtClean="0"/>
              <a:t>5/29/2024</a:t>
            </a:fld>
            <a:endParaRPr lang="en-US"/>
          </a:p>
        </p:txBody>
      </p:sp>
      <p:sp>
        <p:nvSpPr>
          <p:cNvPr id="5" name="Footer Placeholder 4">
            <a:extLst>
              <a:ext uri="{FF2B5EF4-FFF2-40B4-BE49-F238E27FC236}">
                <a16:creationId xmlns:a16="http://schemas.microsoft.com/office/drawing/2014/main" id="{A1239E1B-09B1-D3CC-7FFD-98184C4AA51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90CA870-EED8-B9A2-40AB-4C8235C8BEF8}"/>
              </a:ext>
            </a:extLst>
          </p:cNvPr>
          <p:cNvSpPr>
            <a:spLocks noGrp="1"/>
          </p:cNvSpPr>
          <p:nvPr>
            <p:ph type="sldNum" sz="quarter" idx="12"/>
          </p:nvPr>
        </p:nvSpPr>
        <p:spPr/>
        <p:txBody>
          <a:bodyPr/>
          <a:lstStyle/>
          <a:p>
            <a:fld id="{40B7CB69-DA8A-43D8-A253-D1F174C20779}" type="slidenum">
              <a:rPr lang="en-US" smtClean="0"/>
              <a:t>‹#›</a:t>
            </a:fld>
            <a:endParaRPr lang="en-US"/>
          </a:p>
        </p:txBody>
      </p:sp>
    </p:spTree>
    <p:extLst>
      <p:ext uri="{BB962C8B-B14F-4D97-AF65-F5344CB8AC3E}">
        <p14:creationId xmlns:p14="http://schemas.microsoft.com/office/powerpoint/2010/main" val="231217720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05B534-CB53-38B5-3643-C0BB3EDC120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71172C16-3417-675B-A92B-8982182052AE}"/>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224A852-5522-F6C5-C14B-5CE2CB4393E0}"/>
              </a:ext>
            </a:extLst>
          </p:cNvPr>
          <p:cNvSpPr>
            <a:spLocks noGrp="1"/>
          </p:cNvSpPr>
          <p:nvPr>
            <p:ph type="dt" sz="half" idx="10"/>
          </p:nvPr>
        </p:nvSpPr>
        <p:spPr/>
        <p:txBody>
          <a:bodyPr/>
          <a:lstStyle/>
          <a:p>
            <a:fld id="{A30BC93E-EE2C-4DA0-AB2E-64072B161BD0}" type="datetimeFigureOut">
              <a:rPr lang="en-US" smtClean="0"/>
              <a:t>5/29/2024</a:t>
            </a:fld>
            <a:endParaRPr lang="en-US"/>
          </a:p>
        </p:txBody>
      </p:sp>
      <p:sp>
        <p:nvSpPr>
          <p:cNvPr id="5" name="Footer Placeholder 4">
            <a:extLst>
              <a:ext uri="{FF2B5EF4-FFF2-40B4-BE49-F238E27FC236}">
                <a16:creationId xmlns:a16="http://schemas.microsoft.com/office/drawing/2014/main" id="{4DCB022F-A956-1344-6ED8-2174F465D3E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756CFCC-AC45-EBE1-DAF2-99EE755FEABB}"/>
              </a:ext>
            </a:extLst>
          </p:cNvPr>
          <p:cNvSpPr>
            <a:spLocks noGrp="1"/>
          </p:cNvSpPr>
          <p:nvPr>
            <p:ph type="sldNum" sz="quarter" idx="12"/>
          </p:nvPr>
        </p:nvSpPr>
        <p:spPr/>
        <p:txBody>
          <a:bodyPr/>
          <a:lstStyle/>
          <a:p>
            <a:fld id="{40B7CB69-DA8A-43D8-A253-D1F174C20779}" type="slidenum">
              <a:rPr lang="en-US" smtClean="0"/>
              <a:t>‹#›</a:t>
            </a:fld>
            <a:endParaRPr lang="en-US"/>
          </a:p>
        </p:txBody>
      </p:sp>
    </p:spTree>
    <p:extLst>
      <p:ext uri="{BB962C8B-B14F-4D97-AF65-F5344CB8AC3E}">
        <p14:creationId xmlns:p14="http://schemas.microsoft.com/office/powerpoint/2010/main" val="372181051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AE0D35-E9F0-7F34-D6DA-B744B101B5F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085818A-88BB-A4B1-1232-D477C8B339FE}"/>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877E1091-1941-8E5B-0410-3BD6CF2081B8}"/>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14855627-56BA-F603-BC6C-5BB2354D4108}"/>
              </a:ext>
            </a:extLst>
          </p:cNvPr>
          <p:cNvSpPr>
            <a:spLocks noGrp="1"/>
          </p:cNvSpPr>
          <p:nvPr>
            <p:ph type="dt" sz="half" idx="10"/>
          </p:nvPr>
        </p:nvSpPr>
        <p:spPr/>
        <p:txBody>
          <a:bodyPr/>
          <a:lstStyle/>
          <a:p>
            <a:fld id="{A30BC93E-EE2C-4DA0-AB2E-64072B161BD0}" type="datetimeFigureOut">
              <a:rPr lang="en-US" smtClean="0"/>
              <a:t>5/29/2024</a:t>
            </a:fld>
            <a:endParaRPr lang="en-US"/>
          </a:p>
        </p:txBody>
      </p:sp>
      <p:sp>
        <p:nvSpPr>
          <p:cNvPr id="6" name="Footer Placeholder 5">
            <a:extLst>
              <a:ext uri="{FF2B5EF4-FFF2-40B4-BE49-F238E27FC236}">
                <a16:creationId xmlns:a16="http://schemas.microsoft.com/office/drawing/2014/main" id="{A39E0C66-DE8B-01C0-F4DA-1DE2DEA271D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692BD8C-F90C-87AD-87A1-FC23D0B44D43}"/>
              </a:ext>
            </a:extLst>
          </p:cNvPr>
          <p:cNvSpPr>
            <a:spLocks noGrp="1"/>
          </p:cNvSpPr>
          <p:nvPr>
            <p:ph type="sldNum" sz="quarter" idx="12"/>
          </p:nvPr>
        </p:nvSpPr>
        <p:spPr/>
        <p:txBody>
          <a:bodyPr/>
          <a:lstStyle/>
          <a:p>
            <a:fld id="{40B7CB69-DA8A-43D8-A253-D1F174C20779}" type="slidenum">
              <a:rPr lang="en-US" smtClean="0"/>
              <a:t>‹#›</a:t>
            </a:fld>
            <a:endParaRPr lang="en-US"/>
          </a:p>
        </p:txBody>
      </p:sp>
    </p:spTree>
    <p:extLst>
      <p:ext uri="{BB962C8B-B14F-4D97-AF65-F5344CB8AC3E}">
        <p14:creationId xmlns:p14="http://schemas.microsoft.com/office/powerpoint/2010/main" val="377497778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D166FE-6E19-7FEC-BEA8-BADC85A75451}"/>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1F095469-374F-04D0-E8D7-57B87D2DDE6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0C9410F4-A272-90C9-25B0-4A6E17741F3D}"/>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66D6ABD8-A8F9-9645-7836-E15281D3472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2BC39472-7016-C24E-1163-EFEC4007612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ECF040DB-6D5A-F3D7-8CAF-44113D58703C}"/>
              </a:ext>
            </a:extLst>
          </p:cNvPr>
          <p:cNvSpPr>
            <a:spLocks noGrp="1"/>
          </p:cNvSpPr>
          <p:nvPr>
            <p:ph type="dt" sz="half" idx="10"/>
          </p:nvPr>
        </p:nvSpPr>
        <p:spPr/>
        <p:txBody>
          <a:bodyPr/>
          <a:lstStyle/>
          <a:p>
            <a:fld id="{A30BC93E-EE2C-4DA0-AB2E-64072B161BD0}" type="datetimeFigureOut">
              <a:rPr lang="en-US" smtClean="0"/>
              <a:t>5/29/2024</a:t>
            </a:fld>
            <a:endParaRPr lang="en-US"/>
          </a:p>
        </p:txBody>
      </p:sp>
      <p:sp>
        <p:nvSpPr>
          <p:cNvPr id="8" name="Footer Placeholder 7">
            <a:extLst>
              <a:ext uri="{FF2B5EF4-FFF2-40B4-BE49-F238E27FC236}">
                <a16:creationId xmlns:a16="http://schemas.microsoft.com/office/drawing/2014/main" id="{18FFC624-7832-B6C0-55BA-C0B0109507E0}"/>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6088B978-CD7B-99B9-3F2A-9194FA2C53B5}"/>
              </a:ext>
            </a:extLst>
          </p:cNvPr>
          <p:cNvSpPr>
            <a:spLocks noGrp="1"/>
          </p:cNvSpPr>
          <p:nvPr>
            <p:ph type="sldNum" sz="quarter" idx="12"/>
          </p:nvPr>
        </p:nvSpPr>
        <p:spPr/>
        <p:txBody>
          <a:bodyPr/>
          <a:lstStyle/>
          <a:p>
            <a:fld id="{40B7CB69-DA8A-43D8-A253-D1F174C20779}" type="slidenum">
              <a:rPr lang="en-US" smtClean="0"/>
              <a:t>‹#›</a:t>
            </a:fld>
            <a:endParaRPr lang="en-US"/>
          </a:p>
        </p:txBody>
      </p:sp>
    </p:spTree>
    <p:extLst>
      <p:ext uri="{BB962C8B-B14F-4D97-AF65-F5344CB8AC3E}">
        <p14:creationId xmlns:p14="http://schemas.microsoft.com/office/powerpoint/2010/main" val="12568426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9353A1-6FBC-8312-7001-99BB899C10AF}"/>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009144F7-CFF3-5570-FF57-4C3E82420DFF}"/>
              </a:ext>
            </a:extLst>
          </p:cNvPr>
          <p:cNvSpPr>
            <a:spLocks noGrp="1"/>
          </p:cNvSpPr>
          <p:nvPr>
            <p:ph type="dt" sz="half" idx="10"/>
          </p:nvPr>
        </p:nvSpPr>
        <p:spPr/>
        <p:txBody>
          <a:bodyPr/>
          <a:lstStyle/>
          <a:p>
            <a:fld id="{A30BC93E-EE2C-4DA0-AB2E-64072B161BD0}" type="datetimeFigureOut">
              <a:rPr lang="en-US" smtClean="0"/>
              <a:t>5/29/2024</a:t>
            </a:fld>
            <a:endParaRPr lang="en-US"/>
          </a:p>
        </p:txBody>
      </p:sp>
      <p:sp>
        <p:nvSpPr>
          <p:cNvPr id="4" name="Footer Placeholder 3">
            <a:extLst>
              <a:ext uri="{FF2B5EF4-FFF2-40B4-BE49-F238E27FC236}">
                <a16:creationId xmlns:a16="http://schemas.microsoft.com/office/drawing/2014/main" id="{845C4CB4-F22B-4225-9205-8A242B2F4B73}"/>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8FCCF217-695B-2659-F062-D1D9710CA839}"/>
              </a:ext>
            </a:extLst>
          </p:cNvPr>
          <p:cNvSpPr>
            <a:spLocks noGrp="1"/>
          </p:cNvSpPr>
          <p:nvPr>
            <p:ph type="sldNum" sz="quarter" idx="12"/>
          </p:nvPr>
        </p:nvSpPr>
        <p:spPr/>
        <p:txBody>
          <a:bodyPr/>
          <a:lstStyle/>
          <a:p>
            <a:fld id="{40B7CB69-DA8A-43D8-A253-D1F174C20779}" type="slidenum">
              <a:rPr lang="en-US" smtClean="0"/>
              <a:t>‹#›</a:t>
            </a:fld>
            <a:endParaRPr lang="en-US"/>
          </a:p>
        </p:txBody>
      </p:sp>
    </p:spTree>
    <p:extLst>
      <p:ext uri="{BB962C8B-B14F-4D97-AF65-F5344CB8AC3E}">
        <p14:creationId xmlns:p14="http://schemas.microsoft.com/office/powerpoint/2010/main" val="69629247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0526872-9B8C-C832-DF4C-5A617CA3ACB2}"/>
              </a:ext>
            </a:extLst>
          </p:cNvPr>
          <p:cNvSpPr>
            <a:spLocks noGrp="1"/>
          </p:cNvSpPr>
          <p:nvPr>
            <p:ph type="dt" sz="half" idx="10"/>
          </p:nvPr>
        </p:nvSpPr>
        <p:spPr/>
        <p:txBody>
          <a:bodyPr/>
          <a:lstStyle/>
          <a:p>
            <a:fld id="{A30BC93E-EE2C-4DA0-AB2E-64072B161BD0}" type="datetimeFigureOut">
              <a:rPr lang="en-US" smtClean="0"/>
              <a:t>5/29/2024</a:t>
            </a:fld>
            <a:endParaRPr lang="en-US"/>
          </a:p>
        </p:txBody>
      </p:sp>
      <p:sp>
        <p:nvSpPr>
          <p:cNvPr id="3" name="Footer Placeholder 2">
            <a:extLst>
              <a:ext uri="{FF2B5EF4-FFF2-40B4-BE49-F238E27FC236}">
                <a16:creationId xmlns:a16="http://schemas.microsoft.com/office/drawing/2014/main" id="{0C7E4E5C-FB18-98AD-5CCD-E5A01B5B59B9}"/>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3270A8FD-04BF-36FB-4175-3C9E7FDC9DC0}"/>
              </a:ext>
            </a:extLst>
          </p:cNvPr>
          <p:cNvSpPr>
            <a:spLocks noGrp="1"/>
          </p:cNvSpPr>
          <p:nvPr>
            <p:ph type="sldNum" sz="quarter" idx="12"/>
          </p:nvPr>
        </p:nvSpPr>
        <p:spPr/>
        <p:txBody>
          <a:bodyPr/>
          <a:lstStyle/>
          <a:p>
            <a:fld id="{40B7CB69-DA8A-43D8-A253-D1F174C20779}" type="slidenum">
              <a:rPr lang="en-US" smtClean="0"/>
              <a:t>‹#›</a:t>
            </a:fld>
            <a:endParaRPr lang="en-US"/>
          </a:p>
        </p:txBody>
      </p:sp>
    </p:spTree>
    <p:extLst>
      <p:ext uri="{BB962C8B-B14F-4D97-AF65-F5344CB8AC3E}">
        <p14:creationId xmlns:p14="http://schemas.microsoft.com/office/powerpoint/2010/main" val="41006117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ADE4A6-9F85-6E4A-9C2E-2C8076487E5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F459AD98-A338-5A4A-6E15-8148927C01B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5ABF93EC-2CDB-1291-7E8F-0E6B326798C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22A4B9E-95FC-2CAE-6588-8FC3B47E8AD6}"/>
              </a:ext>
            </a:extLst>
          </p:cNvPr>
          <p:cNvSpPr>
            <a:spLocks noGrp="1"/>
          </p:cNvSpPr>
          <p:nvPr>
            <p:ph type="dt" sz="half" idx="10"/>
          </p:nvPr>
        </p:nvSpPr>
        <p:spPr/>
        <p:txBody>
          <a:bodyPr/>
          <a:lstStyle/>
          <a:p>
            <a:fld id="{A30BC93E-EE2C-4DA0-AB2E-64072B161BD0}" type="datetimeFigureOut">
              <a:rPr lang="en-US" smtClean="0"/>
              <a:t>5/29/2024</a:t>
            </a:fld>
            <a:endParaRPr lang="en-US"/>
          </a:p>
        </p:txBody>
      </p:sp>
      <p:sp>
        <p:nvSpPr>
          <p:cNvPr id="6" name="Footer Placeholder 5">
            <a:extLst>
              <a:ext uri="{FF2B5EF4-FFF2-40B4-BE49-F238E27FC236}">
                <a16:creationId xmlns:a16="http://schemas.microsoft.com/office/drawing/2014/main" id="{F57BF226-6A4C-8179-08BB-8647C830B2E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1AC594A-FD67-AC45-0814-5322A044E3FD}"/>
              </a:ext>
            </a:extLst>
          </p:cNvPr>
          <p:cNvSpPr>
            <a:spLocks noGrp="1"/>
          </p:cNvSpPr>
          <p:nvPr>
            <p:ph type="sldNum" sz="quarter" idx="12"/>
          </p:nvPr>
        </p:nvSpPr>
        <p:spPr/>
        <p:txBody>
          <a:bodyPr/>
          <a:lstStyle/>
          <a:p>
            <a:fld id="{40B7CB69-DA8A-43D8-A253-D1F174C20779}" type="slidenum">
              <a:rPr lang="en-US" smtClean="0"/>
              <a:t>‹#›</a:t>
            </a:fld>
            <a:endParaRPr lang="en-US"/>
          </a:p>
        </p:txBody>
      </p:sp>
    </p:spTree>
    <p:extLst>
      <p:ext uri="{BB962C8B-B14F-4D97-AF65-F5344CB8AC3E}">
        <p14:creationId xmlns:p14="http://schemas.microsoft.com/office/powerpoint/2010/main" val="166654880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99620A-5503-9703-34EE-FE37E989476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5B5BA93C-6FC0-D447-659A-FCF82A2677E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54475ACA-87D4-6ECD-191E-533E3D949A9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465E130-B0CB-2E7C-C1A7-9DED18D861E7}"/>
              </a:ext>
            </a:extLst>
          </p:cNvPr>
          <p:cNvSpPr>
            <a:spLocks noGrp="1"/>
          </p:cNvSpPr>
          <p:nvPr>
            <p:ph type="dt" sz="half" idx="10"/>
          </p:nvPr>
        </p:nvSpPr>
        <p:spPr/>
        <p:txBody>
          <a:bodyPr/>
          <a:lstStyle/>
          <a:p>
            <a:fld id="{A30BC93E-EE2C-4DA0-AB2E-64072B161BD0}" type="datetimeFigureOut">
              <a:rPr lang="en-US" smtClean="0"/>
              <a:t>5/29/2024</a:t>
            </a:fld>
            <a:endParaRPr lang="en-US"/>
          </a:p>
        </p:txBody>
      </p:sp>
      <p:sp>
        <p:nvSpPr>
          <p:cNvPr id="6" name="Footer Placeholder 5">
            <a:extLst>
              <a:ext uri="{FF2B5EF4-FFF2-40B4-BE49-F238E27FC236}">
                <a16:creationId xmlns:a16="http://schemas.microsoft.com/office/drawing/2014/main" id="{BC51CD63-743A-82D1-63A6-280E9A784EB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63F593E-186B-FB2B-0D8E-1F394EEB85F0}"/>
              </a:ext>
            </a:extLst>
          </p:cNvPr>
          <p:cNvSpPr>
            <a:spLocks noGrp="1"/>
          </p:cNvSpPr>
          <p:nvPr>
            <p:ph type="sldNum" sz="quarter" idx="12"/>
          </p:nvPr>
        </p:nvSpPr>
        <p:spPr/>
        <p:txBody>
          <a:bodyPr/>
          <a:lstStyle/>
          <a:p>
            <a:fld id="{40B7CB69-DA8A-43D8-A253-D1F174C20779}" type="slidenum">
              <a:rPr lang="en-US" smtClean="0"/>
              <a:t>‹#›</a:t>
            </a:fld>
            <a:endParaRPr lang="en-US"/>
          </a:p>
        </p:txBody>
      </p:sp>
    </p:spTree>
    <p:extLst>
      <p:ext uri="{BB962C8B-B14F-4D97-AF65-F5344CB8AC3E}">
        <p14:creationId xmlns:p14="http://schemas.microsoft.com/office/powerpoint/2010/main" val="309993074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571AD5-3249-0A08-DE2B-21F2376E911E}"/>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DF9E9687-7FE0-4B0C-3EE4-F9A16907E115}"/>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205B2E6-EF24-FF8D-2D43-8140B2F5AE47}"/>
              </a:ext>
            </a:extLst>
          </p:cNvPr>
          <p:cNvSpPr>
            <a:spLocks noGrp="1"/>
          </p:cNvSpPr>
          <p:nvPr>
            <p:ph type="dt" sz="half" idx="10"/>
          </p:nvPr>
        </p:nvSpPr>
        <p:spPr/>
        <p:txBody>
          <a:bodyPr/>
          <a:lstStyle/>
          <a:p>
            <a:fld id="{A30BC93E-EE2C-4DA0-AB2E-64072B161BD0}" type="datetimeFigureOut">
              <a:rPr lang="en-US" smtClean="0"/>
              <a:t>5/29/2024</a:t>
            </a:fld>
            <a:endParaRPr lang="en-US"/>
          </a:p>
        </p:txBody>
      </p:sp>
      <p:sp>
        <p:nvSpPr>
          <p:cNvPr id="5" name="Footer Placeholder 4">
            <a:extLst>
              <a:ext uri="{FF2B5EF4-FFF2-40B4-BE49-F238E27FC236}">
                <a16:creationId xmlns:a16="http://schemas.microsoft.com/office/drawing/2014/main" id="{16242D7D-2885-D00A-9C64-B19AB3888BF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B7DABB2-5CBD-9310-F0DA-37202A573E39}"/>
              </a:ext>
            </a:extLst>
          </p:cNvPr>
          <p:cNvSpPr>
            <a:spLocks noGrp="1"/>
          </p:cNvSpPr>
          <p:nvPr>
            <p:ph type="sldNum" sz="quarter" idx="12"/>
          </p:nvPr>
        </p:nvSpPr>
        <p:spPr/>
        <p:txBody>
          <a:bodyPr/>
          <a:lstStyle/>
          <a:p>
            <a:fld id="{40B7CB69-DA8A-43D8-A253-D1F174C20779}" type="slidenum">
              <a:rPr lang="en-US" smtClean="0"/>
              <a:t>‹#›</a:t>
            </a:fld>
            <a:endParaRPr lang="en-US"/>
          </a:p>
        </p:txBody>
      </p:sp>
    </p:spTree>
    <p:extLst>
      <p:ext uri="{BB962C8B-B14F-4D97-AF65-F5344CB8AC3E}">
        <p14:creationId xmlns:p14="http://schemas.microsoft.com/office/powerpoint/2010/main" val="130818350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73C5208-AC5B-8052-1451-56E142114A1D}"/>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4C1FE6BA-0202-8BDE-9F04-05536ECE85A9}"/>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C30487D-B0F2-DAD5-0BE6-B858F1C3D8FA}"/>
              </a:ext>
            </a:extLst>
          </p:cNvPr>
          <p:cNvSpPr>
            <a:spLocks noGrp="1"/>
          </p:cNvSpPr>
          <p:nvPr>
            <p:ph type="dt" sz="half" idx="10"/>
          </p:nvPr>
        </p:nvSpPr>
        <p:spPr/>
        <p:txBody>
          <a:bodyPr/>
          <a:lstStyle/>
          <a:p>
            <a:fld id="{A30BC93E-EE2C-4DA0-AB2E-64072B161BD0}" type="datetimeFigureOut">
              <a:rPr lang="en-US" smtClean="0"/>
              <a:t>5/29/2024</a:t>
            </a:fld>
            <a:endParaRPr lang="en-US"/>
          </a:p>
        </p:txBody>
      </p:sp>
      <p:sp>
        <p:nvSpPr>
          <p:cNvPr id="5" name="Footer Placeholder 4">
            <a:extLst>
              <a:ext uri="{FF2B5EF4-FFF2-40B4-BE49-F238E27FC236}">
                <a16:creationId xmlns:a16="http://schemas.microsoft.com/office/drawing/2014/main" id="{4BF3A56C-1973-391B-8907-4F3344AFA10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4ECCADB-1D0C-CDB7-E8AC-828FE55DB314}"/>
              </a:ext>
            </a:extLst>
          </p:cNvPr>
          <p:cNvSpPr>
            <a:spLocks noGrp="1"/>
          </p:cNvSpPr>
          <p:nvPr>
            <p:ph type="sldNum" sz="quarter" idx="12"/>
          </p:nvPr>
        </p:nvSpPr>
        <p:spPr/>
        <p:txBody>
          <a:bodyPr/>
          <a:lstStyle/>
          <a:p>
            <a:fld id="{40B7CB69-DA8A-43D8-A253-D1F174C20779}" type="slidenum">
              <a:rPr lang="en-US" smtClean="0"/>
              <a:t>‹#›</a:t>
            </a:fld>
            <a:endParaRPr lang="en-US"/>
          </a:p>
        </p:txBody>
      </p:sp>
    </p:spTree>
    <p:extLst>
      <p:ext uri="{BB962C8B-B14F-4D97-AF65-F5344CB8AC3E}">
        <p14:creationId xmlns:p14="http://schemas.microsoft.com/office/powerpoint/2010/main" val="95157227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A17FBB0-15D0-7D93-611A-173BDC0038B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D4BA21CA-0AA9-7ADA-F683-EBE047542F1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5E495CC-094C-EA07-BDAB-33EF15C97A1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30BC93E-EE2C-4DA0-AB2E-64072B161BD0}" type="datetimeFigureOut">
              <a:rPr lang="en-US" smtClean="0"/>
              <a:t>5/29/2024</a:t>
            </a:fld>
            <a:endParaRPr lang="en-US"/>
          </a:p>
        </p:txBody>
      </p:sp>
      <p:sp>
        <p:nvSpPr>
          <p:cNvPr id="5" name="Footer Placeholder 4">
            <a:extLst>
              <a:ext uri="{FF2B5EF4-FFF2-40B4-BE49-F238E27FC236}">
                <a16:creationId xmlns:a16="http://schemas.microsoft.com/office/drawing/2014/main" id="{5DB52708-1DFC-61C5-FC8B-AF58A1DD4CC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A546AEDA-4240-67C5-642F-FE11DB3EC15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0B7CB69-DA8A-43D8-A253-D1F174C20779}" type="slidenum">
              <a:rPr lang="en-US" smtClean="0"/>
              <a:t>‹#›</a:t>
            </a:fld>
            <a:endParaRPr lang="en-US"/>
          </a:p>
        </p:txBody>
      </p:sp>
    </p:spTree>
    <p:extLst>
      <p:ext uri="{BB962C8B-B14F-4D97-AF65-F5344CB8AC3E}">
        <p14:creationId xmlns:p14="http://schemas.microsoft.com/office/powerpoint/2010/main" val="197039349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hyperlink" Target="https://huggingface.co/docs/transformers/model_doc/bert" TargetMode="External"/><Relationship Id="rId2" Type="http://schemas.openxmlformats.org/officeDocument/2006/relationships/hyperlink" Target="https://huggingface.co/docs/transformers/model_doc/albert" TargetMode="External"/><Relationship Id="rId1" Type="http://schemas.openxmlformats.org/officeDocument/2006/relationships/slideLayout" Target="../slideLayouts/slideLayout2.xml"/><Relationship Id="rId6" Type="http://schemas.openxmlformats.org/officeDocument/2006/relationships/hyperlink" Target="https://huggingface.co/docs/transformers/model_doc/roberta" TargetMode="External"/><Relationship Id="rId5" Type="http://schemas.openxmlformats.org/officeDocument/2006/relationships/hyperlink" Target="https://huggingface.co/docs/transformers/model_doc/electra" TargetMode="External"/><Relationship Id="rId4" Type="http://schemas.openxmlformats.org/officeDocument/2006/relationships/hyperlink" Target="https://huggingface.co/docs/transformers/model_doc/distilbert" TargetMode="External"/></Relationships>
</file>

<file path=ppt/slides/_rels/slide15.xml.rels><?xml version="1.0" encoding="UTF-8" standalone="yes"?>
<Relationships xmlns="http://schemas.openxmlformats.org/package/2006/relationships"><Relationship Id="rId3" Type="http://schemas.openxmlformats.org/officeDocument/2006/relationships/hyperlink" Target="https://huggingface.co/docs/transformers/model_doc/openai-gpt" TargetMode="External"/><Relationship Id="rId2" Type="http://schemas.openxmlformats.org/officeDocument/2006/relationships/hyperlink" Target="https://huggingface.co/transformers/model_doc/ctrl" TargetMode="External"/><Relationship Id="rId1" Type="http://schemas.openxmlformats.org/officeDocument/2006/relationships/slideLayout" Target="../slideLayouts/slideLayout2.xml"/><Relationship Id="rId5" Type="http://schemas.openxmlformats.org/officeDocument/2006/relationships/hyperlink" Target="https://huggingface.co/transformers/model_doc/transfo-xl" TargetMode="External"/><Relationship Id="rId4" Type="http://schemas.openxmlformats.org/officeDocument/2006/relationships/hyperlink" Target="https://huggingface.co/transformers/model_doc/gpt2" TargetMode="External"/></Relationships>
</file>

<file path=ppt/slides/_rels/slide16.xml.rels><?xml version="1.0" encoding="UTF-8" standalone="yes"?>
<Relationships xmlns="http://schemas.openxmlformats.org/package/2006/relationships"><Relationship Id="rId3" Type="http://schemas.openxmlformats.org/officeDocument/2006/relationships/hyperlink" Target="https://huggingface.co/transformers/model_doc/mbart" TargetMode="External"/><Relationship Id="rId2" Type="http://schemas.openxmlformats.org/officeDocument/2006/relationships/hyperlink" Target="https://huggingface.co/transformers/model_doc/bart" TargetMode="External"/><Relationship Id="rId1" Type="http://schemas.openxmlformats.org/officeDocument/2006/relationships/slideLayout" Target="../slideLayouts/slideLayout2.xml"/><Relationship Id="rId5" Type="http://schemas.openxmlformats.org/officeDocument/2006/relationships/hyperlink" Target="https://huggingface.co/transformers/model_doc/t5" TargetMode="External"/><Relationship Id="rId4" Type="http://schemas.openxmlformats.org/officeDocument/2006/relationships/hyperlink" Target="https://huggingface.co/transformers/model_doc/marian" TargetMode="External"/></Relationships>
</file>

<file path=ppt/slides/_rels/slide1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gif"/><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hyperlink" Target="https://huggingface.co/myleott" TargetMode="External"/><Relationship Id="rId2" Type="http://schemas.openxmlformats.org/officeDocument/2006/relationships/hyperlink" Target="https://arxiv.org/abs/1907.11692" TargetMode="Externa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C12018-064A-8BB5-0252-CE0B0D9FC97A}"/>
              </a:ext>
            </a:extLst>
          </p:cNvPr>
          <p:cNvSpPr>
            <a:spLocks noGrp="1"/>
          </p:cNvSpPr>
          <p:nvPr>
            <p:ph type="ctrTitle"/>
          </p:nvPr>
        </p:nvSpPr>
        <p:spPr/>
        <p:txBody>
          <a:bodyPr/>
          <a:lstStyle/>
          <a:p>
            <a:r>
              <a:rPr lang="en-US" dirty="0"/>
              <a:t>Transformers</a:t>
            </a:r>
          </a:p>
        </p:txBody>
      </p:sp>
      <p:sp>
        <p:nvSpPr>
          <p:cNvPr id="3" name="Subtitle 2">
            <a:extLst>
              <a:ext uri="{FF2B5EF4-FFF2-40B4-BE49-F238E27FC236}">
                <a16:creationId xmlns:a16="http://schemas.microsoft.com/office/drawing/2014/main" id="{3B20B9BB-7D5C-3E52-BF36-0CA403E92FDF}"/>
              </a:ext>
            </a:extLst>
          </p:cNvPr>
          <p:cNvSpPr>
            <a:spLocks noGrp="1"/>
          </p:cNvSpPr>
          <p:nvPr>
            <p:ph type="subTitle" idx="1"/>
          </p:nvPr>
        </p:nvSpPr>
        <p:spPr/>
        <p:txBody>
          <a:bodyPr/>
          <a:lstStyle/>
          <a:p>
            <a:r>
              <a:rPr lang="en-US" dirty="0"/>
              <a:t>Ali Mollaei</a:t>
            </a:r>
          </a:p>
          <a:p>
            <a:endParaRPr lang="en-US" dirty="0"/>
          </a:p>
        </p:txBody>
      </p:sp>
    </p:spTree>
    <p:extLst>
      <p:ext uri="{BB962C8B-B14F-4D97-AF65-F5344CB8AC3E}">
        <p14:creationId xmlns:p14="http://schemas.microsoft.com/office/powerpoint/2010/main" val="348917634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916225-5050-2251-5BFF-D49D3630B890}"/>
              </a:ext>
            </a:extLst>
          </p:cNvPr>
          <p:cNvSpPr>
            <a:spLocks noGrp="1"/>
          </p:cNvSpPr>
          <p:nvPr>
            <p:ph type="title"/>
          </p:nvPr>
        </p:nvSpPr>
        <p:spPr/>
        <p:txBody>
          <a:bodyPr/>
          <a:lstStyle/>
          <a:p>
            <a:r>
              <a:rPr lang="en-US" dirty="0"/>
              <a:t>Transformers</a:t>
            </a:r>
          </a:p>
        </p:txBody>
      </p:sp>
      <p:sp>
        <p:nvSpPr>
          <p:cNvPr id="3" name="Content Placeholder 2">
            <a:extLst>
              <a:ext uri="{FF2B5EF4-FFF2-40B4-BE49-F238E27FC236}">
                <a16:creationId xmlns:a16="http://schemas.microsoft.com/office/drawing/2014/main" id="{5805C16C-DCDD-1290-6CA8-37E745027C7A}"/>
              </a:ext>
            </a:extLst>
          </p:cNvPr>
          <p:cNvSpPr>
            <a:spLocks noGrp="1"/>
          </p:cNvSpPr>
          <p:nvPr>
            <p:ph idx="1"/>
          </p:nvPr>
        </p:nvSpPr>
        <p:spPr/>
        <p:txBody>
          <a:bodyPr>
            <a:normAutofit/>
          </a:bodyPr>
          <a:lstStyle/>
          <a:p>
            <a:pPr algn="l"/>
            <a:r>
              <a:rPr lang="en-US" sz="2400" b="0" i="0" dirty="0">
                <a:solidFill>
                  <a:srgbClr val="4B5563"/>
                </a:solidFill>
                <a:effectLst/>
                <a:highlight>
                  <a:srgbClr val="FFFFFF"/>
                </a:highlight>
                <a:latin typeface="Source Sans Pro" panose="020B0503030403020204" pitchFamily="34" charset="0"/>
              </a:rPr>
              <a:t>🤗 Transformers provides APIs and tools to easily download and train state-of-the-art pretrained models. Using pretrained models can reduce your compute costs, carbon footprint, and save you the time and resources required to train a model from scratch. These models support common tasks in different modalities, such as:</a:t>
            </a:r>
          </a:p>
          <a:p>
            <a:pPr algn="l"/>
            <a:r>
              <a:rPr lang="en-US" sz="2000" b="0" i="0" dirty="0">
                <a:solidFill>
                  <a:srgbClr val="4B5563"/>
                </a:solidFill>
                <a:effectLst/>
                <a:highlight>
                  <a:srgbClr val="FFFFFF"/>
                </a:highlight>
                <a:latin typeface="Source Sans Pro" panose="020B0503030403020204" pitchFamily="34" charset="0"/>
              </a:rPr>
              <a:t>📝 </a:t>
            </a:r>
            <a:r>
              <a:rPr lang="en-US" sz="2000" b="1" i="0" dirty="0">
                <a:solidFill>
                  <a:srgbClr val="4B5563"/>
                </a:solidFill>
                <a:effectLst/>
                <a:highlight>
                  <a:srgbClr val="FFFFFF"/>
                </a:highlight>
                <a:latin typeface="Source Sans Pro" panose="020B0503030403020204" pitchFamily="34" charset="0"/>
              </a:rPr>
              <a:t>Natural Language Processing</a:t>
            </a:r>
            <a:r>
              <a:rPr lang="en-US" sz="2000" b="0" i="0" dirty="0">
                <a:solidFill>
                  <a:srgbClr val="4B5563"/>
                </a:solidFill>
                <a:effectLst/>
                <a:highlight>
                  <a:srgbClr val="FFFFFF"/>
                </a:highlight>
                <a:latin typeface="Source Sans Pro" panose="020B0503030403020204" pitchFamily="34" charset="0"/>
              </a:rPr>
              <a:t>: text classification, named entity recognition, question answering, language modeling, summarization, translation, multiple choice, and text generation.</a:t>
            </a:r>
            <a:br>
              <a:rPr lang="en-US" sz="2000" b="0" i="0" dirty="0">
                <a:solidFill>
                  <a:srgbClr val="4B5563"/>
                </a:solidFill>
                <a:effectLst/>
                <a:highlight>
                  <a:srgbClr val="FFFFFF"/>
                </a:highlight>
                <a:latin typeface="Source Sans Pro" panose="020B0503030403020204" pitchFamily="34" charset="0"/>
              </a:rPr>
            </a:br>
            <a:r>
              <a:rPr lang="en-US" sz="2000" b="0" i="0" dirty="0">
                <a:solidFill>
                  <a:srgbClr val="4B5563"/>
                </a:solidFill>
                <a:effectLst/>
                <a:highlight>
                  <a:srgbClr val="FFFFFF"/>
                </a:highlight>
                <a:latin typeface="Source Sans Pro" panose="020B0503030403020204" pitchFamily="34" charset="0"/>
              </a:rPr>
              <a:t>🖼️ </a:t>
            </a:r>
            <a:r>
              <a:rPr lang="en-US" sz="2000" b="1" i="0" dirty="0">
                <a:solidFill>
                  <a:srgbClr val="4B5563"/>
                </a:solidFill>
                <a:effectLst/>
                <a:highlight>
                  <a:srgbClr val="FFFFFF"/>
                </a:highlight>
                <a:latin typeface="Source Sans Pro" panose="020B0503030403020204" pitchFamily="34" charset="0"/>
              </a:rPr>
              <a:t>Computer Vision</a:t>
            </a:r>
            <a:r>
              <a:rPr lang="en-US" sz="2000" b="0" i="0" dirty="0">
                <a:solidFill>
                  <a:srgbClr val="4B5563"/>
                </a:solidFill>
                <a:effectLst/>
                <a:highlight>
                  <a:srgbClr val="FFFFFF"/>
                </a:highlight>
                <a:latin typeface="Source Sans Pro" panose="020B0503030403020204" pitchFamily="34" charset="0"/>
              </a:rPr>
              <a:t>: image classification, object detection, and segmentation.</a:t>
            </a:r>
            <a:br>
              <a:rPr lang="en-US" sz="2000" b="0" i="0" dirty="0">
                <a:solidFill>
                  <a:srgbClr val="4B5563"/>
                </a:solidFill>
                <a:effectLst/>
                <a:highlight>
                  <a:srgbClr val="FFFFFF"/>
                </a:highlight>
                <a:latin typeface="Source Sans Pro" panose="020B0503030403020204" pitchFamily="34" charset="0"/>
              </a:rPr>
            </a:br>
            <a:r>
              <a:rPr lang="en-US" sz="2000" b="0" i="0" dirty="0">
                <a:solidFill>
                  <a:srgbClr val="4B5563"/>
                </a:solidFill>
                <a:effectLst/>
                <a:highlight>
                  <a:srgbClr val="FFFFFF"/>
                </a:highlight>
                <a:latin typeface="Source Sans Pro" panose="020B0503030403020204" pitchFamily="34" charset="0"/>
              </a:rPr>
              <a:t>🗣️ </a:t>
            </a:r>
            <a:r>
              <a:rPr lang="en-US" sz="2000" b="1" i="0" dirty="0">
                <a:solidFill>
                  <a:srgbClr val="4B5563"/>
                </a:solidFill>
                <a:effectLst/>
                <a:highlight>
                  <a:srgbClr val="FFFFFF"/>
                </a:highlight>
                <a:latin typeface="Source Sans Pro" panose="020B0503030403020204" pitchFamily="34" charset="0"/>
              </a:rPr>
              <a:t>Audio</a:t>
            </a:r>
            <a:r>
              <a:rPr lang="en-US" sz="2000" b="0" i="0" dirty="0">
                <a:solidFill>
                  <a:srgbClr val="4B5563"/>
                </a:solidFill>
                <a:effectLst/>
                <a:highlight>
                  <a:srgbClr val="FFFFFF"/>
                </a:highlight>
                <a:latin typeface="Source Sans Pro" panose="020B0503030403020204" pitchFamily="34" charset="0"/>
              </a:rPr>
              <a:t>: automatic speech recognition and audio classification.</a:t>
            </a:r>
            <a:br>
              <a:rPr lang="en-US" sz="2000" b="0" i="0" dirty="0">
                <a:solidFill>
                  <a:srgbClr val="4B5563"/>
                </a:solidFill>
                <a:effectLst/>
                <a:highlight>
                  <a:srgbClr val="FFFFFF"/>
                </a:highlight>
                <a:latin typeface="Source Sans Pro" panose="020B0503030403020204" pitchFamily="34" charset="0"/>
              </a:rPr>
            </a:br>
            <a:r>
              <a:rPr lang="en-US" sz="2000" b="0" i="0" dirty="0">
                <a:solidFill>
                  <a:srgbClr val="4B5563"/>
                </a:solidFill>
                <a:effectLst/>
                <a:highlight>
                  <a:srgbClr val="FFFFFF"/>
                </a:highlight>
                <a:latin typeface="Source Sans Pro" panose="020B0503030403020204" pitchFamily="34" charset="0"/>
              </a:rPr>
              <a:t>🐙 </a:t>
            </a:r>
            <a:r>
              <a:rPr lang="en-US" sz="2000" b="1" i="0" dirty="0">
                <a:solidFill>
                  <a:srgbClr val="4B5563"/>
                </a:solidFill>
                <a:effectLst/>
                <a:highlight>
                  <a:srgbClr val="FFFFFF"/>
                </a:highlight>
                <a:latin typeface="Source Sans Pro" panose="020B0503030403020204" pitchFamily="34" charset="0"/>
              </a:rPr>
              <a:t>Multimodal</a:t>
            </a:r>
            <a:r>
              <a:rPr lang="en-US" sz="2000" b="0" i="0" dirty="0">
                <a:solidFill>
                  <a:srgbClr val="4B5563"/>
                </a:solidFill>
                <a:effectLst/>
                <a:highlight>
                  <a:srgbClr val="FFFFFF"/>
                </a:highlight>
                <a:latin typeface="Source Sans Pro" panose="020B0503030403020204" pitchFamily="34" charset="0"/>
              </a:rPr>
              <a:t>: table question answering, optical character recognition, information extraction from scanned documents, video classification, and visual question answering.</a:t>
            </a:r>
          </a:p>
          <a:p>
            <a:endParaRPr lang="en-US" sz="2000" dirty="0"/>
          </a:p>
        </p:txBody>
      </p:sp>
    </p:spTree>
    <p:extLst>
      <p:ext uri="{BB962C8B-B14F-4D97-AF65-F5344CB8AC3E}">
        <p14:creationId xmlns:p14="http://schemas.microsoft.com/office/powerpoint/2010/main" val="82383305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E579AC-4FD4-A6E2-3E43-07B4666E7AE0}"/>
              </a:ext>
            </a:extLst>
          </p:cNvPr>
          <p:cNvSpPr>
            <a:spLocks noGrp="1"/>
          </p:cNvSpPr>
          <p:nvPr>
            <p:ph type="title"/>
          </p:nvPr>
        </p:nvSpPr>
        <p:spPr/>
        <p:txBody>
          <a:bodyPr/>
          <a:lstStyle/>
          <a:p>
            <a:r>
              <a:rPr lang="en-US" dirty="0"/>
              <a:t>Transformers</a:t>
            </a:r>
          </a:p>
        </p:txBody>
      </p:sp>
      <p:sp>
        <p:nvSpPr>
          <p:cNvPr id="3" name="Content Placeholder 2">
            <a:extLst>
              <a:ext uri="{FF2B5EF4-FFF2-40B4-BE49-F238E27FC236}">
                <a16:creationId xmlns:a16="http://schemas.microsoft.com/office/drawing/2014/main" id="{72C34289-FF56-8AFB-EA4A-C195CA0FFCF7}"/>
              </a:ext>
            </a:extLst>
          </p:cNvPr>
          <p:cNvSpPr>
            <a:spLocks noGrp="1"/>
          </p:cNvSpPr>
          <p:nvPr>
            <p:ph idx="1"/>
          </p:nvPr>
        </p:nvSpPr>
        <p:spPr/>
        <p:txBody>
          <a:bodyPr/>
          <a:lstStyle/>
          <a:p>
            <a:r>
              <a:rPr lang="en-US" dirty="0"/>
              <a:t>NLP Natural language processing</a:t>
            </a:r>
          </a:p>
          <a:p>
            <a:pPr lvl="1"/>
            <a:r>
              <a:rPr lang="en-US" dirty="0"/>
              <a:t>tokenization</a:t>
            </a:r>
          </a:p>
          <a:p>
            <a:pPr lvl="1"/>
            <a:r>
              <a:rPr lang="en-US" dirty="0"/>
              <a:t>text pre-processing</a:t>
            </a:r>
          </a:p>
          <a:p>
            <a:pPr lvl="1"/>
            <a:r>
              <a:rPr lang="en-US" dirty="0"/>
              <a:t>language modeling</a:t>
            </a:r>
          </a:p>
          <a:p>
            <a:r>
              <a:rPr lang="en-US" dirty="0"/>
              <a:t>Encoder and Decoder </a:t>
            </a:r>
          </a:p>
          <a:p>
            <a:r>
              <a:rPr lang="en-US" dirty="0"/>
              <a:t>Attention mechanism (self, multi heat, cross)</a:t>
            </a:r>
          </a:p>
          <a:p>
            <a:r>
              <a:rPr lang="en-US" dirty="0"/>
              <a:t>Transformers architecture</a:t>
            </a:r>
          </a:p>
          <a:p>
            <a:r>
              <a:rPr lang="en-US" dirty="0"/>
              <a:t>Fine tuning</a:t>
            </a:r>
          </a:p>
          <a:p>
            <a:endParaRPr lang="en-US" dirty="0"/>
          </a:p>
        </p:txBody>
      </p:sp>
    </p:spTree>
    <p:extLst>
      <p:ext uri="{BB962C8B-B14F-4D97-AF65-F5344CB8AC3E}">
        <p14:creationId xmlns:p14="http://schemas.microsoft.com/office/powerpoint/2010/main" val="85854619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81A33C-9A2F-0BEF-C4DB-6D4FE18BEEE9}"/>
              </a:ext>
            </a:extLst>
          </p:cNvPr>
          <p:cNvSpPr>
            <a:spLocks noGrp="1"/>
          </p:cNvSpPr>
          <p:nvPr>
            <p:ph type="title"/>
          </p:nvPr>
        </p:nvSpPr>
        <p:spPr/>
        <p:txBody>
          <a:bodyPr/>
          <a:lstStyle/>
          <a:p>
            <a:r>
              <a:rPr lang="en-US" dirty="0"/>
              <a:t>tokenization</a:t>
            </a:r>
          </a:p>
        </p:txBody>
      </p:sp>
      <p:pic>
        <p:nvPicPr>
          <p:cNvPr id="2052" name="Picture 4" descr="Tokenization in NLP: Breaking Language into Meaningful Words - Nomidl">
            <a:extLst>
              <a:ext uri="{FF2B5EF4-FFF2-40B4-BE49-F238E27FC236}">
                <a16:creationId xmlns:a16="http://schemas.microsoft.com/office/drawing/2014/main" id="{52175030-0B83-5C79-ADF6-1748DF9464D5}"/>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418736" y="1745747"/>
            <a:ext cx="6523704" cy="396405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325682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99C79D-9B74-A347-1982-C2EA982EDFEB}"/>
              </a:ext>
            </a:extLst>
          </p:cNvPr>
          <p:cNvSpPr>
            <a:spLocks noGrp="1"/>
          </p:cNvSpPr>
          <p:nvPr>
            <p:ph type="title"/>
          </p:nvPr>
        </p:nvSpPr>
        <p:spPr/>
        <p:txBody>
          <a:bodyPr>
            <a:normAutofit/>
          </a:bodyPr>
          <a:lstStyle/>
          <a:p>
            <a:r>
              <a:rPr lang="en-US" sz="6600" b="1" dirty="0"/>
              <a:t>Tokenizer</a:t>
            </a:r>
          </a:p>
        </p:txBody>
      </p:sp>
      <p:sp>
        <p:nvSpPr>
          <p:cNvPr id="3" name="Content Placeholder 2">
            <a:extLst>
              <a:ext uri="{FF2B5EF4-FFF2-40B4-BE49-F238E27FC236}">
                <a16:creationId xmlns:a16="http://schemas.microsoft.com/office/drawing/2014/main" id="{71B0458B-ED9A-2FF4-06A8-A18E2AF57436}"/>
              </a:ext>
            </a:extLst>
          </p:cNvPr>
          <p:cNvSpPr>
            <a:spLocks noGrp="1"/>
          </p:cNvSpPr>
          <p:nvPr>
            <p:ph idx="1"/>
          </p:nvPr>
        </p:nvSpPr>
        <p:spPr>
          <a:xfrm>
            <a:off x="838199" y="1825625"/>
            <a:ext cx="10783529" cy="4830814"/>
          </a:xfrm>
        </p:spPr>
        <p:txBody>
          <a:bodyPr>
            <a:normAutofit fontScale="85000" lnSpcReduction="20000"/>
          </a:bodyPr>
          <a:lstStyle/>
          <a:p>
            <a:pPr>
              <a:lnSpc>
                <a:spcPct val="100000"/>
              </a:lnSpc>
            </a:pPr>
            <a:r>
              <a:rPr lang="en-US" sz="1600" b="1" dirty="0"/>
              <a:t>various types </a:t>
            </a:r>
          </a:p>
          <a:p>
            <a:pPr>
              <a:lnSpc>
                <a:spcPct val="100000"/>
              </a:lnSpc>
            </a:pPr>
            <a:r>
              <a:rPr lang="en-US" sz="3000" b="1" dirty="0">
                <a:solidFill>
                  <a:srgbClr val="7030A0"/>
                </a:solidFill>
              </a:rPr>
              <a:t>1. Word Tokenizer</a:t>
            </a:r>
            <a:r>
              <a:rPr lang="en-US" sz="1600" b="1" dirty="0"/>
              <a:t>: This type of tokenizer breaks text into individual words or tokens. It usually separates words based on spaces or punctuation marks.</a:t>
            </a:r>
          </a:p>
          <a:p>
            <a:pPr>
              <a:lnSpc>
                <a:spcPct val="100000"/>
              </a:lnSpc>
            </a:pPr>
            <a:r>
              <a:rPr lang="en-US" sz="3000" b="1" dirty="0">
                <a:solidFill>
                  <a:srgbClr val="7030A0"/>
                </a:solidFill>
              </a:rPr>
              <a:t>2. Byte Pair Encoding Tokenizer (BPE Tokenizer): </a:t>
            </a:r>
            <a:r>
              <a:rPr lang="en-US" sz="1600" b="1" dirty="0"/>
              <a:t>BPE tokenizer is a </a:t>
            </a:r>
            <a:r>
              <a:rPr lang="en-US" sz="1600" b="1" dirty="0" err="1"/>
              <a:t>subword</a:t>
            </a:r>
            <a:r>
              <a:rPr lang="en-US" sz="1600" b="1" dirty="0"/>
              <a:t> tokenizer that breaks down words into </a:t>
            </a:r>
            <a:r>
              <a:rPr lang="en-US" sz="1600" b="1" dirty="0" err="1"/>
              <a:t>subword</a:t>
            </a:r>
            <a:r>
              <a:rPr lang="en-US" sz="1600" b="1" dirty="0"/>
              <a:t> units. It merges the most frequent character sequences iteratively to form </a:t>
            </a:r>
            <a:r>
              <a:rPr lang="en-US" sz="1600" b="1" dirty="0" err="1"/>
              <a:t>subwords</a:t>
            </a:r>
            <a:r>
              <a:rPr lang="en-US" sz="1600" b="1" dirty="0"/>
              <a:t>.</a:t>
            </a:r>
          </a:p>
          <a:p>
            <a:pPr>
              <a:lnSpc>
                <a:spcPct val="100000"/>
              </a:lnSpc>
            </a:pPr>
            <a:r>
              <a:rPr lang="en-US" sz="3000" b="1" dirty="0">
                <a:solidFill>
                  <a:srgbClr val="7030A0"/>
                </a:solidFill>
              </a:rPr>
              <a:t>3. Sentence Tokenizer: </a:t>
            </a:r>
            <a:r>
              <a:rPr lang="en-US" sz="1600" b="1" dirty="0"/>
              <a:t>This type of tokenizer breaks text into sentences. It uses language-specific rules and heuristics to identify sentence boundaries.</a:t>
            </a:r>
          </a:p>
          <a:p>
            <a:pPr>
              <a:lnSpc>
                <a:spcPct val="100000"/>
              </a:lnSpc>
            </a:pPr>
            <a:r>
              <a:rPr lang="en-US" sz="3000" b="1" dirty="0">
                <a:solidFill>
                  <a:srgbClr val="7030A0"/>
                </a:solidFill>
              </a:rPr>
              <a:t>4. Character Tokenizer: </a:t>
            </a:r>
            <a:r>
              <a:rPr lang="en-US" sz="1600" b="1" dirty="0"/>
              <a:t>Character tokenizer treats each character as a separate token. It is useful in scenarios where character-level analysis is required.</a:t>
            </a:r>
          </a:p>
          <a:p>
            <a:pPr>
              <a:lnSpc>
                <a:spcPct val="100000"/>
              </a:lnSpc>
            </a:pPr>
            <a:r>
              <a:rPr lang="en-US" sz="3300" b="1" dirty="0">
                <a:solidFill>
                  <a:srgbClr val="7030A0"/>
                </a:solidFill>
              </a:rPr>
              <a:t>5. </a:t>
            </a:r>
            <a:r>
              <a:rPr lang="en-US" sz="3300" b="1" dirty="0" err="1">
                <a:solidFill>
                  <a:srgbClr val="7030A0"/>
                </a:solidFill>
              </a:rPr>
              <a:t>WordPiece</a:t>
            </a:r>
            <a:r>
              <a:rPr lang="en-US" sz="3300" b="1" dirty="0">
                <a:solidFill>
                  <a:srgbClr val="7030A0"/>
                </a:solidFill>
              </a:rPr>
              <a:t> Tokenizer: </a:t>
            </a:r>
            <a:r>
              <a:rPr lang="en-US" sz="1600" b="1" dirty="0"/>
              <a:t>Similar to BPE tokenizer, the </a:t>
            </a:r>
            <a:r>
              <a:rPr lang="en-US" sz="1600" b="1" dirty="0" err="1"/>
              <a:t>WordPiece</a:t>
            </a:r>
            <a:r>
              <a:rPr lang="en-US" sz="1600" b="1" dirty="0"/>
              <a:t> tokenizer also breaks words into </a:t>
            </a:r>
            <a:r>
              <a:rPr lang="en-US" sz="1600" b="1" dirty="0" err="1"/>
              <a:t>subword</a:t>
            </a:r>
            <a:r>
              <a:rPr lang="en-US" sz="1600" b="1" dirty="0"/>
              <a:t> units. It utilizes a fixed-size vocabulary and maximizes the likelihood of the overall corpus.</a:t>
            </a:r>
          </a:p>
          <a:p>
            <a:pPr>
              <a:lnSpc>
                <a:spcPct val="100000"/>
              </a:lnSpc>
            </a:pPr>
            <a:r>
              <a:rPr lang="en-US" sz="3300" b="1" dirty="0">
                <a:solidFill>
                  <a:srgbClr val="7030A0"/>
                </a:solidFill>
              </a:rPr>
              <a:t>6. Tokenizer with Part-of-Speech Tags: </a:t>
            </a:r>
            <a:r>
              <a:rPr lang="en-US" sz="1600" b="1" dirty="0"/>
              <a:t>Some tokenizers provide additional information, such as part-of-speech tags, alongside the tokens.</a:t>
            </a:r>
          </a:p>
          <a:p>
            <a:pPr>
              <a:lnSpc>
                <a:spcPct val="100000"/>
              </a:lnSpc>
            </a:pPr>
            <a:r>
              <a:rPr lang="en-US" sz="3600" b="1" dirty="0">
                <a:solidFill>
                  <a:srgbClr val="7030A0"/>
                </a:solidFill>
              </a:rPr>
              <a:t>7. Custom Tokenizers: </a:t>
            </a:r>
            <a:r>
              <a:rPr lang="en-US" sz="1600" b="1" dirty="0"/>
              <a:t>Transformers allow users to create and use custom tokenizers specific to their requirements. These can handle domain-specific tokenization or combine different tokenization approaches.</a:t>
            </a:r>
          </a:p>
        </p:txBody>
      </p:sp>
    </p:spTree>
    <p:extLst>
      <p:ext uri="{BB962C8B-B14F-4D97-AF65-F5344CB8AC3E}">
        <p14:creationId xmlns:p14="http://schemas.microsoft.com/office/powerpoint/2010/main" val="324866796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D42404-C587-3A78-C238-349DA5314D2A}"/>
              </a:ext>
            </a:extLst>
          </p:cNvPr>
          <p:cNvSpPr>
            <a:spLocks noGrp="1"/>
          </p:cNvSpPr>
          <p:nvPr>
            <p:ph type="title"/>
          </p:nvPr>
        </p:nvSpPr>
        <p:spPr/>
        <p:txBody>
          <a:bodyPr/>
          <a:lstStyle/>
          <a:p>
            <a:r>
              <a:rPr lang="en-US" b="1" dirty="0"/>
              <a:t>Common Text Preprocessing Techniques</a:t>
            </a:r>
            <a:endParaRPr lang="en-US" dirty="0"/>
          </a:p>
        </p:txBody>
      </p:sp>
      <p:sp>
        <p:nvSpPr>
          <p:cNvPr id="3" name="Content Placeholder 2">
            <a:extLst>
              <a:ext uri="{FF2B5EF4-FFF2-40B4-BE49-F238E27FC236}">
                <a16:creationId xmlns:a16="http://schemas.microsoft.com/office/drawing/2014/main" id="{A3429687-2DC6-7FB6-CEF3-83FCBA8048D7}"/>
              </a:ext>
            </a:extLst>
          </p:cNvPr>
          <p:cNvSpPr>
            <a:spLocks noGrp="1"/>
          </p:cNvSpPr>
          <p:nvPr>
            <p:ph idx="1"/>
          </p:nvPr>
        </p:nvSpPr>
        <p:spPr/>
        <p:txBody>
          <a:bodyPr>
            <a:normAutofit fontScale="62500" lnSpcReduction="20000"/>
          </a:bodyPr>
          <a:lstStyle/>
          <a:p>
            <a:pPr>
              <a:buFont typeface="+mj-lt"/>
              <a:buAutoNum type="arabicPeriod"/>
            </a:pPr>
            <a:r>
              <a:rPr lang="en-US" b="1" dirty="0"/>
              <a:t>Tokenization:</a:t>
            </a:r>
            <a:r>
              <a:rPr lang="en-US" dirty="0"/>
              <a:t> Splitting the text into smaller units of meaning, typically words or sentences. This makes it easier for the computer to process the data.</a:t>
            </a:r>
          </a:p>
          <a:p>
            <a:pPr>
              <a:buFont typeface="+mj-lt"/>
              <a:buAutoNum type="arabicPeriod"/>
            </a:pPr>
            <a:r>
              <a:rPr lang="en-US" b="1" dirty="0"/>
              <a:t>Normalization:</a:t>
            </a:r>
            <a:endParaRPr lang="en-US" dirty="0"/>
          </a:p>
          <a:p>
            <a:pPr marL="742950" lvl="1" indent="-285750">
              <a:buFont typeface="+mj-lt"/>
              <a:buAutoNum type="arabicPeriod"/>
            </a:pPr>
            <a:r>
              <a:rPr lang="en-US" b="1" dirty="0"/>
              <a:t>Lowercasing:</a:t>
            </a:r>
            <a:r>
              <a:rPr lang="en-US" dirty="0"/>
              <a:t> Converting all text to lowercase to avoid treating "Hello" and "hello" as different entities.</a:t>
            </a:r>
          </a:p>
          <a:p>
            <a:pPr marL="742950" lvl="1" indent="-285750">
              <a:buFont typeface="+mj-lt"/>
              <a:buAutoNum type="arabicPeriod"/>
            </a:pPr>
            <a:r>
              <a:rPr lang="en-US" b="1" dirty="0"/>
              <a:t>Punctuation Removal:</a:t>
            </a:r>
            <a:r>
              <a:rPr lang="en-US" dirty="0"/>
              <a:t> Removing punctuation marks like commas, periods, and exclamation points as they often don't carry significant meaning for NLP tasks.</a:t>
            </a:r>
          </a:p>
          <a:p>
            <a:pPr marL="742950" lvl="1" indent="-285750">
              <a:buFont typeface="+mj-lt"/>
              <a:buAutoNum type="arabicPeriod"/>
            </a:pPr>
            <a:r>
              <a:rPr lang="en-US" b="1" dirty="0"/>
              <a:t>Stop Word Removal:</a:t>
            </a:r>
            <a:r>
              <a:rPr lang="en-US" dirty="0"/>
              <a:t> Removing common words that don't contribute much to the meaning of a sentence (e.g., "the," "a," "an").</a:t>
            </a:r>
          </a:p>
          <a:p>
            <a:pPr>
              <a:buFont typeface="+mj-lt"/>
              <a:buAutoNum type="arabicPeriod"/>
            </a:pPr>
            <a:r>
              <a:rPr lang="en-US" b="1" dirty="0"/>
              <a:t>Text Cleaning:</a:t>
            </a:r>
            <a:endParaRPr lang="en-US" dirty="0"/>
          </a:p>
          <a:p>
            <a:pPr marL="742950" lvl="1" indent="-285750">
              <a:buFont typeface="+mj-lt"/>
              <a:buAutoNum type="arabicPeriod"/>
            </a:pPr>
            <a:r>
              <a:rPr lang="en-US" b="1" dirty="0"/>
              <a:t>Special Character Removal:</a:t>
            </a:r>
            <a:r>
              <a:rPr lang="en-US" dirty="0"/>
              <a:t> Removing special characters like @, #, &amp;, etc., unless they hold specific meaning in the context of your task.</a:t>
            </a:r>
          </a:p>
          <a:p>
            <a:pPr marL="742950" lvl="1" indent="-285750">
              <a:buFont typeface="+mj-lt"/>
              <a:buAutoNum type="arabicPeriod"/>
            </a:pPr>
            <a:r>
              <a:rPr lang="en-US" b="1" dirty="0"/>
              <a:t>Spelling Correction:</a:t>
            </a:r>
            <a:r>
              <a:rPr lang="en-US" dirty="0"/>
              <a:t> Fixing typos or grammatical errors if necessary for your task. (This can be a complex step.)</a:t>
            </a:r>
          </a:p>
          <a:p>
            <a:pPr marL="742950" lvl="1" indent="-285750">
              <a:buFont typeface="+mj-lt"/>
              <a:buAutoNum type="arabicPeriod"/>
            </a:pPr>
            <a:r>
              <a:rPr lang="en-US" b="1" dirty="0"/>
              <a:t>Normalization of Numbers:</a:t>
            </a:r>
            <a:r>
              <a:rPr lang="en-US" dirty="0"/>
              <a:t> Deciding how to handle numbers (e.g., converting them to text or keeping them as numerals).</a:t>
            </a:r>
          </a:p>
          <a:p>
            <a:pPr>
              <a:buFont typeface="+mj-lt"/>
              <a:buAutoNum type="arabicPeriod"/>
            </a:pPr>
            <a:r>
              <a:rPr lang="en-US" b="1" dirty="0"/>
              <a:t>Advanced Techniques:</a:t>
            </a:r>
            <a:endParaRPr lang="en-US" dirty="0"/>
          </a:p>
          <a:p>
            <a:pPr marL="742950" lvl="1" indent="-285750">
              <a:buFont typeface="+mj-lt"/>
              <a:buAutoNum type="arabicPeriod"/>
            </a:pPr>
            <a:r>
              <a:rPr lang="en-US" b="1" dirty="0"/>
              <a:t>Stemming:</a:t>
            </a:r>
            <a:r>
              <a:rPr lang="en-US" dirty="0"/>
              <a:t> Reducing words to their root form (e.g., "running" -&gt; "run"). This can be helpful for tasks like document clustering.</a:t>
            </a:r>
          </a:p>
          <a:p>
            <a:pPr marL="742950" lvl="1" indent="-285750">
              <a:buFont typeface="+mj-lt"/>
              <a:buAutoNum type="arabicPeriod"/>
            </a:pPr>
            <a:r>
              <a:rPr lang="en-US" b="1" dirty="0"/>
              <a:t>Lemmatization:</a:t>
            </a:r>
            <a:r>
              <a:rPr lang="en-US" dirty="0"/>
              <a:t> Reducing words to their dictionary form (e.g., "running" -&gt; "run"). This is often preferred over stemming as it preserves more information about the word's part of speech.</a:t>
            </a:r>
          </a:p>
          <a:p>
            <a:pPr marL="742950" lvl="1" indent="-285750">
              <a:buFont typeface="+mj-lt"/>
              <a:buAutoNum type="arabicPeriod"/>
            </a:pPr>
            <a:r>
              <a:rPr lang="en-US" b="1" dirty="0"/>
              <a:t>N-grams:</a:t>
            </a:r>
            <a:r>
              <a:rPr lang="en-US" dirty="0"/>
              <a:t> Creating features based on sequences of words (e.g., bigrams like "natural language").</a:t>
            </a:r>
          </a:p>
          <a:p>
            <a:endParaRPr lang="en-US" dirty="0"/>
          </a:p>
        </p:txBody>
      </p:sp>
    </p:spTree>
    <p:extLst>
      <p:ext uri="{BB962C8B-B14F-4D97-AF65-F5344CB8AC3E}">
        <p14:creationId xmlns:p14="http://schemas.microsoft.com/office/powerpoint/2010/main" val="265336637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83219F-FDEB-6CFE-2603-5DD6FD160EF6}"/>
              </a:ext>
            </a:extLst>
          </p:cNvPr>
          <p:cNvSpPr>
            <a:spLocks noGrp="1"/>
          </p:cNvSpPr>
          <p:nvPr>
            <p:ph type="title"/>
          </p:nvPr>
        </p:nvSpPr>
        <p:spPr/>
        <p:txBody>
          <a:bodyPr>
            <a:normAutofit/>
          </a:bodyPr>
          <a:lstStyle/>
          <a:p>
            <a:r>
              <a:rPr lang="en-US" b="1" i="0" dirty="0">
                <a:effectLst/>
                <a:latin typeface="Source Sans Pro" panose="020B0503030403020204" pitchFamily="34" charset="0"/>
              </a:rPr>
              <a:t>Transformers are language models ??</a:t>
            </a:r>
            <a:endParaRPr lang="en-US" dirty="0"/>
          </a:p>
        </p:txBody>
      </p:sp>
      <p:sp>
        <p:nvSpPr>
          <p:cNvPr id="3" name="Content Placeholder 2">
            <a:extLst>
              <a:ext uri="{FF2B5EF4-FFF2-40B4-BE49-F238E27FC236}">
                <a16:creationId xmlns:a16="http://schemas.microsoft.com/office/drawing/2014/main" id="{6DBDCA12-1702-E49C-7B74-F227E978D981}"/>
              </a:ext>
            </a:extLst>
          </p:cNvPr>
          <p:cNvSpPr>
            <a:spLocks noGrp="1"/>
          </p:cNvSpPr>
          <p:nvPr>
            <p:ph idx="1"/>
          </p:nvPr>
        </p:nvSpPr>
        <p:spPr/>
        <p:txBody>
          <a:bodyPr>
            <a:normAutofit/>
          </a:bodyPr>
          <a:lstStyle/>
          <a:p>
            <a:pPr algn="l"/>
            <a:r>
              <a:rPr lang="en-US" b="0" i="0" dirty="0">
                <a:solidFill>
                  <a:srgbClr val="4B5563"/>
                </a:solidFill>
                <a:effectLst/>
                <a:latin typeface="Source Sans Pro" panose="020B0503030403020204" pitchFamily="34" charset="0"/>
              </a:rPr>
              <a:t>All the Transformer models mentioned above (GPT, BERT, BART, T5, etc.) have been trained as </a:t>
            </a:r>
            <a:r>
              <a:rPr lang="en-US" b="0" i="1" dirty="0">
                <a:solidFill>
                  <a:srgbClr val="4B5563"/>
                </a:solidFill>
                <a:effectLst/>
                <a:latin typeface="Source Sans Pro" panose="020B0503030403020204" pitchFamily="34" charset="0"/>
              </a:rPr>
              <a:t>language models</a:t>
            </a:r>
            <a:r>
              <a:rPr lang="en-US" b="0" i="0" dirty="0">
                <a:solidFill>
                  <a:srgbClr val="4B5563"/>
                </a:solidFill>
                <a:effectLst/>
                <a:latin typeface="Source Sans Pro" panose="020B0503030403020204" pitchFamily="34" charset="0"/>
              </a:rPr>
              <a:t>.</a:t>
            </a:r>
          </a:p>
          <a:p>
            <a:pPr algn="l"/>
            <a:r>
              <a:rPr lang="en-US" dirty="0">
                <a:solidFill>
                  <a:srgbClr val="4B5563"/>
                </a:solidFill>
                <a:latin typeface="Source Sans Pro" panose="020B0503030403020204" pitchFamily="34" charset="0"/>
              </a:rPr>
              <a:t>Large Language models (LLMs) features</a:t>
            </a:r>
          </a:p>
          <a:p>
            <a:pPr lvl="1"/>
            <a:r>
              <a:rPr lang="en-US" b="0" i="0" dirty="0">
                <a:solidFill>
                  <a:srgbClr val="4B5563"/>
                </a:solidFill>
                <a:effectLst/>
                <a:latin typeface="Source Sans Pro" panose="020B0503030403020204" pitchFamily="34" charset="0"/>
              </a:rPr>
              <a:t>have been trained on large amounts of raw text in a self-supervised fashion</a:t>
            </a:r>
          </a:p>
          <a:p>
            <a:pPr lvl="1"/>
            <a:r>
              <a:rPr lang="en-US" b="0" i="0" dirty="0">
                <a:solidFill>
                  <a:srgbClr val="4B5563"/>
                </a:solidFill>
                <a:effectLst/>
                <a:latin typeface="Source Sans Pro" panose="020B0503030403020204" pitchFamily="34" charset="0"/>
              </a:rPr>
              <a:t>the general pretrained model then goes through a process called </a:t>
            </a:r>
            <a:r>
              <a:rPr lang="en-US" b="0" i="1" dirty="0">
                <a:solidFill>
                  <a:srgbClr val="4B5563"/>
                </a:solidFill>
                <a:effectLst/>
                <a:latin typeface="Source Sans Pro" panose="020B0503030403020204" pitchFamily="34" charset="0"/>
              </a:rPr>
              <a:t>transfer learning</a:t>
            </a:r>
            <a:r>
              <a:rPr lang="en-US" b="0" i="0" dirty="0">
                <a:solidFill>
                  <a:srgbClr val="4B5563"/>
                </a:solidFill>
                <a:effectLst/>
                <a:latin typeface="Source Sans Pro" panose="020B0503030403020204" pitchFamily="34" charset="0"/>
              </a:rPr>
              <a:t>.</a:t>
            </a:r>
            <a:endParaRPr lang="en-US" dirty="0">
              <a:solidFill>
                <a:srgbClr val="4B5563"/>
              </a:solidFill>
              <a:latin typeface="Source Sans Pro" panose="020B0503030403020204" pitchFamily="34" charset="0"/>
            </a:endParaRPr>
          </a:p>
          <a:p>
            <a:pPr lvl="1"/>
            <a:r>
              <a:rPr lang="en-US" b="0" i="0" dirty="0">
                <a:solidFill>
                  <a:srgbClr val="4B5563"/>
                </a:solidFill>
                <a:effectLst/>
                <a:latin typeface="Source Sans Pro" panose="020B0503030403020204" pitchFamily="34" charset="0"/>
              </a:rPr>
              <a:t>Nowadays LLMS implemented in transformers architecture</a:t>
            </a:r>
          </a:p>
          <a:p>
            <a:pPr lvl="1"/>
            <a:r>
              <a:rPr lang="en-US" dirty="0"/>
              <a:t>the limitations of recurrent neural networks (RNNs) for long sequences, such as vanishing gradients</a:t>
            </a:r>
          </a:p>
          <a:p>
            <a:pPr lvl="1"/>
            <a:r>
              <a:rPr lang="en-US" dirty="0"/>
              <a:t>including parallelization and handling long sequences effectively.</a:t>
            </a:r>
          </a:p>
          <a:p>
            <a:pPr lvl="1"/>
            <a:endParaRPr lang="en-US" dirty="0"/>
          </a:p>
          <a:p>
            <a:pPr lvl="1"/>
            <a:endParaRPr lang="en-US" b="0" i="0" dirty="0">
              <a:solidFill>
                <a:srgbClr val="4B5563"/>
              </a:solidFill>
              <a:effectLst/>
              <a:latin typeface="Source Sans Pro" panose="020B0503030403020204" pitchFamily="34" charset="0"/>
            </a:endParaRPr>
          </a:p>
        </p:txBody>
      </p:sp>
    </p:spTree>
    <p:extLst>
      <p:ext uri="{BB962C8B-B14F-4D97-AF65-F5344CB8AC3E}">
        <p14:creationId xmlns:p14="http://schemas.microsoft.com/office/powerpoint/2010/main" val="414292303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881803-46B1-42E9-EBEA-104704B24249}"/>
              </a:ext>
            </a:extLst>
          </p:cNvPr>
          <p:cNvSpPr>
            <a:spLocks noGrp="1"/>
          </p:cNvSpPr>
          <p:nvPr>
            <p:ph type="title"/>
          </p:nvPr>
        </p:nvSpPr>
        <p:spPr/>
        <p:txBody>
          <a:bodyPr/>
          <a:lstStyle/>
          <a:p>
            <a:r>
              <a:rPr lang="en-US" b="0" i="0" dirty="0">
                <a:solidFill>
                  <a:srgbClr val="4B5563"/>
                </a:solidFill>
                <a:effectLst/>
                <a:latin typeface="Source Sans Pro" panose="020B0503030403020204" pitchFamily="34" charset="0"/>
              </a:rPr>
              <a:t>Self-supervised learning</a:t>
            </a:r>
            <a:endParaRPr lang="en-US" dirty="0"/>
          </a:p>
        </p:txBody>
      </p:sp>
      <p:sp>
        <p:nvSpPr>
          <p:cNvPr id="3" name="Content Placeholder 2">
            <a:extLst>
              <a:ext uri="{FF2B5EF4-FFF2-40B4-BE49-F238E27FC236}">
                <a16:creationId xmlns:a16="http://schemas.microsoft.com/office/drawing/2014/main" id="{EF7D0EEB-F4E3-CF34-ACAB-BED56C0CB6AC}"/>
              </a:ext>
            </a:extLst>
          </p:cNvPr>
          <p:cNvSpPr>
            <a:spLocks noGrp="1"/>
          </p:cNvSpPr>
          <p:nvPr>
            <p:ph idx="1"/>
          </p:nvPr>
        </p:nvSpPr>
        <p:spPr/>
        <p:txBody>
          <a:bodyPr>
            <a:normAutofit/>
          </a:bodyPr>
          <a:lstStyle/>
          <a:p>
            <a:pPr marL="0" indent="0" algn="ctr">
              <a:buNone/>
            </a:pPr>
            <a:r>
              <a:rPr lang="en-US" sz="4800" b="0" i="0" dirty="0">
                <a:solidFill>
                  <a:srgbClr val="0070C0"/>
                </a:solidFill>
                <a:effectLst/>
                <a:latin typeface="Source Sans Pro" panose="020B0503030403020204" pitchFamily="34" charset="0"/>
              </a:rPr>
              <a:t>Self-supervised learning is a type of training in which the objective is automatically computed from the inputs of the model. That means that humans are not needed to label the data!</a:t>
            </a:r>
          </a:p>
          <a:p>
            <a:pPr marL="0" indent="0" algn="ctr">
              <a:buNone/>
            </a:pPr>
            <a:endParaRPr lang="en-US" sz="4800" dirty="0">
              <a:solidFill>
                <a:srgbClr val="0070C0"/>
              </a:solidFill>
            </a:endParaRPr>
          </a:p>
        </p:txBody>
      </p:sp>
    </p:spTree>
    <p:extLst>
      <p:ext uri="{BB962C8B-B14F-4D97-AF65-F5344CB8AC3E}">
        <p14:creationId xmlns:p14="http://schemas.microsoft.com/office/powerpoint/2010/main" val="143673695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923FB7-0157-535B-EA85-9374C1252E82}"/>
              </a:ext>
            </a:extLst>
          </p:cNvPr>
          <p:cNvSpPr>
            <a:spLocks noGrp="1"/>
          </p:cNvSpPr>
          <p:nvPr>
            <p:ph type="title"/>
          </p:nvPr>
        </p:nvSpPr>
        <p:spPr/>
        <p:txBody>
          <a:bodyPr>
            <a:normAutofit/>
          </a:bodyPr>
          <a:lstStyle/>
          <a:p>
            <a:pPr fontAlgn="base"/>
            <a:r>
              <a:rPr lang="en-US" b="0" i="0" dirty="0">
                <a:solidFill>
                  <a:srgbClr val="191A1C"/>
                </a:solidFill>
                <a:effectLst/>
                <a:latin typeface="inherit"/>
              </a:rPr>
              <a:t>Introducing transformers</a:t>
            </a:r>
            <a:endParaRPr lang="en-US" dirty="0"/>
          </a:p>
        </p:txBody>
      </p:sp>
      <p:sp>
        <p:nvSpPr>
          <p:cNvPr id="3" name="Content Placeholder 2">
            <a:extLst>
              <a:ext uri="{FF2B5EF4-FFF2-40B4-BE49-F238E27FC236}">
                <a16:creationId xmlns:a16="http://schemas.microsoft.com/office/drawing/2014/main" id="{6A4FC058-4BED-D112-FF95-9926D7A5C2D1}"/>
              </a:ext>
            </a:extLst>
          </p:cNvPr>
          <p:cNvSpPr>
            <a:spLocks noGrp="1"/>
          </p:cNvSpPr>
          <p:nvPr>
            <p:ph idx="1"/>
          </p:nvPr>
        </p:nvSpPr>
        <p:spPr/>
        <p:txBody>
          <a:bodyPr>
            <a:normAutofit lnSpcReduction="10000"/>
          </a:bodyPr>
          <a:lstStyle/>
          <a:p>
            <a:pPr algn="just" rtl="1"/>
            <a:r>
              <a:rPr lang="fa-IR" dirty="0">
                <a:cs typeface="B Nazanin" panose="00000400000000000000" pitchFamily="2" charset="-78"/>
              </a:rPr>
              <a:t>ترانسفورماتورها مدل‌های دنباله‌ای هستند که ساختار متوالی </a:t>
            </a:r>
            <a:r>
              <a:rPr lang="en-US" dirty="0">
                <a:cs typeface="B Nazanin" panose="00000400000000000000" pitchFamily="2" charset="-78"/>
              </a:rPr>
              <a:t> RNN </a:t>
            </a:r>
            <a:r>
              <a:rPr lang="fa-IR" dirty="0">
                <a:cs typeface="B Nazanin" panose="00000400000000000000" pitchFamily="2" charset="-78"/>
              </a:rPr>
              <a:t>و </a:t>
            </a:r>
            <a:r>
              <a:rPr lang="en-US" dirty="0">
                <a:cs typeface="B Nazanin" panose="00000400000000000000" pitchFamily="2" charset="-78"/>
              </a:rPr>
              <a:t> LSTM </a:t>
            </a:r>
            <a:r>
              <a:rPr lang="fa-IR" dirty="0">
                <a:cs typeface="B Nazanin" panose="00000400000000000000" pitchFamily="2" charset="-78"/>
              </a:rPr>
              <a:t>را کنار می‌گذارند و یک رویکرد کاملاً مبتنی بر توجه را اتخاذ می‌کنند. ترانسفورماتورها در ابتدا برای پردازش متن توسعه داده شدند و تقریباً برای تمام شبکه‌های عصبی پیشرفته </a:t>
            </a:r>
            <a:r>
              <a:rPr lang="en-US" dirty="0">
                <a:cs typeface="B Nazanin" panose="00000400000000000000" pitchFamily="2" charset="-78"/>
              </a:rPr>
              <a:t> NLP </a:t>
            </a:r>
            <a:r>
              <a:rPr lang="fa-IR" dirty="0">
                <a:cs typeface="B Nazanin" panose="00000400000000000000" pitchFamily="2" charset="-78"/>
              </a:rPr>
              <a:t>امروزی مرکزی هستند، اما می‌توانند با تصویر، ویدئو، صدا یا تقریباً هر داده متوالی دیگری نیز استفاده شوند.</a:t>
            </a:r>
            <a:endParaRPr lang="en-US" dirty="0">
              <a:cs typeface="B Nazanin" panose="00000400000000000000" pitchFamily="2" charset="-78"/>
            </a:endParaRPr>
          </a:p>
          <a:p>
            <a:pPr algn="just" rtl="1"/>
            <a:r>
              <a:rPr lang="fa-IR" dirty="0">
                <a:cs typeface="B Nazanin" panose="00000400000000000000" pitchFamily="2" charset="-78"/>
              </a:rPr>
              <a:t>احتمالاً نام مدل های زبان بزرگ </a:t>
            </a:r>
            <a:r>
              <a:rPr lang="en-US" dirty="0">
                <a:cs typeface="B Nazanin" panose="00000400000000000000" pitchFamily="2" charset="-78"/>
              </a:rPr>
              <a:t> LLM</a:t>
            </a:r>
            <a:r>
              <a:rPr lang="fa-IR" dirty="0">
                <a:cs typeface="B Nazanin" panose="00000400000000000000" pitchFamily="2" charset="-78"/>
              </a:rPr>
              <a:t>مانند </a:t>
            </a:r>
            <a:r>
              <a:rPr lang="en-US" dirty="0">
                <a:cs typeface="B Nazanin" panose="00000400000000000000" pitchFamily="2" charset="-78"/>
              </a:rPr>
              <a:t>ChatGPT </a:t>
            </a:r>
            <a:r>
              <a:rPr lang="fa-IR" dirty="0">
                <a:cs typeface="B Nazanin" panose="00000400000000000000" pitchFamily="2" charset="-78"/>
              </a:rPr>
              <a:t>یا</a:t>
            </a:r>
            <a:r>
              <a:rPr lang="en-US" dirty="0">
                <a:cs typeface="B Nazanin" panose="00000400000000000000" pitchFamily="2" charset="-78"/>
              </a:rPr>
              <a:t> </a:t>
            </a:r>
            <a:r>
              <a:rPr lang="en-US" dirty="0" err="1">
                <a:cs typeface="B Nazanin" panose="00000400000000000000" pitchFamily="2" charset="-78"/>
              </a:rPr>
              <a:t>LLaMA</a:t>
            </a:r>
            <a:r>
              <a:rPr lang="en-US" dirty="0">
                <a:cs typeface="B Nazanin" panose="00000400000000000000" pitchFamily="2" charset="-78"/>
              </a:rPr>
              <a:t> </a:t>
            </a:r>
            <a:r>
              <a:rPr lang="fa-IR" dirty="0">
                <a:cs typeface="B Nazanin" panose="00000400000000000000" pitchFamily="2" charset="-78"/>
              </a:rPr>
              <a:t> را شنیده اید. معماری ترانسفورماتور یک بلوک ساختمانی اساسی از </a:t>
            </a:r>
            <a:r>
              <a:rPr lang="en-US" dirty="0">
                <a:cs typeface="B Nazanin" panose="00000400000000000000" pitchFamily="2" charset="-78"/>
              </a:rPr>
              <a:t>LLM </a:t>
            </a:r>
            <a:r>
              <a:rPr lang="fa-IR" dirty="0">
                <a:cs typeface="B Nazanin" panose="00000400000000000000" pitchFamily="2" charset="-78"/>
              </a:rPr>
              <a:t>ها است که از یادگیری خود نظارتی بر روی مقادیر وسیعی از داده های بدون برچسب استفاده می کنند. این مدل‌ها گاهی اوقات به‌عنوان «مدل‌های پایه» نیز شناخته می‌شوند، زیرا تمایل دارند به‌خوبی به طیف وسیعی از وظایف تعمیم دهند، و در برخی موارد برای تنظیم دقیق‌تر نیز در دسترس هستند.</a:t>
            </a:r>
            <a:endParaRPr lang="en-US" dirty="0">
              <a:cs typeface="B Nazanin" panose="00000400000000000000" pitchFamily="2" charset="-78"/>
            </a:endParaRPr>
          </a:p>
          <a:p>
            <a:pPr algn="just" rtl="1"/>
            <a:r>
              <a:rPr lang="fa-IR" dirty="0">
                <a:cs typeface="B Nazanin" panose="00000400000000000000" pitchFamily="2" charset="-78"/>
              </a:rPr>
              <a:t> </a:t>
            </a:r>
            <a:r>
              <a:rPr lang="en-US" dirty="0">
                <a:cs typeface="B Nazanin" panose="00000400000000000000" pitchFamily="2" charset="-78"/>
              </a:rPr>
              <a:t>BERT </a:t>
            </a:r>
            <a:r>
              <a:rPr lang="fa-IR" dirty="0">
                <a:cs typeface="B Nazanin" panose="00000400000000000000" pitchFamily="2" charset="-78"/>
              </a:rPr>
              <a:t> </a:t>
            </a:r>
            <a:r>
              <a:rPr lang="en-US" dirty="0">
                <a:cs typeface="B Nazanin" panose="00000400000000000000" pitchFamily="2" charset="-78"/>
              </a:rPr>
              <a:t> </a:t>
            </a:r>
            <a:r>
              <a:rPr lang="fa-IR" dirty="0">
                <a:cs typeface="B Nazanin" panose="00000400000000000000" pitchFamily="2" charset="-78"/>
              </a:rPr>
              <a:t>نمونه ای از این دسته از مدل ها است.</a:t>
            </a:r>
            <a:endParaRPr lang="en-US" dirty="0">
              <a:cs typeface="B Nazanin" panose="00000400000000000000" pitchFamily="2" charset="-78"/>
            </a:endParaRPr>
          </a:p>
        </p:txBody>
      </p:sp>
    </p:spTree>
    <p:extLst>
      <p:ext uri="{BB962C8B-B14F-4D97-AF65-F5344CB8AC3E}">
        <p14:creationId xmlns:p14="http://schemas.microsoft.com/office/powerpoint/2010/main" val="396340784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6435D1-5973-9D67-2968-037F2DDF40FB}"/>
              </a:ext>
            </a:extLst>
          </p:cNvPr>
          <p:cNvSpPr>
            <a:spLocks noGrp="1"/>
          </p:cNvSpPr>
          <p:nvPr>
            <p:ph type="title"/>
          </p:nvPr>
        </p:nvSpPr>
        <p:spPr/>
        <p:txBody>
          <a:bodyPr/>
          <a:lstStyle/>
          <a:p>
            <a:r>
              <a:rPr lang="en-US" dirty="0"/>
              <a:t>the core architecture of the Transformer model</a:t>
            </a:r>
          </a:p>
        </p:txBody>
      </p:sp>
      <p:sp>
        <p:nvSpPr>
          <p:cNvPr id="3" name="Content Placeholder 2">
            <a:extLst>
              <a:ext uri="{FF2B5EF4-FFF2-40B4-BE49-F238E27FC236}">
                <a16:creationId xmlns:a16="http://schemas.microsoft.com/office/drawing/2014/main" id="{364DA2B0-BF8D-A05F-CC04-A82D39BBD931}"/>
              </a:ext>
            </a:extLst>
          </p:cNvPr>
          <p:cNvSpPr>
            <a:spLocks noGrp="1"/>
          </p:cNvSpPr>
          <p:nvPr>
            <p:ph idx="1"/>
          </p:nvPr>
        </p:nvSpPr>
        <p:spPr/>
        <p:txBody>
          <a:bodyPr/>
          <a:lstStyle/>
          <a:p>
            <a:r>
              <a:rPr lang="en-US" dirty="0"/>
              <a:t>encoder-decoder structure</a:t>
            </a:r>
          </a:p>
          <a:p>
            <a:r>
              <a:rPr lang="en-US" dirty="0"/>
              <a:t>self-attention mechanism</a:t>
            </a:r>
          </a:p>
          <a:p>
            <a:r>
              <a:rPr lang="en-US" dirty="0"/>
              <a:t>positional encoding</a:t>
            </a:r>
          </a:p>
        </p:txBody>
      </p:sp>
    </p:spTree>
    <p:extLst>
      <p:ext uri="{BB962C8B-B14F-4D97-AF65-F5344CB8AC3E}">
        <p14:creationId xmlns:p14="http://schemas.microsoft.com/office/powerpoint/2010/main" val="217919379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606A30-5C5C-C3FE-FDE2-6091275A137D}"/>
              </a:ext>
            </a:extLst>
          </p:cNvPr>
          <p:cNvSpPr>
            <a:spLocks noGrp="1"/>
          </p:cNvSpPr>
          <p:nvPr>
            <p:ph type="title"/>
          </p:nvPr>
        </p:nvSpPr>
        <p:spPr/>
        <p:txBody>
          <a:bodyPr/>
          <a:lstStyle/>
          <a:p>
            <a:r>
              <a:rPr lang="en-US" dirty="0"/>
              <a:t>Positional encoding</a:t>
            </a:r>
          </a:p>
        </p:txBody>
      </p:sp>
      <p:sp>
        <p:nvSpPr>
          <p:cNvPr id="3" name="Content Placeholder 2">
            <a:extLst>
              <a:ext uri="{FF2B5EF4-FFF2-40B4-BE49-F238E27FC236}">
                <a16:creationId xmlns:a16="http://schemas.microsoft.com/office/drawing/2014/main" id="{5828D57C-2477-70AB-8724-FDAA7511D81D}"/>
              </a:ext>
            </a:extLst>
          </p:cNvPr>
          <p:cNvSpPr>
            <a:spLocks noGrp="1"/>
          </p:cNvSpPr>
          <p:nvPr>
            <p:ph idx="1"/>
          </p:nvPr>
        </p:nvSpPr>
        <p:spPr/>
        <p:txBody>
          <a:bodyPr/>
          <a:lstStyle/>
          <a:p>
            <a:endParaRPr lang="en-US"/>
          </a:p>
        </p:txBody>
      </p:sp>
      <p:pic>
        <p:nvPicPr>
          <p:cNvPr id="5" name="Picture 4">
            <a:extLst>
              <a:ext uri="{FF2B5EF4-FFF2-40B4-BE49-F238E27FC236}">
                <a16:creationId xmlns:a16="http://schemas.microsoft.com/office/drawing/2014/main" id="{11A03AEB-99DE-6945-C409-E0DAC54169DC}"/>
              </a:ext>
            </a:extLst>
          </p:cNvPr>
          <p:cNvPicPr>
            <a:picLocks noChangeAspect="1"/>
          </p:cNvPicPr>
          <p:nvPr/>
        </p:nvPicPr>
        <p:blipFill>
          <a:blip r:embed="rId2"/>
          <a:stretch>
            <a:fillRect/>
          </a:stretch>
        </p:blipFill>
        <p:spPr>
          <a:xfrm>
            <a:off x="216310" y="1438721"/>
            <a:ext cx="5447071" cy="4849007"/>
          </a:xfrm>
          <a:prstGeom prst="rect">
            <a:avLst/>
          </a:prstGeom>
        </p:spPr>
      </p:pic>
      <p:pic>
        <p:nvPicPr>
          <p:cNvPr id="7" name="Picture 6">
            <a:extLst>
              <a:ext uri="{FF2B5EF4-FFF2-40B4-BE49-F238E27FC236}">
                <a16:creationId xmlns:a16="http://schemas.microsoft.com/office/drawing/2014/main" id="{903493CA-9AB1-0598-5686-8A4E977164D5}"/>
              </a:ext>
            </a:extLst>
          </p:cNvPr>
          <p:cNvPicPr>
            <a:picLocks noChangeAspect="1"/>
          </p:cNvPicPr>
          <p:nvPr/>
        </p:nvPicPr>
        <p:blipFill>
          <a:blip r:embed="rId3"/>
          <a:stretch>
            <a:fillRect/>
          </a:stretch>
        </p:blipFill>
        <p:spPr>
          <a:xfrm>
            <a:off x="6096000" y="1438721"/>
            <a:ext cx="5564035" cy="4849007"/>
          </a:xfrm>
          <a:prstGeom prst="rect">
            <a:avLst/>
          </a:prstGeom>
        </p:spPr>
      </p:pic>
    </p:spTree>
    <p:extLst>
      <p:ext uri="{BB962C8B-B14F-4D97-AF65-F5344CB8AC3E}">
        <p14:creationId xmlns:p14="http://schemas.microsoft.com/office/powerpoint/2010/main" val="285690471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888668-ACE7-FC13-09D2-EE939AC4AADB}"/>
              </a:ext>
            </a:extLst>
          </p:cNvPr>
          <p:cNvSpPr>
            <a:spLocks noGrp="1"/>
          </p:cNvSpPr>
          <p:nvPr>
            <p:ph type="title"/>
          </p:nvPr>
        </p:nvSpPr>
        <p:spPr/>
        <p:txBody>
          <a:bodyPr>
            <a:normAutofit/>
          </a:bodyPr>
          <a:lstStyle/>
          <a:p>
            <a:r>
              <a:rPr lang="en-US" b="1" i="0" dirty="0">
                <a:solidFill>
                  <a:srgbClr val="4B5563"/>
                </a:solidFill>
                <a:effectLst/>
                <a:latin typeface="Source Sans Pro" panose="020B0503030403020204" pitchFamily="34" charset="0"/>
              </a:rPr>
              <a:t> the general architecture of the Transformer model.</a:t>
            </a:r>
            <a:endParaRPr lang="en-US" b="1" dirty="0"/>
          </a:p>
        </p:txBody>
      </p:sp>
      <p:sp>
        <p:nvSpPr>
          <p:cNvPr id="4" name="AutoShape 2" descr="Architecture of a Transformers models">
            <a:extLst>
              <a:ext uri="{FF2B5EF4-FFF2-40B4-BE49-F238E27FC236}">
                <a16:creationId xmlns:a16="http://schemas.microsoft.com/office/drawing/2014/main" id="{79591E51-E9B8-0D94-82E4-E627365221AC}"/>
              </a:ext>
            </a:extLst>
          </p:cNvPr>
          <p:cNvSpPr>
            <a:spLocks noChangeAspect="1" noChangeArrowheads="1"/>
          </p:cNvSpPr>
          <p:nvPr/>
        </p:nvSpPr>
        <p:spPr bwMode="auto">
          <a:xfrm>
            <a:off x="5943599" y="3276599"/>
            <a:ext cx="331839" cy="331839"/>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8" name="Picture 7">
            <a:extLst>
              <a:ext uri="{FF2B5EF4-FFF2-40B4-BE49-F238E27FC236}">
                <a16:creationId xmlns:a16="http://schemas.microsoft.com/office/drawing/2014/main" id="{39B9A17C-D56B-76C4-F866-4FF6CEEB1C47}"/>
              </a:ext>
            </a:extLst>
          </p:cNvPr>
          <p:cNvPicPr>
            <a:picLocks noChangeAspect="1"/>
          </p:cNvPicPr>
          <p:nvPr/>
        </p:nvPicPr>
        <p:blipFill>
          <a:blip r:embed="rId2"/>
          <a:stretch>
            <a:fillRect/>
          </a:stretch>
        </p:blipFill>
        <p:spPr>
          <a:xfrm>
            <a:off x="8126962" y="1436942"/>
            <a:ext cx="3154953" cy="5128704"/>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
        <p:nvSpPr>
          <p:cNvPr id="10" name="TextBox 9">
            <a:extLst>
              <a:ext uri="{FF2B5EF4-FFF2-40B4-BE49-F238E27FC236}">
                <a16:creationId xmlns:a16="http://schemas.microsoft.com/office/drawing/2014/main" id="{C54D508F-17D9-5017-A27C-607A9B07EE34}"/>
              </a:ext>
            </a:extLst>
          </p:cNvPr>
          <p:cNvSpPr txBox="1"/>
          <p:nvPr/>
        </p:nvSpPr>
        <p:spPr>
          <a:xfrm>
            <a:off x="5093111" y="1723375"/>
            <a:ext cx="2961966" cy="2031325"/>
          </a:xfrm>
          <a:prstGeom prst="rect">
            <a:avLst/>
          </a:prstGeom>
          <a:noFill/>
        </p:spPr>
        <p:txBody>
          <a:bodyPr wrap="square">
            <a:spAutoFit/>
          </a:bodyPr>
          <a:lstStyle/>
          <a:p>
            <a:pPr algn="l">
              <a:buFont typeface="Arial" panose="020B0604020202020204" pitchFamily="34" charset="0"/>
              <a:buChar char="•"/>
            </a:pPr>
            <a:r>
              <a:rPr lang="en-US" b="1" i="0" dirty="0">
                <a:solidFill>
                  <a:srgbClr val="4B5563"/>
                </a:solidFill>
                <a:effectLst/>
                <a:latin typeface="Source Sans Pro" panose="020B0503030403020204" pitchFamily="34" charset="0"/>
              </a:rPr>
              <a:t>Encoder (left)</a:t>
            </a:r>
            <a:r>
              <a:rPr lang="en-US" b="0" i="0" dirty="0">
                <a:solidFill>
                  <a:srgbClr val="4B5563"/>
                </a:solidFill>
                <a:effectLst/>
                <a:latin typeface="Source Sans Pro" panose="020B0503030403020204" pitchFamily="34" charset="0"/>
              </a:rPr>
              <a:t>: The encoder receives an input and builds a representation of it (its features). This means that the model is optimized to acquire understanding from the input.</a:t>
            </a:r>
          </a:p>
        </p:txBody>
      </p:sp>
      <p:cxnSp>
        <p:nvCxnSpPr>
          <p:cNvPr id="12" name="Straight Arrow Connector 11">
            <a:extLst>
              <a:ext uri="{FF2B5EF4-FFF2-40B4-BE49-F238E27FC236}">
                <a16:creationId xmlns:a16="http://schemas.microsoft.com/office/drawing/2014/main" id="{482546AF-259F-D00B-3228-9FA6530B84FD}"/>
              </a:ext>
            </a:extLst>
          </p:cNvPr>
          <p:cNvCxnSpPr>
            <a:cxnSpLocks/>
          </p:cNvCxnSpPr>
          <p:nvPr/>
        </p:nvCxnSpPr>
        <p:spPr>
          <a:xfrm>
            <a:off x="7728155" y="3608438"/>
            <a:ext cx="639097" cy="707923"/>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15" name="TextBox 14">
            <a:extLst>
              <a:ext uri="{FF2B5EF4-FFF2-40B4-BE49-F238E27FC236}">
                <a16:creationId xmlns:a16="http://schemas.microsoft.com/office/drawing/2014/main" id="{13AB9070-3502-45A1-B858-F99B1BE6B4CF}"/>
              </a:ext>
            </a:extLst>
          </p:cNvPr>
          <p:cNvSpPr txBox="1"/>
          <p:nvPr/>
        </p:nvSpPr>
        <p:spPr>
          <a:xfrm>
            <a:off x="4751740" y="4462623"/>
            <a:ext cx="3224980" cy="2585323"/>
          </a:xfrm>
          <a:prstGeom prst="rect">
            <a:avLst/>
          </a:prstGeom>
          <a:noFill/>
        </p:spPr>
        <p:txBody>
          <a:bodyPr wrap="square">
            <a:spAutoFit/>
          </a:bodyPr>
          <a:lstStyle/>
          <a:p>
            <a:pPr algn="l">
              <a:buFont typeface="Arial" panose="020B0604020202020204" pitchFamily="34" charset="0"/>
              <a:buChar char="•"/>
            </a:pPr>
            <a:r>
              <a:rPr lang="en-US" b="1" i="0" dirty="0">
                <a:solidFill>
                  <a:srgbClr val="4B5563"/>
                </a:solidFill>
                <a:effectLst/>
                <a:latin typeface="Source Sans Pro" panose="020B0503030403020204" pitchFamily="34" charset="0"/>
              </a:rPr>
              <a:t>Decoder (right)</a:t>
            </a:r>
            <a:r>
              <a:rPr lang="en-US" b="0" i="0" dirty="0">
                <a:solidFill>
                  <a:srgbClr val="4B5563"/>
                </a:solidFill>
                <a:effectLst/>
                <a:latin typeface="Source Sans Pro" panose="020B0503030403020204" pitchFamily="34" charset="0"/>
              </a:rPr>
              <a:t>: The decoder uses the encoder’s representation (features) along with other inputs to generate a target sequence. This means that the model is optimized for generating outputs.</a:t>
            </a:r>
          </a:p>
          <a:p>
            <a:br>
              <a:rPr lang="en-US" dirty="0"/>
            </a:br>
            <a:endParaRPr lang="en-US" dirty="0"/>
          </a:p>
        </p:txBody>
      </p:sp>
      <p:cxnSp>
        <p:nvCxnSpPr>
          <p:cNvPr id="17" name="Straight Arrow Connector 16">
            <a:extLst>
              <a:ext uri="{FF2B5EF4-FFF2-40B4-BE49-F238E27FC236}">
                <a16:creationId xmlns:a16="http://schemas.microsoft.com/office/drawing/2014/main" id="{DB078603-27B6-26FA-4413-6DD65AD9B657}"/>
              </a:ext>
            </a:extLst>
          </p:cNvPr>
          <p:cNvCxnSpPr>
            <a:cxnSpLocks/>
          </p:cNvCxnSpPr>
          <p:nvPr/>
        </p:nvCxnSpPr>
        <p:spPr>
          <a:xfrm flipV="1">
            <a:off x="7826477" y="4316361"/>
            <a:ext cx="2428568" cy="2031325"/>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19" name="TextBox 18">
            <a:extLst>
              <a:ext uri="{FF2B5EF4-FFF2-40B4-BE49-F238E27FC236}">
                <a16:creationId xmlns:a16="http://schemas.microsoft.com/office/drawing/2014/main" id="{FCE68FD3-924A-B52D-6FD8-D957BFDCD545}"/>
              </a:ext>
            </a:extLst>
          </p:cNvPr>
          <p:cNvSpPr txBox="1"/>
          <p:nvPr/>
        </p:nvSpPr>
        <p:spPr>
          <a:xfrm>
            <a:off x="-23981" y="1900278"/>
            <a:ext cx="4940710" cy="4431983"/>
          </a:xfrm>
          <a:prstGeom prst="rect">
            <a:avLst/>
          </a:prstGeom>
          <a:noFill/>
        </p:spPr>
        <p:txBody>
          <a:bodyPr wrap="square">
            <a:spAutoFit/>
          </a:bodyPr>
          <a:lstStyle/>
          <a:p>
            <a:pPr algn="l"/>
            <a:r>
              <a:rPr lang="en-US" b="0" i="0" dirty="0">
                <a:solidFill>
                  <a:srgbClr val="4B5563"/>
                </a:solidFill>
                <a:effectLst/>
                <a:latin typeface="Source Sans Pro" panose="020B0503030403020204" pitchFamily="34" charset="0"/>
              </a:rPr>
              <a:t>Each of these parts can be used independently, depending on the task:</a:t>
            </a:r>
          </a:p>
          <a:p>
            <a:pPr algn="l">
              <a:buFont typeface="Arial" panose="020B0604020202020204" pitchFamily="34" charset="0"/>
              <a:buChar char="•"/>
            </a:pPr>
            <a:r>
              <a:rPr lang="en-US" sz="2400" dirty="0">
                <a:solidFill>
                  <a:srgbClr val="7030A0"/>
                </a:solidFill>
                <a:latin typeface="Source Sans Pro" panose="020B0503030403020204" pitchFamily="34" charset="0"/>
              </a:rPr>
              <a:t>Encoder-only models: </a:t>
            </a:r>
            <a:r>
              <a:rPr lang="en-US" b="0" i="0" dirty="0">
                <a:solidFill>
                  <a:srgbClr val="4B5563"/>
                </a:solidFill>
                <a:effectLst/>
                <a:latin typeface="Source Sans Pro" panose="020B0503030403020204" pitchFamily="34" charset="0"/>
              </a:rPr>
              <a:t>Good for tasks that require understanding of the input, such as sentence classification and named entity recognition.</a:t>
            </a:r>
          </a:p>
          <a:p>
            <a:pPr algn="l">
              <a:buFont typeface="Arial" panose="020B0604020202020204" pitchFamily="34" charset="0"/>
              <a:buChar char="•"/>
            </a:pPr>
            <a:r>
              <a:rPr lang="en-US" sz="2400" dirty="0">
                <a:solidFill>
                  <a:srgbClr val="7030A0"/>
                </a:solidFill>
                <a:latin typeface="Source Sans Pro" panose="020B0503030403020204" pitchFamily="34" charset="0"/>
              </a:rPr>
              <a:t>Decoder-only models: </a:t>
            </a:r>
            <a:r>
              <a:rPr lang="en-US" b="0" i="0" dirty="0">
                <a:solidFill>
                  <a:srgbClr val="4B5563"/>
                </a:solidFill>
                <a:effectLst/>
                <a:latin typeface="Source Sans Pro" panose="020B0503030403020204" pitchFamily="34" charset="0"/>
              </a:rPr>
              <a:t>Good for generative tasks such as text generation.</a:t>
            </a:r>
          </a:p>
          <a:p>
            <a:pPr algn="l">
              <a:buFont typeface="Arial" panose="020B0604020202020204" pitchFamily="34" charset="0"/>
              <a:buChar char="•"/>
            </a:pPr>
            <a:r>
              <a:rPr lang="en-US" sz="2400" i="0" dirty="0">
                <a:solidFill>
                  <a:srgbClr val="7030A0"/>
                </a:solidFill>
                <a:effectLst/>
                <a:latin typeface="Source Sans Pro" panose="020B0503030403020204" pitchFamily="34" charset="0"/>
              </a:rPr>
              <a:t>Encoder-decoder models or sequence-to-sequence models: </a:t>
            </a:r>
            <a:r>
              <a:rPr lang="en-US" b="0" i="0" dirty="0">
                <a:solidFill>
                  <a:srgbClr val="4B5563"/>
                </a:solidFill>
                <a:effectLst/>
                <a:latin typeface="Source Sans Pro" panose="020B0503030403020204" pitchFamily="34" charset="0"/>
              </a:rPr>
              <a:t>Good for generative tasks that require an input, such as translation or summarization.</a:t>
            </a:r>
          </a:p>
          <a:p>
            <a:pPr algn="l"/>
            <a:r>
              <a:rPr lang="en-US" b="0" i="0" dirty="0">
                <a:solidFill>
                  <a:srgbClr val="4B5563"/>
                </a:solidFill>
                <a:effectLst/>
                <a:latin typeface="Source Sans Pro" panose="020B0503030403020204" pitchFamily="34" charset="0"/>
              </a:rPr>
              <a:t>We will dive into those architectures independently in later sections.</a:t>
            </a:r>
          </a:p>
        </p:txBody>
      </p:sp>
    </p:spTree>
    <p:extLst>
      <p:ext uri="{BB962C8B-B14F-4D97-AF65-F5344CB8AC3E}">
        <p14:creationId xmlns:p14="http://schemas.microsoft.com/office/powerpoint/2010/main" val="425378963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04817D-D78C-8E56-C863-A33E087D05F8}"/>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BB3DA84E-4112-4088-782C-31D34587BA8E}"/>
              </a:ext>
            </a:extLst>
          </p:cNvPr>
          <p:cNvSpPr>
            <a:spLocks noGrp="1"/>
          </p:cNvSpPr>
          <p:nvPr>
            <p:ph idx="1"/>
          </p:nvPr>
        </p:nvSpPr>
        <p:spPr/>
        <p:txBody>
          <a:bodyPr/>
          <a:lstStyle/>
          <a:p>
            <a:endParaRPr lang="en-US" dirty="0"/>
          </a:p>
        </p:txBody>
      </p:sp>
      <p:pic>
        <p:nvPicPr>
          <p:cNvPr id="2050" name="Picture 2" descr="Chart showing the three different types of transformers: encoder-only, decoder-only, and encoder-decoder models. Chart also lists tasks specific to each type of transformer, as well as examples and alternative names.">
            <a:extLst>
              <a:ext uri="{FF2B5EF4-FFF2-40B4-BE49-F238E27FC236}">
                <a16:creationId xmlns:a16="http://schemas.microsoft.com/office/drawing/2014/main" id="{E1D51E80-6432-768D-0E07-B15325CED3C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926116" y="0"/>
            <a:ext cx="7265884" cy="6823585"/>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1D2FD8A9-262D-53CB-3D75-3920F86CAC43}"/>
              </a:ext>
            </a:extLst>
          </p:cNvPr>
          <p:cNvSpPr txBox="1"/>
          <p:nvPr/>
        </p:nvSpPr>
        <p:spPr>
          <a:xfrm>
            <a:off x="988181" y="2231939"/>
            <a:ext cx="3787955" cy="3108543"/>
          </a:xfrm>
          <a:prstGeom prst="rect">
            <a:avLst/>
          </a:prstGeom>
          <a:noFill/>
        </p:spPr>
        <p:txBody>
          <a:bodyPr wrap="square">
            <a:spAutoFit/>
          </a:bodyPr>
          <a:lstStyle/>
          <a:p>
            <a:pPr algn="ctr" rtl="1"/>
            <a:r>
              <a:rPr lang="en-US" sz="2800" b="1" dirty="0" err="1">
                <a:cs typeface="B Titr" panose="00000700000000000000" pitchFamily="2" charset="-78"/>
              </a:rPr>
              <a:t>ترانسفورماتورها</a:t>
            </a:r>
            <a:r>
              <a:rPr lang="en-US" sz="2800" b="1" dirty="0">
                <a:cs typeface="B Titr" panose="00000700000000000000" pitchFamily="2" charset="-78"/>
              </a:rPr>
              <a:t> </a:t>
            </a:r>
            <a:r>
              <a:rPr lang="en-US" sz="2800" b="1" dirty="0" err="1">
                <a:cs typeface="B Titr" panose="00000700000000000000" pitchFamily="2" charset="-78"/>
              </a:rPr>
              <a:t>از</a:t>
            </a:r>
            <a:r>
              <a:rPr lang="en-US" sz="2800" b="1" dirty="0">
                <a:cs typeface="B Titr" panose="00000700000000000000" pitchFamily="2" charset="-78"/>
              </a:rPr>
              <a:t> </a:t>
            </a:r>
            <a:r>
              <a:rPr lang="en-US" sz="2800" b="1" dirty="0" err="1">
                <a:cs typeface="B Titr" panose="00000700000000000000" pitchFamily="2" charset="-78"/>
              </a:rPr>
              <a:t>رمزگذارها</a:t>
            </a:r>
            <a:r>
              <a:rPr lang="en-US" sz="2800" b="1" dirty="0">
                <a:cs typeface="B Titr" panose="00000700000000000000" pitchFamily="2" charset="-78"/>
              </a:rPr>
              <a:t> و </a:t>
            </a:r>
            <a:r>
              <a:rPr lang="en-US" sz="2800" b="1" dirty="0" err="1">
                <a:cs typeface="B Titr" panose="00000700000000000000" pitchFamily="2" charset="-78"/>
              </a:rPr>
              <a:t>رمزگشاها</a:t>
            </a:r>
            <a:r>
              <a:rPr lang="en-US" sz="2800" b="1" dirty="0">
                <a:cs typeface="B Titr" panose="00000700000000000000" pitchFamily="2" charset="-78"/>
              </a:rPr>
              <a:t> </a:t>
            </a:r>
            <a:r>
              <a:rPr lang="en-US" sz="2800" b="1" dirty="0" err="1">
                <a:cs typeface="B Titr" panose="00000700000000000000" pitchFamily="2" charset="-78"/>
              </a:rPr>
              <a:t>تشکیل</a:t>
            </a:r>
            <a:r>
              <a:rPr lang="en-US" sz="2800" b="1" dirty="0">
                <a:cs typeface="B Titr" panose="00000700000000000000" pitchFamily="2" charset="-78"/>
              </a:rPr>
              <a:t> </a:t>
            </a:r>
            <a:r>
              <a:rPr lang="en-US" sz="2800" b="1" dirty="0" err="1">
                <a:cs typeface="B Titr" panose="00000700000000000000" pitchFamily="2" charset="-78"/>
              </a:rPr>
              <a:t>شده‌اند</a:t>
            </a:r>
            <a:r>
              <a:rPr lang="en-US" sz="2800" b="1" dirty="0">
                <a:cs typeface="B Titr" panose="00000700000000000000" pitchFamily="2" charset="-78"/>
              </a:rPr>
              <a:t> و </a:t>
            </a:r>
            <a:r>
              <a:rPr lang="en-US" sz="2800" b="1" dirty="0" err="1">
                <a:cs typeface="B Titr" panose="00000700000000000000" pitchFamily="2" charset="-78"/>
              </a:rPr>
              <a:t>کارهایی</a:t>
            </a:r>
            <a:r>
              <a:rPr lang="en-US" sz="2800" b="1" dirty="0">
                <a:cs typeface="B Titr" panose="00000700000000000000" pitchFamily="2" charset="-78"/>
              </a:rPr>
              <a:t> </a:t>
            </a:r>
            <a:r>
              <a:rPr lang="en-US" sz="2800" b="1" dirty="0" err="1">
                <a:cs typeface="B Titr" panose="00000700000000000000" pitchFamily="2" charset="-78"/>
              </a:rPr>
              <a:t>که</a:t>
            </a:r>
            <a:r>
              <a:rPr lang="en-US" sz="2800" b="1" dirty="0">
                <a:cs typeface="B Titr" panose="00000700000000000000" pitchFamily="2" charset="-78"/>
              </a:rPr>
              <a:t> </a:t>
            </a:r>
            <a:r>
              <a:rPr lang="en-US" sz="2800" b="1" dirty="0" err="1">
                <a:cs typeface="B Titr" panose="00000700000000000000" pitchFamily="2" charset="-78"/>
              </a:rPr>
              <a:t>می‌توانیم</a:t>
            </a:r>
            <a:r>
              <a:rPr lang="en-US" sz="2800" b="1" dirty="0">
                <a:cs typeface="B Titr" panose="00000700000000000000" pitchFamily="2" charset="-78"/>
              </a:rPr>
              <a:t> </a:t>
            </a:r>
            <a:r>
              <a:rPr lang="en-US" sz="2800" b="1" dirty="0" err="1">
                <a:cs typeface="B Titr" panose="00000700000000000000" pitchFamily="2" charset="-78"/>
              </a:rPr>
              <a:t>با</a:t>
            </a:r>
            <a:r>
              <a:rPr lang="en-US" sz="2800" b="1" dirty="0">
                <a:cs typeface="B Titr" panose="00000700000000000000" pitchFamily="2" charset="-78"/>
              </a:rPr>
              <a:t> </a:t>
            </a:r>
            <a:r>
              <a:rPr lang="en-US" sz="2800" b="1" dirty="0" err="1">
                <a:cs typeface="B Titr" panose="00000700000000000000" pitchFamily="2" charset="-78"/>
              </a:rPr>
              <a:t>آن‌ها</a:t>
            </a:r>
            <a:r>
              <a:rPr lang="en-US" sz="2800" b="1" dirty="0">
                <a:cs typeface="B Titr" panose="00000700000000000000" pitchFamily="2" charset="-78"/>
              </a:rPr>
              <a:t> </a:t>
            </a:r>
            <a:r>
              <a:rPr lang="en-US" sz="2800" b="1" dirty="0" err="1">
                <a:cs typeface="B Titr" panose="00000700000000000000" pitchFamily="2" charset="-78"/>
              </a:rPr>
              <a:t>انجام</a:t>
            </a:r>
            <a:r>
              <a:rPr lang="en-US" sz="2800" b="1" dirty="0">
                <a:cs typeface="B Titr" panose="00000700000000000000" pitchFamily="2" charset="-78"/>
              </a:rPr>
              <a:t> </a:t>
            </a:r>
            <a:r>
              <a:rPr lang="en-US" sz="2800" b="1" dirty="0" err="1">
                <a:cs typeface="B Titr" panose="00000700000000000000" pitchFamily="2" charset="-78"/>
              </a:rPr>
              <a:t>دهیم</a:t>
            </a:r>
            <a:r>
              <a:rPr lang="en-US" sz="2800" b="1" dirty="0">
                <a:cs typeface="B Titr" panose="00000700000000000000" pitchFamily="2" charset="-78"/>
              </a:rPr>
              <a:t> </a:t>
            </a:r>
            <a:r>
              <a:rPr lang="en-US" sz="2800" b="1" dirty="0" err="1">
                <a:cs typeface="B Titr" panose="00000700000000000000" pitchFamily="2" charset="-78"/>
              </a:rPr>
              <a:t>به</a:t>
            </a:r>
            <a:r>
              <a:rPr lang="en-US" sz="2800" b="1" dirty="0">
                <a:cs typeface="B Titr" panose="00000700000000000000" pitchFamily="2" charset="-78"/>
              </a:rPr>
              <a:t> </a:t>
            </a:r>
            <a:r>
              <a:rPr lang="en-US" sz="2800" b="1" dirty="0" err="1">
                <a:cs typeface="B Titr" panose="00000700000000000000" pitchFamily="2" charset="-78"/>
              </a:rPr>
              <a:t>این</a:t>
            </a:r>
            <a:r>
              <a:rPr lang="en-US" sz="2800" b="1" dirty="0">
                <a:cs typeface="B Titr" panose="00000700000000000000" pitchFamily="2" charset="-78"/>
              </a:rPr>
              <a:t> </a:t>
            </a:r>
            <a:r>
              <a:rPr lang="en-US" sz="2800" b="1" dirty="0" err="1">
                <a:cs typeface="B Titr" panose="00000700000000000000" pitchFamily="2" charset="-78"/>
              </a:rPr>
              <a:t>بستگی</a:t>
            </a:r>
            <a:r>
              <a:rPr lang="en-US" sz="2800" b="1" dirty="0">
                <a:cs typeface="B Titr" panose="00000700000000000000" pitchFamily="2" charset="-78"/>
              </a:rPr>
              <a:t> </a:t>
            </a:r>
            <a:r>
              <a:rPr lang="en-US" sz="2800" b="1" dirty="0" err="1">
                <a:cs typeface="B Titr" panose="00000700000000000000" pitchFamily="2" charset="-78"/>
              </a:rPr>
              <a:t>دارد</a:t>
            </a:r>
            <a:r>
              <a:rPr lang="en-US" sz="2800" b="1" dirty="0">
                <a:cs typeface="B Titr" panose="00000700000000000000" pitchFamily="2" charset="-78"/>
              </a:rPr>
              <a:t> </a:t>
            </a:r>
            <a:r>
              <a:rPr lang="en-US" sz="2800" b="1" dirty="0" err="1">
                <a:cs typeface="B Titr" panose="00000700000000000000" pitchFamily="2" charset="-78"/>
              </a:rPr>
              <a:t>که</a:t>
            </a:r>
            <a:r>
              <a:rPr lang="en-US" sz="2800" b="1" dirty="0">
                <a:cs typeface="B Titr" panose="00000700000000000000" pitchFamily="2" charset="-78"/>
              </a:rPr>
              <a:t> </a:t>
            </a:r>
            <a:r>
              <a:rPr lang="en-US" sz="2800" b="1" dirty="0" err="1">
                <a:cs typeface="B Titr" panose="00000700000000000000" pitchFamily="2" charset="-78"/>
              </a:rPr>
              <a:t>از</a:t>
            </a:r>
            <a:r>
              <a:rPr lang="en-US" sz="2800" b="1" dirty="0">
                <a:cs typeface="B Titr" panose="00000700000000000000" pitchFamily="2" charset="-78"/>
              </a:rPr>
              <a:t> </a:t>
            </a:r>
            <a:r>
              <a:rPr lang="en-US" sz="2800" b="1" dirty="0" err="1">
                <a:cs typeface="B Titr" panose="00000700000000000000" pitchFamily="2" charset="-78"/>
              </a:rPr>
              <a:t>یکی</a:t>
            </a:r>
            <a:r>
              <a:rPr lang="en-US" sz="2800" b="1" dirty="0">
                <a:cs typeface="B Titr" panose="00000700000000000000" pitchFamily="2" charset="-78"/>
              </a:rPr>
              <a:t> </a:t>
            </a:r>
            <a:r>
              <a:rPr lang="en-US" sz="2800" b="1" dirty="0" err="1">
                <a:cs typeface="B Titr" panose="00000700000000000000" pitchFamily="2" charset="-78"/>
              </a:rPr>
              <a:t>یا</a:t>
            </a:r>
            <a:r>
              <a:rPr lang="en-US" sz="2800" b="1" dirty="0">
                <a:cs typeface="B Titr" panose="00000700000000000000" pitchFamily="2" charset="-78"/>
              </a:rPr>
              <a:t> </a:t>
            </a:r>
            <a:r>
              <a:rPr lang="en-US" sz="2800" b="1" dirty="0" err="1">
                <a:cs typeface="B Titr" panose="00000700000000000000" pitchFamily="2" charset="-78"/>
              </a:rPr>
              <a:t>هر</a:t>
            </a:r>
            <a:r>
              <a:rPr lang="en-US" sz="2800" b="1" dirty="0">
                <a:cs typeface="B Titr" panose="00000700000000000000" pitchFamily="2" charset="-78"/>
              </a:rPr>
              <a:t> </a:t>
            </a:r>
            <a:r>
              <a:rPr lang="en-US" sz="2800" b="1" dirty="0" err="1">
                <a:cs typeface="B Titr" panose="00000700000000000000" pitchFamily="2" charset="-78"/>
              </a:rPr>
              <a:t>دوی</a:t>
            </a:r>
            <a:r>
              <a:rPr lang="en-US" sz="2800" b="1" dirty="0">
                <a:cs typeface="B Titr" panose="00000700000000000000" pitchFamily="2" charset="-78"/>
              </a:rPr>
              <a:t> </a:t>
            </a:r>
            <a:r>
              <a:rPr lang="en-US" sz="2800" b="1" dirty="0" err="1">
                <a:cs typeface="B Titr" panose="00000700000000000000" pitchFamily="2" charset="-78"/>
              </a:rPr>
              <a:t>این</a:t>
            </a:r>
            <a:r>
              <a:rPr lang="en-US" sz="2800" b="1" dirty="0">
                <a:cs typeface="B Titr" panose="00000700000000000000" pitchFamily="2" charset="-78"/>
              </a:rPr>
              <a:t> </a:t>
            </a:r>
            <a:r>
              <a:rPr lang="en-US" sz="2800" b="1" dirty="0" err="1">
                <a:cs typeface="B Titr" panose="00000700000000000000" pitchFamily="2" charset="-78"/>
              </a:rPr>
              <a:t>اجزا</a:t>
            </a:r>
            <a:r>
              <a:rPr lang="en-US" sz="2800" b="1" dirty="0">
                <a:cs typeface="B Titr" panose="00000700000000000000" pitchFamily="2" charset="-78"/>
              </a:rPr>
              <a:t> </a:t>
            </a:r>
            <a:r>
              <a:rPr lang="en-US" sz="2800" b="1" dirty="0" err="1">
                <a:cs typeface="B Titr" panose="00000700000000000000" pitchFamily="2" charset="-78"/>
              </a:rPr>
              <a:t>استفاده</a:t>
            </a:r>
            <a:r>
              <a:rPr lang="en-US" sz="2800" b="1" dirty="0">
                <a:cs typeface="B Titr" panose="00000700000000000000" pitchFamily="2" charset="-78"/>
              </a:rPr>
              <a:t> </a:t>
            </a:r>
            <a:r>
              <a:rPr lang="en-US" sz="2800" b="1" dirty="0" err="1">
                <a:cs typeface="B Titr" panose="00000700000000000000" pitchFamily="2" charset="-78"/>
              </a:rPr>
              <a:t>کنیم</a:t>
            </a:r>
            <a:endParaRPr lang="en-US" sz="2800" b="1" dirty="0">
              <a:cs typeface="B Titr" panose="00000700000000000000" pitchFamily="2" charset="-78"/>
            </a:endParaRPr>
          </a:p>
        </p:txBody>
      </p:sp>
    </p:spTree>
    <p:extLst>
      <p:ext uri="{BB962C8B-B14F-4D97-AF65-F5344CB8AC3E}">
        <p14:creationId xmlns:p14="http://schemas.microsoft.com/office/powerpoint/2010/main" val="410642965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59DE40-4341-664D-B673-D05FAACA8086}"/>
              </a:ext>
            </a:extLst>
          </p:cNvPr>
          <p:cNvSpPr>
            <a:spLocks noGrp="1"/>
          </p:cNvSpPr>
          <p:nvPr>
            <p:ph type="title"/>
          </p:nvPr>
        </p:nvSpPr>
        <p:spPr/>
        <p:txBody>
          <a:bodyPr/>
          <a:lstStyle/>
          <a:p>
            <a:r>
              <a:rPr lang="en-US" b="1" i="0" dirty="0">
                <a:effectLst/>
                <a:latin typeface="Source Sans Pro" panose="020B0503030403020204" pitchFamily="34" charset="0"/>
              </a:rPr>
              <a:t>Encoder models</a:t>
            </a:r>
            <a:br>
              <a:rPr lang="en-US" b="1" i="0" dirty="0">
                <a:effectLst/>
                <a:latin typeface="Source Sans Pro" panose="020B0503030403020204" pitchFamily="34" charset="0"/>
              </a:rPr>
            </a:br>
            <a:endParaRPr lang="en-US" dirty="0"/>
          </a:p>
        </p:txBody>
      </p:sp>
      <p:sp>
        <p:nvSpPr>
          <p:cNvPr id="3" name="Content Placeholder 2">
            <a:extLst>
              <a:ext uri="{FF2B5EF4-FFF2-40B4-BE49-F238E27FC236}">
                <a16:creationId xmlns:a16="http://schemas.microsoft.com/office/drawing/2014/main" id="{2102707C-95EE-910C-3E64-E9D6F3619F49}"/>
              </a:ext>
            </a:extLst>
          </p:cNvPr>
          <p:cNvSpPr>
            <a:spLocks noGrp="1"/>
          </p:cNvSpPr>
          <p:nvPr>
            <p:ph idx="1"/>
          </p:nvPr>
        </p:nvSpPr>
        <p:spPr/>
        <p:txBody>
          <a:bodyPr>
            <a:normAutofit fontScale="92500" lnSpcReduction="10000"/>
          </a:bodyPr>
          <a:lstStyle/>
          <a:p>
            <a:pPr algn="l">
              <a:buFont typeface="Arial" panose="020B0604020202020204" pitchFamily="34" charset="0"/>
              <a:buChar char="•"/>
            </a:pPr>
            <a:endParaRPr lang="en-US" b="0" i="0" u="sng" dirty="0">
              <a:solidFill>
                <a:srgbClr val="0563C1"/>
              </a:solidFill>
              <a:effectLst/>
              <a:latin typeface="Source Sans Pro" panose="020B0503030403020204" pitchFamily="34" charset="0"/>
              <a:hlinkClick r:id="rId2">
                <a:extLst>
                  <a:ext uri="{A12FA001-AC4F-418D-AE19-62706E023703}">
                    <ahyp:hlinkClr xmlns:ahyp="http://schemas.microsoft.com/office/drawing/2018/hyperlinkcolor" val="tx"/>
                  </a:ext>
                </a:extLst>
              </a:hlinkClick>
            </a:endParaRPr>
          </a:p>
          <a:p>
            <a:pPr algn="l">
              <a:buFont typeface="Arial" panose="020B0604020202020204" pitchFamily="34" charset="0"/>
              <a:buChar char="•"/>
            </a:pPr>
            <a:r>
              <a:rPr lang="en-US" u="sng" dirty="0">
                <a:solidFill>
                  <a:srgbClr val="0563C1"/>
                </a:solidFill>
                <a:latin typeface="Source Sans Pro" panose="020B0503030403020204" pitchFamily="34" charset="0"/>
                <a:hlinkClick r:id="rId2">
                  <a:extLst>
                    <a:ext uri="{A12FA001-AC4F-418D-AE19-62706E023703}">
                      <ahyp:hlinkClr xmlns:ahyp="http://schemas.microsoft.com/office/drawing/2018/hyperlinkcolor" val="tx"/>
                    </a:ext>
                  </a:extLst>
                </a:hlinkClick>
              </a:rPr>
              <a:t>Encoder models are best suited for tasks requiring an understanding of the full sentence,</a:t>
            </a:r>
          </a:p>
          <a:p>
            <a:pPr algn="l">
              <a:buFont typeface="Arial" panose="020B0604020202020204" pitchFamily="34" charset="0"/>
              <a:buChar char="•"/>
            </a:pPr>
            <a:r>
              <a:rPr lang="en-US" u="sng" dirty="0">
                <a:solidFill>
                  <a:srgbClr val="0563C1"/>
                </a:solidFill>
                <a:latin typeface="Source Sans Pro" panose="020B0503030403020204" pitchFamily="34" charset="0"/>
                <a:hlinkClick r:id="rId2">
                  <a:extLst>
                    <a:ext uri="{A12FA001-AC4F-418D-AE19-62706E023703}">
                      <ahyp:hlinkClr xmlns:ahyp="http://schemas.microsoft.com/office/drawing/2018/hyperlinkcolor" val="tx"/>
                    </a:ext>
                  </a:extLst>
                </a:hlinkClick>
              </a:rPr>
              <a:t> such as </a:t>
            </a:r>
            <a:r>
              <a:rPr lang="en-US" u="sng" dirty="0">
                <a:solidFill>
                  <a:srgbClr val="FF0000"/>
                </a:solidFill>
                <a:latin typeface="Source Sans Pro" panose="020B0503030403020204" pitchFamily="34" charset="0"/>
                <a:hlinkClick r:id="rId2">
                  <a:extLst>
                    <a:ext uri="{A12FA001-AC4F-418D-AE19-62706E023703}">
                      <ahyp:hlinkClr xmlns:ahyp="http://schemas.microsoft.com/office/drawing/2018/hyperlinkcolor" val="tx"/>
                    </a:ext>
                  </a:extLst>
                </a:hlinkClick>
              </a:rPr>
              <a:t>sentence classification</a:t>
            </a:r>
            <a:r>
              <a:rPr lang="en-US" u="sng" dirty="0">
                <a:solidFill>
                  <a:srgbClr val="0563C1"/>
                </a:solidFill>
                <a:latin typeface="Source Sans Pro" panose="020B0503030403020204" pitchFamily="34" charset="0"/>
                <a:hlinkClick r:id="rId2">
                  <a:extLst>
                    <a:ext uri="{A12FA001-AC4F-418D-AE19-62706E023703}">
                      <ahyp:hlinkClr xmlns:ahyp="http://schemas.microsoft.com/office/drawing/2018/hyperlinkcolor" val="tx"/>
                    </a:ext>
                  </a:extLst>
                </a:hlinkClick>
              </a:rPr>
              <a:t>, </a:t>
            </a:r>
            <a:r>
              <a:rPr lang="en-US" u="sng" dirty="0">
                <a:solidFill>
                  <a:srgbClr val="FF0000"/>
                </a:solidFill>
                <a:latin typeface="Source Sans Pro" panose="020B0503030403020204" pitchFamily="34" charset="0"/>
                <a:hlinkClick r:id="rId2">
                  <a:extLst>
                    <a:ext uri="{A12FA001-AC4F-418D-AE19-62706E023703}">
                      <ahyp:hlinkClr xmlns:ahyp="http://schemas.microsoft.com/office/drawing/2018/hyperlinkcolor" val="tx"/>
                    </a:ext>
                  </a:extLst>
                </a:hlinkClick>
              </a:rPr>
              <a:t>named entity recognition </a:t>
            </a:r>
            <a:r>
              <a:rPr lang="en-US" u="sng" dirty="0">
                <a:solidFill>
                  <a:srgbClr val="0563C1"/>
                </a:solidFill>
                <a:latin typeface="Source Sans Pro" panose="020B0503030403020204" pitchFamily="34" charset="0"/>
                <a:hlinkClick r:id="rId2">
                  <a:extLst>
                    <a:ext uri="{A12FA001-AC4F-418D-AE19-62706E023703}">
                      <ahyp:hlinkClr xmlns:ahyp="http://schemas.microsoft.com/office/drawing/2018/hyperlinkcolor" val="tx"/>
                    </a:ext>
                  </a:extLst>
                </a:hlinkClick>
              </a:rPr>
              <a:t>(and more generally word classification), and </a:t>
            </a:r>
            <a:r>
              <a:rPr lang="en-US" u="sng" dirty="0">
                <a:solidFill>
                  <a:srgbClr val="FF0000"/>
                </a:solidFill>
                <a:latin typeface="Source Sans Pro" panose="020B0503030403020204" pitchFamily="34" charset="0"/>
                <a:hlinkClick r:id="rId2">
                  <a:extLst>
                    <a:ext uri="{A12FA001-AC4F-418D-AE19-62706E023703}">
                      <ahyp:hlinkClr xmlns:ahyp="http://schemas.microsoft.com/office/drawing/2018/hyperlinkcolor" val="tx"/>
                    </a:ext>
                  </a:extLst>
                </a:hlinkClick>
              </a:rPr>
              <a:t>extractive question answering</a:t>
            </a:r>
            <a:r>
              <a:rPr lang="en-US" u="sng" dirty="0">
                <a:solidFill>
                  <a:srgbClr val="0563C1"/>
                </a:solidFill>
                <a:latin typeface="Source Sans Pro" panose="020B0503030403020204" pitchFamily="34" charset="0"/>
                <a:hlinkClick r:id="rId2">
                  <a:extLst>
                    <a:ext uri="{A12FA001-AC4F-418D-AE19-62706E023703}">
                      <ahyp:hlinkClr xmlns:ahyp="http://schemas.microsoft.com/office/drawing/2018/hyperlinkcolor" val="tx"/>
                    </a:ext>
                  </a:extLst>
                </a:hlinkClick>
              </a:rPr>
              <a:t>.</a:t>
            </a:r>
          </a:p>
          <a:p>
            <a:pPr algn="l">
              <a:buFont typeface="Arial" panose="020B0604020202020204" pitchFamily="34" charset="0"/>
              <a:buChar char="•"/>
            </a:pPr>
            <a:r>
              <a:rPr lang="en-US" b="0" i="0" u="sng" dirty="0">
                <a:solidFill>
                  <a:srgbClr val="0563C1"/>
                </a:solidFill>
                <a:effectLst/>
                <a:latin typeface="Source Sans Pro" panose="020B0503030403020204" pitchFamily="34" charset="0"/>
                <a:hlinkClick r:id="rId2">
                  <a:extLst>
                    <a:ext uri="{A12FA001-AC4F-418D-AE19-62706E023703}">
                      <ahyp:hlinkClr xmlns:ahyp="http://schemas.microsoft.com/office/drawing/2018/hyperlinkcolor" val="tx"/>
                    </a:ext>
                  </a:extLst>
                </a:hlinkClick>
              </a:rPr>
              <a:t>ALBERT</a:t>
            </a:r>
            <a:endParaRPr lang="en-US" b="0" i="0" dirty="0">
              <a:solidFill>
                <a:srgbClr val="4B5563"/>
              </a:solidFill>
              <a:effectLst/>
              <a:latin typeface="Source Sans Pro" panose="020B0503030403020204" pitchFamily="34" charset="0"/>
            </a:endParaRPr>
          </a:p>
          <a:p>
            <a:pPr algn="l">
              <a:buFont typeface="Arial" panose="020B0604020202020204" pitchFamily="34" charset="0"/>
              <a:buChar char="•"/>
            </a:pPr>
            <a:r>
              <a:rPr lang="en-US" b="0" i="0" u="sng" dirty="0">
                <a:solidFill>
                  <a:srgbClr val="4B5563"/>
                </a:solidFill>
                <a:effectLst/>
                <a:latin typeface="Source Sans Pro" panose="020B0503030403020204" pitchFamily="34" charset="0"/>
                <a:hlinkClick r:id="rId3"/>
              </a:rPr>
              <a:t>BERT</a:t>
            </a:r>
            <a:endParaRPr lang="en-US" b="0" i="0" dirty="0">
              <a:solidFill>
                <a:srgbClr val="4B5563"/>
              </a:solidFill>
              <a:effectLst/>
              <a:latin typeface="Source Sans Pro" panose="020B0503030403020204" pitchFamily="34" charset="0"/>
            </a:endParaRPr>
          </a:p>
          <a:p>
            <a:pPr algn="l">
              <a:buFont typeface="Arial" panose="020B0604020202020204" pitchFamily="34" charset="0"/>
              <a:buChar char="•"/>
            </a:pPr>
            <a:r>
              <a:rPr lang="en-US" b="0" i="0" u="sng" dirty="0" err="1">
                <a:solidFill>
                  <a:srgbClr val="4B5563"/>
                </a:solidFill>
                <a:effectLst/>
                <a:latin typeface="Source Sans Pro" panose="020B0503030403020204" pitchFamily="34" charset="0"/>
                <a:hlinkClick r:id="rId4"/>
              </a:rPr>
              <a:t>DistilBERT</a:t>
            </a:r>
            <a:endParaRPr lang="en-US" b="0" i="0" dirty="0">
              <a:solidFill>
                <a:srgbClr val="4B5563"/>
              </a:solidFill>
              <a:effectLst/>
              <a:latin typeface="Source Sans Pro" panose="020B0503030403020204" pitchFamily="34" charset="0"/>
            </a:endParaRPr>
          </a:p>
          <a:p>
            <a:pPr algn="l">
              <a:buFont typeface="Arial" panose="020B0604020202020204" pitchFamily="34" charset="0"/>
              <a:buChar char="•"/>
            </a:pPr>
            <a:r>
              <a:rPr lang="en-US" b="0" i="0" u="sng" dirty="0">
                <a:solidFill>
                  <a:srgbClr val="4B5563"/>
                </a:solidFill>
                <a:effectLst/>
                <a:latin typeface="Source Sans Pro" panose="020B0503030403020204" pitchFamily="34" charset="0"/>
                <a:hlinkClick r:id="rId5"/>
              </a:rPr>
              <a:t>ELECTRA</a:t>
            </a:r>
            <a:endParaRPr lang="en-US" b="0" i="0" dirty="0">
              <a:solidFill>
                <a:srgbClr val="4B5563"/>
              </a:solidFill>
              <a:effectLst/>
              <a:latin typeface="Source Sans Pro" panose="020B0503030403020204" pitchFamily="34" charset="0"/>
            </a:endParaRPr>
          </a:p>
          <a:p>
            <a:pPr algn="l">
              <a:buFont typeface="Arial" panose="020B0604020202020204" pitchFamily="34" charset="0"/>
              <a:buChar char="•"/>
            </a:pPr>
            <a:r>
              <a:rPr lang="en-US" b="0" i="0" u="sng" dirty="0" err="1">
                <a:solidFill>
                  <a:srgbClr val="4B5563"/>
                </a:solidFill>
                <a:effectLst/>
                <a:latin typeface="Source Sans Pro" panose="020B0503030403020204" pitchFamily="34" charset="0"/>
                <a:hlinkClick r:id="rId6"/>
              </a:rPr>
              <a:t>RoBERTa</a:t>
            </a:r>
            <a:endParaRPr lang="en-US" b="0" i="0" dirty="0">
              <a:solidFill>
                <a:srgbClr val="4B5563"/>
              </a:solidFill>
              <a:effectLst/>
              <a:latin typeface="Source Sans Pro" panose="020B0503030403020204" pitchFamily="34" charset="0"/>
            </a:endParaRPr>
          </a:p>
          <a:p>
            <a:endParaRPr lang="en-US" dirty="0"/>
          </a:p>
        </p:txBody>
      </p:sp>
    </p:spTree>
    <p:extLst>
      <p:ext uri="{BB962C8B-B14F-4D97-AF65-F5344CB8AC3E}">
        <p14:creationId xmlns:p14="http://schemas.microsoft.com/office/powerpoint/2010/main" val="104453151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13B4FC-720D-2BE0-C7B8-1F2C4593C4C1}"/>
              </a:ext>
            </a:extLst>
          </p:cNvPr>
          <p:cNvSpPr>
            <a:spLocks noGrp="1"/>
          </p:cNvSpPr>
          <p:nvPr>
            <p:ph type="title"/>
          </p:nvPr>
        </p:nvSpPr>
        <p:spPr/>
        <p:txBody>
          <a:bodyPr>
            <a:normAutofit/>
          </a:bodyPr>
          <a:lstStyle/>
          <a:p>
            <a:r>
              <a:rPr lang="en-US" b="1" i="0" dirty="0">
                <a:effectLst/>
                <a:latin typeface="Source Sans Pro" panose="020B0503030403020204" pitchFamily="34" charset="0"/>
              </a:rPr>
              <a:t>Decoder models</a:t>
            </a:r>
            <a:endParaRPr lang="en-US" dirty="0"/>
          </a:p>
        </p:txBody>
      </p:sp>
      <p:sp>
        <p:nvSpPr>
          <p:cNvPr id="3" name="Content Placeholder 2">
            <a:extLst>
              <a:ext uri="{FF2B5EF4-FFF2-40B4-BE49-F238E27FC236}">
                <a16:creationId xmlns:a16="http://schemas.microsoft.com/office/drawing/2014/main" id="{2C2741DB-4C7C-92D4-C30E-D3BD2552FF86}"/>
              </a:ext>
            </a:extLst>
          </p:cNvPr>
          <p:cNvSpPr>
            <a:spLocks noGrp="1"/>
          </p:cNvSpPr>
          <p:nvPr>
            <p:ph idx="1"/>
          </p:nvPr>
        </p:nvSpPr>
        <p:spPr/>
        <p:txBody>
          <a:bodyPr/>
          <a:lstStyle/>
          <a:p>
            <a:pPr algn="l"/>
            <a:r>
              <a:rPr lang="en-US" b="0" i="0" dirty="0">
                <a:solidFill>
                  <a:srgbClr val="4B5563"/>
                </a:solidFill>
                <a:effectLst/>
                <a:latin typeface="Source Sans Pro" panose="020B0503030403020204" pitchFamily="34" charset="0"/>
              </a:rPr>
              <a:t>These models are best suited for tasks involving text generation.</a:t>
            </a:r>
          </a:p>
          <a:p>
            <a:pPr marL="0" indent="0">
              <a:buNone/>
            </a:pPr>
            <a:br>
              <a:rPr lang="en-US" b="0" i="0" dirty="0">
                <a:solidFill>
                  <a:srgbClr val="4B5563"/>
                </a:solidFill>
                <a:effectLst/>
                <a:latin typeface="Source Sans Pro" panose="020B0503030403020204" pitchFamily="34" charset="0"/>
              </a:rPr>
            </a:br>
            <a:r>
              <a:rPr lang="en-US" b="0" i="0" u="sng" dirty="0">
                <a:solidFill>
                  <a:srgbClr val="4B5563"/>
                </a:solidFill>
                <a:effectLst/>
                <a:latin typeface="Source Sans Pro" panose="020B0503030403020204" pitchFamily="34" charset="0"/>
                <a:hlinkClick r:id="rId2"/>
              </a:rPr>
              <a:t>CTRL</a:t>
            </a:r>
            <a:endParaRPr lang="en-US" b="0" i="0" dirty="0">
              <a:solidFill>
                <a:srgbClr val="4B5563"/>
              </a:solidFill>
              <a:effectLst/>
              <a:latin typeface="Source Sans Pro" panose="020B0503030403020204" pitchFamily="34" charset="0"/>
            </a:endParaRPr>
          </a:p>
          <a:p>
            <a:pPr algn="l">
              <a:buFont typeface="Arial" panose="020B0604020202020204" pitchFamily="34" charset="0"/>
              <a:buChar char="•"/>
            </a:pPr>
            <a:r>
              <a:rPr lang="en-US" b="0" i="0" u="sng" dirty="0">
                <a:solidFill>
                  <a:srgbClr val="4B5563"/>
                </a:solidFill>
                <a:effectLst/>
                <a:latin typeface="Source Sans Pro" panose="020B0503030403020204" pitchFamily="34" charset="0"/>
                <a:hlinkClick r:id="rId3"/>
              </a:rPr>
              <a:t>GPT</a:t>
            </a:r>
            <a:endParaRPr lang="en-US" b="0" i="0" dirty="0">
              <a:solidFill>
                <a:srgbClr val="4B5563"/>
              </a:solidFill>
              <a:effectLst/>
              <a:latin typeface="Source Sans Pro" panose="020B0503030403020204" pitchFamily="34" charset="0"/>
            </a:endParaRPr>
          </a:p>
          <a:p>
            <a:pPr algn="l">
              <a:buFont typeface="Arial" panose="020B0604020202020204" pitchFamily="34" charset="0"/>
              <a:buChar char="•"/>
            </a:pPr>
            <a:r>
              <a:rPr lang="en-US" b="0" i="0" u="sng" dirty="0">
                <a:solidFill>
                  <a:srgbClr val="4B5563"/>
                </a:solidFill>
                <a:effectLst/>
                <a:latin typeface="Source Sans Pro" panose="020B0503030403020204" pitchFamily="34" charset="0"/>
                <a:hlinkClick r:id="rId4"/>
              </a:rPr>
              <a:t>GPT-2</a:t>
            </a:r>
            <a:endParaRPr lang="en-US" b="0" i="0" dirty="0">
              <a:solidFill>
                <a:srgbClr val="4B5563"/>
              </a:solidFill>
              <a:effectLst/>
              <a:latin typeface="Source Sans Pro" panose="020B0503030403020204" pitchFamily="34" charset="0"/>
            </a:endParaRPr>
          </a:p>
          <a:p>
            <a:pPr algn="l">
              <a:buFont typeface="Arial" panose="020B0604020202020204" pitchFamily="34" charset="0"/>
              <a:buChar char="•"/>
            </a:pPr>
            <a:r>
              <a:rPr lang="en-US" b="0" i="0" u="sng" dirty="0">
                <a:solidFill>
                  <a:srgbClr val="4B5563"/>
                </a:solidFill>
                <a:effectLst/>
                <a:latin typeface="Source Sans Pro" panose="020B0503030403020204" pitchFamily="34" charset="0"/>
                <a:hlinkClick r:id="rId5"/>
              </a:rPr>
              <a:t>Transformer XL</a:t>
            </a:r>
            <a:endParaRPr lang="en-US" b="0" i="0" dirty="0">
              <a:solidFill>
                <a:srgbClr val="4B5563"/>
              </a:solidFill>
              <a:effectLst/>
              <a:latin typeface="Source Sans Pro" panose="020B0503030403020204" pitchFamily="34" charset="0"/>
            </a:endParaRPr>
          </a:p>
          <a:p>
            <a:endParaRPr lang="en-US" dirty="0"/>
          </a:p>
        </p:txBody>
      </p:sp>
    </p:spTree>
    <p:extLst>
      <p:ext uri="{BB962C8B-B14F-4D97-AF65-F5344CB8AC3E}">
        <p14:creationId xmlns:p14="http://schemas.microsoft.com/office/powerpoint/2010/main" val="222436277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392F04-D07E-E55C-B827-D95047DA26F2}"/>
              </a:ext>
            </a:extLst>
          </p:cNvPr>
          <p:cNvSpPr>
            <a:spLocks noGrp="1"/>
          </p:cNvSpPr>
          <p:nvPr>
            <p:ph type="title"/>
          </p:nvPr>
        </p:nvSpPr>
        <p:spPr/>
        <p:txBody>
          <a:bodyPr>
            <a:normAutofit/>
          </a:bodyPr>
          <a:lstStyle/>
          <a:p>
            <a:r>
              <a:rPr lang="en-US" b="1" i="0" dirty="0">
                <a:effectLst/>
                <a:latin typeface="Source Sans Pro" panose="020B0503030403020204" pitchFamily="34" charset="0"/>
              </a:rPr>
              <a:t>Sequence-to-sequence models sequence-to-sequence-models</a:t>
            </a:r>
            <a:endParaRPr lang="en-US" dirty="0"/>
          </a:p>
        </p:txBody>
      </p:sp>
      <p:sp>
        <p:nvSpPr>
          <p:cNvPr id="3" name="Content Placeholder 2">
            <a:extLst>
              <a:ext uri="{FF2B5EF4-FFF2-40B4-BE49-F238E27FC236}">
                <a16:creationId xmlns:a16="http://schemas.microsoft.com/office/drawing/2014/main" id="{BDF32D5E-129D-E1B7-59C4-F4B7B587E303}"/>
              </a:ext>
            </a:extLst>
          </p:cNvPr>
          <p:cNvSpPr>
            <a:spLocks noGrp="1"/>
          </p:cNvSpPr>
          <p:nvPr>
            <p:ph idx="1"/>
          </p:nvPr>
        </p:nvSpPr>
        <p:spPr/>
        <p:txBody>
          <a:bodyPr>
            <a:normAutofit/>
          </a:bodyPr>
          <a:lstStyle/>
          <a:p>
            <a:endParaRPr lang="en-US" dirty="0"/>
          </a:p>
          <a:p>
            <a:pPr algn="l"/>
            <a:r>
              <a:rPr lang="en-US" b="0" i="0" dirty="0">
                <a:solidFill>
                  <a:srgbClr val="4B5563"/>
                </a:solidFill>
                <a:effectLst/>
                <a:latin typeface="Source Sans Pro" panose="020B0503030403020204" pitchFamily="34" charset="0"/>
              </a:rPr>
              <a:t>Sequence-to-sequence models are best suited for tasks revolving around generating new sentences depending on a given input, such as summarization, translation, or generative question answering.</a:t>
            </a:r>
          </a:p>
          <a:p>
            <a:pPr marL="0" indent="0">
              <a:buNone/>
            </a:pPr>
            <a:endParaRPr lang="en-US" dirty="0"/>
          </a:p>
          <a:p>
            <a:pPr algn="l">
              <a:buFont typeface="Arial" panose="020B0604020202020204" pitchFamily="34" charset="0"/>
              <a:buChar char="•"/>
            </a:pPr>
            <a:r>
              <a:rPr lang="en-US" b="0" i="0" u="sng" dirty="0">
                <a:solidFill>
                  <a:srgbClr val="4B5563"/>
                </a:solidFill>
                <a:effectLst/>
                <a:latin typeface="Source Sans Pro" panose="020B0503030403020204" pitchFamily="34" charset="0"/>
                <a:hlinkClick r:id="rId2"/>
              </a:rPr>
              <a:t>BART</a:t>
            </a:r>
            <a:endParaRPr lang="en-US" b="0" i="0" dirty="0">
              <a:solidFill>
                <a:srgbClr val="4B5563"/>
              </a:solidFill>
              <a:effectLst/>
              <a:latin typeface="Source Sans Pro" panose="020B0503030403020204" pitchFamily="34" charset="0"/>
            </a:endParaRPr>
          </a:p>
          <a:p>
            <a:pPr algn="l">
              <a:buFont typeface="Arial" panose="020B0604020202020204" pitchFamily="34" charset="0"/>
              <a:buChar char="•"/>
            </a:pPr>
            <a:r>
              <a:rPr lang="en-US" b="0" i="0" u="sng" dirty="0" err="1">
                <a:solidFill>
                  <a:srgbClr val="4B5563"/>
                </a:solidFill>
                <a:effectLst/>
                <a:latin typeface="Source Sans Pro" panose="020B0503030403020204" pitchFamily="34" charset="0"/>
                <a:hlinkClick r:id="rId3"/>
              </a:rPr>
              <a:t>mBART</a:t>
            </a:r>
            <a:endParaRPr lang="en-US" b="0" i="0" dirty="0">
              <a:solidFill>
                <a:srgbClr val="4B5563"/>
              </a:solidFill>
              <a:effectLst/>
              <a:latin typeface="Source Sans Pro" panose="020B0503030403020204" pitchFamily="34" charset="0"/>
            </a:endParaRPr>
          </a:p>
          <a:p>
            <a:pPr algn="l">
              <a:buFont typeface="Arial" panose="020B0604020202020204" pitchFamily="34" charset="0"/>
              <a:buChar char="•"/>
            </a:pPr>
            <a:r>
              <a:rPr lang="en-US" b="0" i="0" u="sng" dirty="0">
                <a:solidFill>
                  <a:srgbClr val="4B5563"/>
                </a:solidFill>
                <a:effectLst/>
                <a:latin typeface="Source Sans Pro" panose="020B0503030403020204" pitchFamily="34" charset="0"/>
                <a:hlinkClick r:id="rId4"/>
              </a:rPr>
              <a:t>Marian</a:t>
            </a:r>
            <a:endParaRPr lang="en-US" b="0" i="0" dirty="0">
              <a:solidFill>
                <a:srgbClr val="4B5563"/>
              </a:solidFill>
              <a:effectLst/>
              <a:latin typeface="Source Sans Pro" panose="020B0503030403020204" pitchFamily="34" charset="0"/>
            </a:endParaRPr>
          </a:p>
          <a:p>
            <a:pPr algn="l">
              <a:buFont typeface="Arial" panose="020B0604020202020204" pitchFamily="34" charset="0"/>
              <a:buChar char="•"/>
            </a:pPr>
            <a:r>
              <a:rPr lang="en-US" b="0" i="0" u="sng" dirty="0">
                <a:solidFill>
                  <a:srgbClr val="4B5563"/>
                </a:solidFill>
                <a:effectLst/>
                <a:latin typeface="Source Sans Pro" panose="020B0503030403020204" pitchFamily="34" charset="0"/>
                <a:hlinkClick r:id="rId5"/>
              </a:rPr>
              <a:t>T5</a:t>
            </a:r>
            <a:endParaRPr lang="en-US" b="0" i="0" dirty="0">
              <a:solidFill>
                <a:srgbClr val="4B5563"/>
              </a:solidFill>
              <a:effectLst/>
              <a:latin typeface="Source Sans Pro" panose="020B0503030403020204" pitchFamily="34" charset="0"/>
            </a:endParaRPr>
          </a:p>
          <a:p>
            <a:endParaRPr lang="en-US" dirty="0"/>
          </a:p>
        </p:txBody>
      </p:sp>
    </p:spTree>
    <p:extLst>
      <p:ext uri="{BB962C8B-B14F-4D97-AF65-F5344CB8AC3E}">
        <p14:creationId xmlns:p14="http://schemas.microsoft.com/office/powerpoint/2010/main" val="306337827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888B5B-673A-BAAB-BB6B-93300A462F45}"/>
              </a:ext>
            </a:extLst>
          </p:cNvPr>
          <p:cNvSpPr>
            <a:spLocks noGrp="1"/>
          </p:cNvSpPr>
          <p:nvPr>
            <p:ph type="title"/>
          </p:nvPr>
        </p:nvSpPr>
        <p:spPr/>
        <p:txBody>
          <a:bodyPr/>
          <a:lstStyle/>
          <a:p>
            <a:r>
              <a:rPr lang="en-US" dirty="0"/>
              <a:t>attention</a:t>
            </a:r>
          </a:p>
        </p:txBody>
      </p:sp>
      <p:sp>
        <p:nvSpPr>
          <p:cNvPr id="3" name="Content Placeholder 2">
            <a:extLst>
              <a:ext uri="{FF2B5EF4-FFF2-40B4-BE49-F238E27FC236}">
                <a16:creationId xmlns:a16="http://schemas.microsoft.com/office/drawing/2014/main" id="{80C8564D-6497-097F-015B-2AE601343D83}"/>
              </a:ext>
            </a:extLst>
          </p:cNvPr>
          <p:cNvSpPr>
            <a:spLocks noGrp="1"/>
          </p:cNvSpPr>
          <p:nvPr>
            <p:ph idx="1"/>
          </p:nvPr>
        </p:nvSpPr>
        <p:spPr>
          <a:xfrm>
            <a:off x="4581830" y="1155009"/>
            <a:ext cx="7263581" cy="4351338"/>
          </a:xfrm>
        </p:spPr>
        <p:txBody>
          <a:bodyPr/>
          <a:lstStyle/>
          <a:p>
            <a:pPr algn="r" rtl="1"/>
            <a:r>
              <a:rPr lang="fa-IR" dirty="0"/>
              <a:t>به طور کلی، توجه توانایی یک مدل را برای توجه به بخش های مهم جمله (یا تصویر یا هر ورودی متوالی دیگری) توصیف می کند. این کار را با اختصاص وزن به ویژگی های ورودی بر اساس اهمیت و موقعیت آنها در دنباله انجام می دهد.</a:t>
            </a:r>
            <a:endParaRPr lang="en-US" dirty="0"/>
          </a:p>
        </p:txBody>
      </p:sp>
      <p:pic>
        <p:nvPicPr>
          <p:cNvPr id="3074" name="Picture 2" descr="A graphic showing the BertViz representation of the sentence &quot;the animal didn't cross the street because it was too scared.&quot; The last word, scared, was predicted by the GPT-2 model. The graphic shows that GPT-2 correlates &quot;it&quot; to the animal.">
            <a:extLst>
              <a:ext uri="{FF2B5EF4-FFF2-40B4-BE49-F238E27FC236}">
                <a16:creationId xmlns:a16="http://schemas.microsoft.com/office/drawing/2014/main" id="{1A15B768-6CCE-79E6-3CE7-9AAFDFD308D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12861" y="3059311"/>
            <a:ext cx="4526219" cy="3057109"/>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7846D0C1-ECCF-4DE5-CBD5-9401D8FF3D22}"/>
              </a:ext>
            </a:extLst>
          </p:cNvPr>
          <p:cNvSpPr txBox="1"/>
          <p:nvPr/>
        </p:nvSpPr>
        <p:spPr>
          <a:xfrm>
            <a:off x="0" y="1212658"/>
            <a:ext cx="4798142" cy="4893647"/>
          </a:xfrm>
          <a:prstGeom prst="rect">
            <a:avLst/>
          </a:prstGeom>
          <a:noFill/>
        </p:spPr>
        <p:txBody>
          <a:bodyPr wrap="square">
            <a:spAutoFit/>
          </a:bodyPr>
          <a:lstStyle/>
          <a:p>
            <a:r>
              <a:rPr lang="en-US" sz="2400" dirty="0">
                <a:highlight>
                  <a:srgbClr val="FFFF00"/>
                </a:highlight>
              </a:rPr>
              <a:t>Self-attention</a:t>
            </a:r>
            <a:r>
              <a:rPr lang="en-US" sz="2400" dirty="0"/>
              <a:t> refers to the fact that every node produces a key, query, and a value from that individual node. </a:t>
            </a:r>
          </a:p>
          <a:p>
            <a:r>
              <a:rPr lang="en-US" sz="2400" dirty="0">
                <a:highlight>
                  <a:srgbClr val="FFFF00"/>
                </a:highlight>
              </a:rPr>
              <a:t>Multi-headed attention </a:t>
            </a:r>
            <a:r>
              <a:rPr lang="en-US" sz="2400" dirty="0"/>
              <a:t>is just self-attention that is applied multiple times in parallel with different initialized weights.</a:t>
            </a:r>
          </a:p>
          <a:p>
            <a:r>
              <a:rPr lang="en-US" sz="2400" dirty="0">
                <a:highlight>
                  <a:srgbClr val="FFFF00"/>
                </a:highlight>
              </a:rPr>
              <a:t> Cross-attention </a:t>
            </a:r>
            <a:r>
              <a:rPr lang="en-US" sz="2400" dirty="0"/>
              <a:t>means that the queries are still produced from a given decoder node, but the keys and the values are produced as a function of the nodes in the encoder.</a:t>
            </a:r>
          </a:p>
        </p:txBody>
      </p:sp>
    </p:spTree>
    <p:extLst>
      <p:ext uri="{BB962C8B-B14F-4D97-AF65-F5344CB8AC3E}">
        <p14:creationId xmlns:p14="http://schemas.microsoft.com/office/powerpoint/2010/main" val="290177169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1EF7ED-1737-8C09-6DA8-0D5706534EE8}"/>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CE55E3C9-7233-CBE6-A3F9-ED82BE31E1E7}"/>
              </a:ext>
            </a:extLst>
          </p:cNvPr>
          <p:cNvSpPr>
            <a:spLocks noGrp="1"/>
          </p:cNvSpPr>
          <p:nvPr>
            <p:ph idx="1"/>
          </p:nvPr>
        </p:nvSpPr>
        <p:spPr/>
        <p:txBody>
          <a:bodyPr/>
          <a:lstStyle/>
          <a:p>
            <a:endParaRPr lang="en-US" dirty="0"/>
          </a:p>
        </p:txBody>
      </p:sp>
      <p:pic>
        <p:nvPicPr>
          <p:cNvPr id="5122" name="Picture 2" descr="GIF of BertViz Attention Head View, selecting transformer later and attention format type, and selecting specific attention heads, as visualized in Comet ML">
            <a:extLst>
              <a:ext uri="{FF2B5EF4-FFF2-40B4-BE49-F238E27FC236}">
                <a16:creationId xmlns:a16="http://schemas.microsoft.com/office/drawing/2014/main" id="{385B2E9E-44B9-63C9-4659-4D77E9E8019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629890" y="114147"/>
            <a:ext cx="6457950" cy="5705475"/>
          </a:xfrm>
          <a:prstGeom prst="rect">
            <a:avLst/>
          </a:prstGeom>
          <a:noFill/>
          <a:extLst>
            <a:ext uri="{909E8E84-426E-40DD-AFC4-6F175D3DCCD1}">
              <a14:hiddenFill xmlns:a14="http://schemas.microsoft.com/office/drawing/2010/main">
                <a:solidFill>
                  <a:srgbClr val="FFFFFF"/>
                </a:solidFill>
              </a14:hiddenFill>
            </a:ext>
          </a:extLst>
        </p:spPr>
      </p:pic>
      <p:pic>
        <p:nvPicPr>
          <p:cNvPr id="1026" name="Picture 2">
            <a:extLst>
              <a:ext uri="{FF2B5EF4-FFF2-40B4-BE49-F238E27FC236}">
                <a16:creationId xmlns:a16="http://schemas.microsoft.com/office/drawing/2014/main" id="{7962588A-223E-B3B6-B1EE-91168CF66BE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9766" y="1825625"/>
            <a:ext cx="5600261" cy="296934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514515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9F9077-EA26-46F4-7BFE-2F3E7912B19C}"/>
              </a:ext>
            </a:extLst>
          </p:cNvPr>
          <p:cNvSpPr>
            <a:spLocks noGrp="1"/>
          </p:cNvSpPr>
          <p:nvPr>
            <p:ph type="title"/>
          </p:nvPr>
        </p:nvSpPr>
        <p:spPr/>
        <p:txBody>
          <a:bodyPr/>
          <a:lstStyle/>
          <a:p>
            <a:r>
              <a:rPr lang="en-US" dirty="0"/>
              <a:t>Self attention</a:t>
            </a:r>
          </a:p>
        </p:txBody>
      </p:sp>
      <p:sp>
        <p:nvSpPr>
          <p:cNvPr id="3" name="Content Placeholder 2">
            <a:extLst>
              <a:ext uri="{FF2B5EF4-FFF2-40B4-BE49-F238E27FC236}">
                <a16:creationId xmlns:a16="http://schemas.microsoft.com/office/drawing/2014/main" id="{B7C62602-D1B8-32C6-A95E-53DC03D9595A}"/>
              </a:ext>
            </a:extLst>
          </p:cNvPr>
          <p:cNvSpPr>
            <a:spLocks noGrp="1"/>
          </p:cNvSpPr>
          <p:nvPr>
            <p:ph idx="1"/>
          </p:nvPr>
        </p:nvSpPr>
        <p:spPr/>
        <p:txBody>
          <a:bodyPr/>
          <a:lstStyle/>
          <a:p>
            <a:pPr algn="r" rtl="1"/>
            <a:endParaRPr lang="fa-IR" sz="1800" kern="0" dirty="0">
              <a:solidFill>
                <a:srgbClr val="002060"/>
              </a:solidFill>
              <a:effectLst/>
              <a:latin typeface="Times New Roman" panose="02020603050405020304" pitchFamily="18" charset="0"/>
              <a:ea typeface="Times New Roman" panose="02020603050405020304" pitchFamily="18" charset="0"/>
              <a:cs typeface="B Titr" panose="00000700000000000000" pitchFamily="2" charset="-78"/>
            </a:endParaRPr>
          </a:p>
          <a:p>
            <a:pPr algn="r" rtl="1"/>
            <a:r>
              <a:rPr lang="ar-SA" sz="1800" kern="0" dirty="0">
                <a:solidFill>
                  <a:srgbClr val="002060"/>
                </a:solidFill>
                <a:effectLst/>
                <a:latin typeface="Times New Roman" panose="02020603050405020304" pitchFamily="18" charset="0"/>
                <a:ea typeface="Times New Roman" panose="02020603050405020304" pitchFamily="18" charset="0"/>
                <a:cs typeface="B Titr" panose="00000700000000000000" pitchFamily="2" charset="-78"/>
              </a:rPr>
              <a:t>در ترانسفورماتورها، هر گره (یا توکن) سه بردار به نام "کلید</a:t>
            </a:r>
            <a:r>
              <a:rPr lang="en-US" sz="1800" kern="0" dirty="0">
                <a:solidFill>
                  <a:srgbClr val="002060"/>
                </a:solidFill>
                <a:effectLst/>
                <a:latin typeface="Times New Roman" panose="02020603050405020304" pitchFamily="18" charset="0"/>
                <a:ea typeface="Times New Roman" panose="02020603050405020304" pitchFamily="18" charset="0"/>
                <a:cs typeface="B Titr" panose="00000700000000000000" pitchFamily="2" charset="-78"/>
              </a:rPr>
              <a:t>" (Key)</a:t>
            </a:r>
            <a:r>
              <a:rPr lang="ar-SA" sz="1800" kern="0" dirty="0">
                <a:solidFill>
                  <a:srgbClr val="002060"/>
                </a:solidFill>
                <a:effectLst/>
                <a:latin typeface="Times New Roman" panose="02020603050405020304" pitchFamily="18" charset="0"/>
                <a:ea typeface="Times New Roman" panose="02020603050405020304" pitchFamily="18" charset="0"/>
                <a:cs typeface="B Titr" panose="00000700000000000000" pitchFamily="2" charset="-78"/>
              </a:rPr>
              <a:t>، </a:t>
            </a:r>
            <a:r>
              <a:rPr lang="en-US" sz="1800" kern="0" dirty="0">
                <a:solidFill>
                  <a:srgbClr val="002060"/>
                </a:solidFill>
                <a:effectLst/>
                <a:latin typeface="Times New Roman" panose="02020603050405020304" pitchFamily="18" charset="0"/>
                <a:ea typeface="Times New Roman" panose="02020603050405020304" pitchFamily="18" charset="0"/>
                <a:cs typeface="B Titr" panose="00000700000000000000" pitchFamily="2" charset="-78"/>
              </a:rPr>
              <a:t>"</a:t>
            </a:r>
            <a:r>
              <a:rPr lang="ar-SA" sz="1800" kern="0" dirty="0">
                <a:solidFill>
                  <a:srgbClr val="002060"/>
                </a:solidFill>
                <a:effectLst/>
                <a:latin typeface="Times New Roman" panose="02020603050405020304" pitchFamily="18" charset="0"/>
                <a:ea typeface="Times New Roman" panose="02020603050405020304" pitchFamily="18" charset="0"/>
                <a:cs typeface="B Titr" panose="00000700000000000000" pitchFamily="2" charset="-78"/>
              </a:rPr>
              <a:t>پرس‌وجو</a:t>
            </a:r>
            <a:r>
              <a:rPr lang="en-US" sz="1800" kern="0" dirty="0">
                <a:solidFill>
                  <a:srgbClr val="002060"/>
                </a:solidFill>
                <a:effectLst/>
                <a:latin typeface="Times New Roman" panose="02020603050405020304" pitchFamily="18" charset="0"/>
                <a:ea typeface="Times New Roman" panose="02020603050405020304" pitchFamily="18" charset="0"/>
                <a:cs typeface="B Titr" panose="00000700000000000000" pitchFamily="2" charset="-78"/>
              </a:rPr>
              <a:t>" (Query) </a:t>
            </a:r>
            <a:r>
              <a:rPr lang="ar-SA" sz="1800" kern="0" dirty="0">
                <a:solidFill>
                  <a:srgbClr val="002060"/>
                </a:solidFill>
                <a:effectLst/>
                <a:latin typeface="Times New Roman" panose="02020603050405020304" pitchFamily="18" charset="0"/>
                <a:ea typeface="Times New Roman" panose="02020603050405020304" pitchFamily="18" charset="0"/>
                <a:cs typeface="B Titr" panose="00000700000000000000" pitchFamily="2" charset="-78"/>
              </a:rPr>
              <a:t>و "مقدار</a:t>
            </a:r>
            <a:r>
              <a:rPr lang="en-US" sz="1800" kern="0" dirty="0">
                <a:solidFill>
                  <a:srgbClr val="002060"/>
                </a:solidFill>
                <a:effectLst/>
                <a:latin typeface="Times New Roman" panose="02020603050405020304" pitchFamily="18" charset="0"/>
                <a:ea typeface="Times New Roman" panose="02020603050405020304" pitchFamily="18" charset="0"/>
                <a:cs typeface="B Titr" panose="00000700000000000000" pitchFamily="2" charset="-78"/>
              </a:rPr>
              <a:t>" (Value) </a:t>
            </a:r>
            <a:r>
              <a:rPr lang="ar-SA" sz="1800" kern="0" dirty="0">
                <a:solidFill>
                  <a:srgbClr val="002060"/>
                </a:solidFill>
                <a:effectLst/>
                <a:latin typeface="Times New Roman" panose="02020603050405020304" pitchFamily="18" charset="0"/>
                <a:ea typeface="Times New Roman" panose="02020603050405020304" pitchFamily="18" charset="0"/>
                <a:cs typeface="B Titr" panose="00000700000000000000" pitchFamily="2" charset="-78"/>
              </a:rPr>
              <a:t>تولید می‌کند</a:t>
            </a:r>
            <a:endParaRPr lang="fa-IR" sz="1800" kern="0" dirty="0">
              <a:solidFill>
                <a:srgbClr val="002060"/>
              </a:solidFill>
              <a:effectLst/>
              <a:latin typeface="Times New Roman" panose="02020603050405020304" pitchFamily="18" charset="0"/>
              <a:ea typeface="Times New Roman" panose="02020603050405020304" pitchFamily="18" charset="0"/>
              <a:cs typeface="B Titr" panose="00000700000000000000" pitchFamily="2" charset="-78"/>
            </a:endParaRPr>
          </a:p>
          <a:p>
            <a:pPr algn="r" rtl="1"/>
            <a:r>
              <a:rPr lang="ar-SA" sz="1800" kern="0" dirty="0">
                <a:solidFill>
                  <a:srgbClr val="002060"/>
                </a:solidFill>
                <a:effectLst/>
                <a:latin typeface="Times New Roman" panose="02020603050405020304" pitchFamily="18" charset="0"/>
                <a:ea typeface="Times New Roman" panose="02020603050405020304" pitchFamily="18" charset="0"/>
                <a:cs typeface="B Titr" panose="00000700000000000000" pitchFamily="2" charset="-78"/>
              </a:rPr>
              <a:t>در خود-توجه، تمام بردارها از همان مجموعه کلمات (جمله ورودی) می‌آیند</a:t>
            </a:r>
            <a:r>
              <a:rPr lang="en-US" sz="1800" kern="0" dirty="0">
                <a:solidFill>
                  <a:srgbClr val="002060"/>
                </a:solidFill>
                <a:effectLst/>
                <a:latin typeface="Times New Roman" panose="02020603050405020304" pitchFamily="18" charset="0"/>
                <a:ea typeface="Times New Roman" panose="02020603050405020304" pitchFamily="18" charset="0"/>
                <a:cs typeface="B Titr" panose="00000700000000000000" pitchFamily="2" charset="-78"/>
              </a:rPr>
              <a:t>.</a:t>
            </a:r>
            <a:endParaRPr lang="en-US" sz="1800" kern="100" dirty="0">
              <a:solidFill>
                <a:srgbClr val="002060"/>
              </a:solidFill>
              <a:effectLst/>
              <a:latin typeface="Aptos" panose="020B0004020202020204" pitchFamily="34" charset="0"/>
              <a:ea typeface="Aptos" panose="020B0004020202020204" pitchFamily="34" charset="0"/>
              <a:cs typeface="Arial" panose="020B0604020202020204" pitchFamily="34" charset="0"/>
            </a:endParaRPr>
          </a:p>
          <a:p>
            <a:pPr algn="r" rtl="1"/>
            <a:r>
              <a:rPr lang="ar-SA" sz="1800" kern="0" dirty="0">
                <a:solidFill>
                  <a:srgbClr val="002060"/>
                </a:solidFill>
                <a:effectLst/>
                <a:latin typeface="Times New Roman" panose="02020603050405020304" pitchFamily="18" charset="0"/>
                <a:ea typeface="Times New Roman" panose="02020603050405020304" pitchFamily="18" charset="0"/>
                <a:cs typeface="B Titr" panose="00000700000000000000" pitchFamily="2" charset="-78"/>
              </a:rPr>
              <a:t>مدل به تمام کلمات در جمله توجه می‌کند، اما به برخی کلمات بیشتر از بقیه توجه می‌کند</a:t>
            </a:r>
            <a:r>
              <a:rPr lang="en-US" sz="1800" kern="0" dirty="0">
                <a:solidFill>
                  <a:srgbClr val="002060"/>
                </a:solidFill>
                <a:effectLst/>
                <a:latin typeface="Times New Roman" panose="02020603050405020304" pitchFamily="18" charset="0"/>
                <a:ea typeface="Times New Roman" panose="02020603050405020304" pitchFamily="18" charset="0"/>
                <a:cs typeface="B Titr" panose="00000700000000000000" pitchFamily="2" charset="-78"/>
              </a:rPr>
              <a:t>.</a:t>
            </a:r>
            <a:endParaRPr lang="en-US" sz="1800" kern="100" dirty="0">
              <a:solidFill>
                <a:srgbClr val="002060"/>
              </a:solidFill>
              <a:effectLst/>
              <a:latin typeface="Aptos" panose="020B0004020202020204" pitchFamily="34" charset="0"/>
              <a:ea typeface="Aptos" panose="020B0004020202020204" pitchFamily="34" charset="0"/>
              <a:cs typeface="Arial" panose="020B0604020202020204" pitchFamily="34" charset="0"/>
            </a:endParaRPr>
          </a:p>
          <a:p>
            <a:pPr algn="r" rtl="1"/>
            <a:endParaRPr lang="en-US" dirty="0"/>
          </a:p>
        </p:txBody>
      </p:sp>
    </p:spTree>
    <p:extLst>
      <p:ext uri="{BB962C8B-B14F-4D97-AF65-F5344CB8AC3E}">
        <p14:creationId xmlns:p14="http://schemas.microsoft.com/office/powerpoint/2010/main" val="314780866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126A7E-40D9-A4B7-2FF1-4D2F39119A94}"/>
              </a:ext>
            </a:extLst>
          </p:cNvPr>
          <p:cNvSpPr>
            <a:spLocks noGrp="1"/>
          </p:cNvSpPr>
          <p:nvPr>
            <p:ph type="title"/>
          </p:nvPr>
        </p:nvSpPr>
        <p:spPr/>
        <p:txBody>
          <a:bodyPr/>
          <a:lstStyle/>
          <a:p>
            <a:r>
              <a:rPr lang="en-US" dirty="0"/>
              <a:t>Multi head attention</a:t>
            </a:r>
          </a:p>
        </p:txBody>
      </p:sp>
      <p:sp>
        <p:nvSpPr>
          <p:cNvPr id="3" name="Content Placeholder 2">
            <a:extLst>
              <a:ext uri="{FF2B5EF4-FFF2-40B4-BE49-F238E27FC236}">
                <a16:creationId xmlns:a16="http://schemas.microsoft.com/office/drawing/2014/main" id="{561311EF-AF33-8EE5-E8CB-C3FB168CEF2D}"/>
              </a:ext>
            </a:extLst>
          </p:cNvPr>
          <p:cNvSpPr>
            <a:spLocks noGrp="1"/>
          </p:cNvSpPr>
          <p:nvPr>
            <p:ph idx="1"/>
          </p:nvPr>
        </p:nvSpPr>
        <p:spPr/>
        <p:txBody>
          <a:bodyPr/>
          <a:lstStyle/>
          <a:p>
            <a:pPr algn="r" rtl="1"/>
            <a:r>
              <a:rPr lang="fa-IR" dirty="0">
                <a:cs typeface="B Titr" panose="00000700000000000000" pitchFamily="2" charset="-78"/>
              </a:rPr>
              <a:t>مدل توجه چند سر همان خودتوجه است که چند بار به صورت موازی با وزن های مختلف بارگذاری می شود.</a:t>
            </a:r>
          </a:p>
          <a:p>
            <a:pPr algn="r" rtl="1"/>
            <a:r>
              <a:rPr lang="fa-IR" dirty="0">
                <a:cs typeface="B Titr" panose="00000700000000000000" pitchFamily="2" charset="-78"/>
              </a:rPr>
              <a:t>توجه چندسر کمک می کنند تا مدل روابط مختلف بین کلمات را در سطوح مختلف معنایی مانند روابط نحوی بین کلمات و روابط معنایی بین کلمات و روابط زمانی بین کلمات و ... را یاد بگیرد.</a:t>
            </a:r>
          </a:p>
          <a:p>
            <a:pPr algn="r" rtl="1"/>
            <a:r>
              <a:rPr lang="ar-SA" dirty="0">
                <a:cs typeface="B Titr" panose="00000700000000000000" pitchFamily="2" charset="-78"/>
              </a:rPr>
              <a:t>در توجه چند-سر، به جای محاسبه یک بردار زمینه واحد برای هر کلمه، </a:t>
            </a:r>
            <a:r>
              <a:rPr lang="en-US" dirty="0">
                <a:cs typeface="B Titr" panose="00000700000000000000" pitchFamily="2" charset="-78"/>
              </a:rPr>
              <a:t>H</a:t>
            </a:r>
            <a:r>
              <a:rPr lang="ar-SA" dirty="0">
                <a:cs typeface="B Titr" panose="00000700000000000000" pitchFamily="2" charset="-78"/>
              </a:rPr>
              <a:t> بردار زمینه مختلف برای هر کلمه محاسبه می‌شود. هر بردار زمینه توسط یک "سر" (</a:t>
            </a:r>
            <a:r>
              <a:rPr lang="en-US" dirty="0">
                <a:cs typeface="B Titr" panose="00000700000000000000" pitchFamily="2" charset="-78"/>
              </a:rPr>
              <a:t>Head</a:t>
            </a:r>
            <a:r>
              <a:rPr lang="ar-SA" dirty="0">
                <a:cs typeface="B Titr" panose="00000700000000000000" pitchFamily="2" charset="-78"/>
              </a:rPr>
              <a:t>) جداگانه از توجه محاسبه می‌شود.</a:t>
            </a:r>
            <a:endParaRPr lang="en-US" dirty="0">
              <a:cs typeface="B Titr" panose="00000700000000000000" pitchFamily="2" charset="-78"/>
            </a:endParaRPr>
          </a:p>
          <a:p>
            <a:pPr algn="r" rtl="1"/>
            <a:endParaRPr lang="en-US" dirty="0">
              <a:cs typeface="B Titr" panose="00000700000000000000" pitchFamily="2" charset="-78"/>
            </a:endParaRPr>
          </a:p>
        </p:txBody>
      </p:sp>
    </p:spTree>
    <p:extLst>
      <p:ext uri="{BB962C8B-B14F-4D97-AF65-F5344CB8AC3E}">
        <p14:creationId xmlns:p14="http://schemas.microsoft.com/office/powerpoint/2010/main" val="357694656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23CFFB-2CD4-CA4B-C0E1-76E9F0156F88}"/>
              </a:ext>
            </a:extLst>
          </p:cNvPr>
          <p:cNvSpPr>
            <a:spLocks noGrp="1"/>
          </p:cNvSpPr>
          <p:nvPr>
            <p:ph type="title"/>
          </p:nvPr>
        </p:nvSpPr>
        <p:spPr/>
        <p:txBody>
          <a:bodyPr/>
          <a:lstStyle/>
          <a:p>
            <a:r>
              <a:rPr lang="en-US" dirty="0"/>
              <a:t>Cross attention</a:t>
            </a:r>
          </a:p>
        </p:txBody>
      </p:sp>
      <p:sp>
        <p:nvSpPr>
          <p:cNvPr id="3" name="Content Placeholder 2">
            <a:extLst>
              <a:ext uri="{FF2B5EF4-FFF2-40B4-BE49-F238E27FC236}">
                <a16:creationId xmlns:a16="http://schemas.microsoft.com/office/drawing/2014/main" id="{3CDB0925-D388-5C55-634F-5F219675DB17}"/>
              </a:ext>
            </a:extLst>
          </p:cNvPr>
          <p:cNvSpPr>
            <a:spLocks noGrp="1"/>
          </p:cNvSpPr>
          <p:nvPr>
            <p:ph idx="1"/>
          </p:nvPr>
        </p:nvSpPr>
        <p:spPr/>
        <p:txBody>
          <a:bodyPr>
            <a:normAutofit/>
          </a:bodyPr>
          <a:lstStyle/>
          <a:p>
            <a:pPr algn="r" rtl="1"/>
            <a:r>
              <a:rPr lang="fa-IR" sz="2400" b="1" kern="0" dirty="0">
                <a:solidFill>
                  <a:srgbClr val="275317"/>
                </a:solidFill>
                <a:latin typeface="Times New Roman" panose="02020603050405020304" pitchFamily="18" charset="0"/>
                <a:cs typeface="B Titr" panose="00000700000000000000" pitchFamily="2" charset="-78"/>
              </a:rPr>
              <a:t>در این مکانیزم پرسش ها از دیکدر تولید می شوند اما کلید و مقدارها از تابعی از نودهای انکدر (رمگذار) تولید می شود.</a:t>
            </a:r>
          </a:p>
          <a:p>
            <a:pPr algn="r" rtl="1"/>
            <a:r>
              <a:rPr lang="fa-IR" sz="2400" b="1" kern="0" dirty="0">
                <a:solidFill>
                  <a:srgbClr val="275317"/>
                </a:solidFill>
                <a:latin typeface="Times New Roman" panose="02020603050405020304" pitchFamily="18" charset="0"/>
                <a:cs typeface="B Titr" panose="00000700000000000000" pitchFamily="2" charset="-78"/>
              </a:rPr>
              <a:t>توجه متقابل به مدل اجازه می‌دهد تا بین کلمات در جمله ورودی و کلمات در جمله خروجی ارتباط برقرار کند.</a:t>
            </a:r>
          </a:p>
          <a:p>
            <a:pPr marL="0" indent="0" algn="just" rtl="1">
              <a:buNone/>
            </a:pPr>
            <a:endParaRPr lang="en-US" dirty="0">
              <a:cs typeface="B Titr" panose="00000700000000000000" pitchFamily="2" charset="-78"/>
            </a:endParaRPr>
          </a:p>
        </p:txBody>
      </p:sp>
    </p:spTree>
    <p:extLst>
      <p:ext uri="{BB962C8B-B14F-4D97-AF65-F5344CB8AC3E}">
        <p14:creationId xmlns:p14="http://schemas.microsoft.com/office/powerpoint/2010/main" val="358918868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EDF817-7B30-B127-5C7A-BD9F243FCB35}"/>
              </a:ext>
            </a:extLst>
          </p:cNvPr>
          <p:cNvSpPr>
            <a:spLocks noGrp="1"/>
          </p:cNvSpPr>
          <p:nvPr>
            <p:ph type="title"/>
          </p:nvPr>
        </p:nvSpPr>
        <p:spPr/>
        <p:txBody>
          <a:bodyPr>
            <a:normAutofit fontScale="90000"/>
          </a:bodyPr>
          <a:lstStyle/>
          <a:p>
            <a:r>
              <a:rPr lang="en-US" b="1" i="0" dirty="0">
                <a:effectLst/>
                <a:latin typeface="Source Sans Pro" panose="020B0503030403020204" pitchFamily="34" charset="0"/>
              </a:rPr>
              <a:t>The original architecture</a:t>
            </a:r>
            <a:br>
              <a:rPr lang="en-US" b="1" i="0" dirty="0">
                <a:effectLst/>
                <a:latin typeface="Source Sans Pro" panose="020B0503030403020204" pitchFamily="34" charset="0"/>
              </a:rPr>
            </a:br>
            <a:br>
              <a:rPr lang="en-US" dirty="0"/>
            </a:br>
            <a:endParaRPr lang="en-US" dirty="0"/>
          </a:p>
        </p:txBody>
      </p:sp>
      <p:sp>
        <p:nvSpPr>
          <p:cNvPr id="4" name="AutoShape 2" descr="Architecture of a Transformers models">
            <a:extLst>
              <a:ext uri="{FF2B5EF4-FFF2-40B4-BE49-F238E27FC236}">
                <a16:creationId xmlns:a16="http://schemas.microsoft.com/office/drawing/2014/main" id="{C62297FA-FC83-04C5-0A89-5E2B89275714}"/>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1026" name="Picture 2" descr="The original transformer architecture, as visualized in the 2017 paper that made them famous, Attention Is All You Need.">
            <a:extLst>
              <a:ext uri="{FF2B5EF4-FFF2-40B4-BE49-F238E27FC236}">
                <a16:creationId xmlns:a16="http://schemas.microsoft.com/office/drawing/2014/main" id="{5B2ADFB2-AF71-26F2-7E26-F6C7582089B6}"/>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36613" t="4480" r="34435" b="2800"/>
          <a:stretch/>
        </p:blipFill>
        <p:spPr bwMode="auto">
          <a:xfrm>
            <a:off x="6277899" y="0"/>
            <a:ext cx="6567948" cy="6702495"/>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36410048-0F95-EEAD-2D55-A72769CE0A17}"/>
              </a:ext>
            </a:extLst>
          </p:cNvPr>
          <p:cNvSpPr txBox="1"/>
          <p:nvPr/>
        </p:nvSpPr>
        <p:spPr>
          <a:xfrm>
            <a:off x="1612491" y="856129"/>
            <a:ext cx="3647768" cy="2308324"/>
          </a:xfrm>
          <a:prstGeom prst="rect">
            <a:avLst/>
          </a:prstGeom>
          <a:noFill/>
        </p:spPr>
        <p:txBody>
          <a:bodyPr wrap="square">
            <a:spAutoFit/>
          </a:bodyPr>
          <a:lstStyle/>
          <a:p>
            <a:pPr algn="ctr" rtl="1"/>
            <a:r>
              <a:rPr lang="en-US" sz="2400" b="1" dirty="0" err="1">
                <a:solidFill>
                  <a:srgbClr val="7030A0"/>
                </a:solidFill>
                <a:cs typeface="B Titr" panose="00000700000000000000" pitchFamily="2" charset="-78"/>
              </a:rPr>
              <a:t>معماری</a:t>
            </a:r>
            <a:r>
              <a:rPr lang="en-US" sz="2400" b="1" dirty="0">
                <a:solidFill>
                  <a:srgbClr val="7030A0"/>
                </a:solidFill>
                <a:cs typeface="B Titr" panose="00000700000000000000" pitchFamily="2" charset="-78"/>
              </a:rPr>
              <a:t> </a:t>
            </a:r>
            <a:r>
              <a:rPr lang="en-US" sz="2400" b="1" dirty="0" err="1">
                <a:solidFill>
                  <a:srgbClr val="7030A0"/>
                </a:solidFill>
                <a:cs typeface="B Titr" panose="00000700000000000000" pitchFamily="2" charset="-78"/>
              </a:rPr>
              <a:t>اصلی</a:t>
            </a:r>
            <a:r>
              <a:rPr lang="en-US" sz="2400" b="1" dirty="0">
                <a:solidFill>
                  <a:srgbClr val="7030A0"/>
                </a:solidFill>
                <a:cs typeface="B Titr" panose="00000700000000000000" pitchFamily="2" charset="-78"/>
              </a:rPr>
              <a:t> </a:t>
            </a:r>
            <a:r>
              <a:rPr lang="en-US" sz="2400" b="1" dirty="0" err="1">
                <a:solidFill>
                  <a:srgbClr val="7030A0"/>
                </a:solidFill>
                <a:cs typeface="B Titr" panose="00000700000000000000" pitchFamily="2" charset="-78"/>
              </a:rPr>
              <a:t>ترانسفور</a:t>
            </a:r>
            <a:r>
              <a:rPr lang="en-US" sz="2400" b="1" dirty="0">
                <a:solidFill>
                  <a:srgbClr val="7030A0"/>
                </a:solidFill>
                <a:cs typeface="B Titr" panose="00000700000000000000" pitchFamily="2" charset="-78"/>
              </a:rPr>
              <a:t>، </a:t>
            </a:r>
            <a:r>
              <a:rPr lang="en-US" sz="2400" b="1" dirty="0" err="1">
                <a:solidFill>
                  <a:srgbClr val="7030A0"/>
                </a:solidFill>
                <a:cs typeface="B Titr" panose="00000700000000000000" pitchFamily="2" charset="-78"/>
              </a:rPr>
              <a:t>همانطور</a:t>
            </a:r>
            <a:r>
              <a:rPr lang="en-US" sz="2400" b="1" dirty="0">
                <a:solidFill>
                  <a:srgbClr val="7030A0"/>
                </a:solidFill>
                <a:cs typeface="B Titr" panose="00000700000000000000" pitchFamily="2" charset="-78"/>
              </a:rPr>
              <a:t> </a:t>
            </a:r>
            <a:r>
              <a:rPr lang="en-US" sz="2400" b="1" dirty="0" err="1">
                <a:solidFill>
                  <a:srgbClr val="7030A0"/>
                </a:solidFill>
                <a:cs typeface="B Titr" panose="00000700000000000000" pitchFamily="2" charset="-78"/>
              </a:rPr>
              <a:t>که</a:t>
            </a:r>
            <a:r>
              <a:rPr lang="en-US" sz="2400" b="1" dirty="0">
                <a:solidFill>
                  <a:srgbClr val="7030A0"/>
                </a:solidFill>
                <a:cs typeface="B Titr" panose="00000700000000000000" pitchFamily="2" charset="-78"/>
              </a:rPr>
              <a:t> </a:t>
            </a:r>
            <a:r>
              <a:rPr lang="en-US" sz="2400" b="1" dirty="0" err="1">
                <a:solidFill>
                  <a:srgbClr val="7030A0"/>
                </a:solidFill>
                <a:cs typeface="B Titr" panose="00000700000000000000" pitchFamily="2" charset="-78"/>
              </a:rPr>
              <a:t>در</a:t>
            </a:r>
            <a:r>
              <a:rPr lang="en-US" sz="2400" b="1" dirty="0">
                <a:solidFill>
                  <a:srgbClr val="7030A0"/>
                </a:solidFill>
                <a:cs typeface="B Titr" panose="00000700000000000000" pitchFamily="2" charset="-78"/>
              </a:rPr>
              <a:t> </a:t>
            </a:r>
            <a:r>
              <a:rPr lang="en-US" sz="2400" b="1" dirty="0" err="1">
                <a:solidFill>
                  <a:srgbClr val="7030A0"/>
                </a:solidFill>
                <a:cs typeface="B Titr" panose="00000700000000000000" pitchFamily="2" charset="-78"/>
              </a:rPr>
              <a:t>مقاله</a:t>
            </a:r>
            <a:r>
              <a:rPr lang="en-US" sz="2400" b="1" dirty="0">
                <a:solidFill>
                  <a:srgbClr val="7030A0"/>
                </a:solidFill>
                <a:cs typeface="B Titr" panose="00000700000000000000" pitchFamily="2" charset="-78"/>
              </a:rPr>
              <a:t> 2017 </a:t>
            </a:r>
            <a:r>
              <a:rPr lang="fa-IR" sz="2400" b="1" dirty="0">
                <a:solidFill>
                  <a:srgbClr val="7030A0"/>
                </a:solidFill>
                <a:cs typeface="B Titr" panose="00000700000000000000" pitchFamily="2" charset="-78"/>
              </a:rPr>
              <a:t> </a:t>
            </a:r>
            <a:r>
              <a:rPr lang="en-US" sz="2400" b="1" dirty="0" err="1">
                <a:solidFill>
                  <a:srgbClr val="7030A0"/>
                </a:solidFill>
                <a:cs typeface="B Titr" panose="00000700000000000000" pitchFamily="2" charset="-78"/>
              </a:rPr>
              <a:t>که</a:t>
            </a:r>
            <a:r>
              <a:rPr lang="en-US" sz="2400" b="1" dirty="0">
                <a:solidFill>
                  <a:srgbClr val="7030A0"/>
                </a:solidFill>
                <a:cs typeface="B Titr" panose="00000700000000000000" pitchFamily="2" charset="-78"/>
              </a:rPr>
              <a:t> </a:t>
            </a:r>
            <a:r>
              <a:rPr lang="en-US" sz="2400" b="1" dirty="0" err="1">
                <a:solidFill>
                  <a:srgbClr val="7030A0"/>
                </a:solidFill>
                <a:cs typeface="B Titr" panose="00000700000000000000" pitchFamily="2" charset="-78"/>
              </a:rPr>
              <a:t>آنها</a:t>
            </a:r>
            <a:r>
              <a:rPr lang="en-US" sz="2400" b="1" dirty="0">
                <a:solidFill>
                  <a:srgbClr val="7030A0"/>
                </a:solidFill>
                <a:cs typeface="B Titr" panose="00000700000000000000" pitchFamily="2" charset="-78"/>
              </a:rPr>
              <a:t> </a:t>
            </a:r>
            <a:r>
              <a:rPr lang="en-US" sz="2400" b="1" dirty="0" err="1">
                <a:solidFill>
                  <a:srgbClr val="7030A0"/>
                </a:solidFill>
                <a:cs typeface="B Titr" panose="00000700000000000000" pitchFamily="2" charset="-78"/>
              </a:rPr>
              <a:t>را</a:t>
            </a:r>
            <a:r>
              <a:rPr lang="en-US" sz="2400" b="1" dirty="0">
                <a:solidFill>
                  <a:srgbClr val="7030A0"/>
                </a:solidFill>
                <a:cs typeface="B Titr" panose="00000700000000000000" pitchFamily="2" charset="-78"/>
              </a:rPr>
              <a:t> </a:t>
            </a:r>
            <a:r>
              <a:rPr lang="en-US" sz="2400" b="1" dirty="0" err="1">
                <a:solidFill>
                  <a:srgbClr val="7030A0"/>
                </a:solidFill>
                <a:cs typeface="B Titr" panose="00000700000000000000" pitchFamily="2" charset="-78"/>
              </a:rPr>
              <a:t>به</a:t>
            </a:r>
            <a:r>
              <a:rPr lang="en-US" sz="2400" b="1" dirty="0">
                <a:solidFill>
                  <a:srgbClr val="7030A0"/>
                </a:solidFill>
                <a:cs typeface="B Titr" panose="00000700000000000000" pitchFamily="2" charset="-78"/>
              </a:rPr>
              <a:t> </a:t>
            </a:r>
            <a:r>
              <a:rPr lang="en-US" sz="2400" b="1" dirty="0" err="1">
                <a:solidFill>
                  <a:srgbClr val="7030A0"/>
                </a:solidFill>
                <a:cs typeface="B Titr" panose="00000700000000000000" pitchFamily="2" charset="-78"/>
              </a:rPr>
              <a:t>شهرت</a:t>
            </a:r>
            <a:r>
              <a:rPr lang="en-US" sz="2400" b="1" dirty="0">
                <a:solidFill>
                  <a:srgbClr val="7030A0"/>
                </a:solidFill>
                <a:cs typeface="B Titr" panose="00000700000000000000" pitchFamily="2" charset="-78"/>
              </a:rPr>
              <a:t> </a:t>
            </a:r>
            <a:r>
              <a:rPr lang="en-US" sz="2400" b="1" dirty="0" err="1">
                <a:solidFill>
                  <a:srgbClr val="7030A0"/>
                </a:solidFill>
                <a:cs typeface="B Titr" panose="00000700000000000000" pitchFamily="2" charset="-78"/>
              </a:rPr>
              <a:t>رساند</a:t>
            </a:r>
            <a:r>
              <a:rPr lang="en-US" sz="2400" b="1" dirty="0">
                <a:solidFill>
                  <a:srgbClr val="7030A0"/>
                </a:solidFill>
                <a:cs typeface="B Titr" panose="00000700000000000000" pitchFamily="2" charset="-78"/>
              </a:rPr>
              <a:t>، </a:t>
            </a:r>
            <a:r>
              <a:rPr lang="en-US" sz="2400" b="1" dirty="0" err="1">
                <a:solidFill>
                  <a:srgbClr val="7030A0"/>
                </a:solidFill>
                <a:cs typeface="B Titr" panose="00000700000000000000" pitchFamily="2" charset="-78"/>
              </a:rPr>
              <a:t>به</a:t>
            </a:r>
            <a:r>
              <a:rPr lang="en-US" sz="2400" b="1" dirty="0">
                <a:solidFill>
                  <a:srgbClr val="7030A0"/>
                </a:solidFill>
                <a:cs typeface="B Titr" panose="00000700000000000000" pitchFamily="2" charset="-78"/>
              </a:rPr>
              <a:t> </a:t>
            </a:r>
            <a:r>
              <a:rPr lang="en-US" sz="2400" b="1" dirty="0" err="1">
                <a:solidFill>
                  <a:srgbClr val="7030A0"/>
                </a:solidFill>
                <a:cs typeface="B Titr" panose="00000700000000000000" pitchFamily="2" charset="-78"/>
              </a:rPr>
              <a:t>تصویر</a:t>
            </a:r>
            <a:r>
              <a:rPr lang="en-US" sz="2400" b="1" dirty="0">
                <a:solidFill>
                  <a:srgbClr val="7030A0"/>
                </a:solidFill>
                <a:cs typeface="B Titr" panose="00000700000000000000" pitchFamily="2" charset="-78"/>
              </a:rPr>
              <a:t> </a:t>
            </a:r>
            <a:r>
              <a:rPr lang="en-US" sz="2400" b="1" dirty="0" err="1">
                <a:solidFill>
                  <a:srgbClr val="7030A0"/>
                </a:solidFill>
                <a:cs typeface="B Titr" panose="00000700000000000000" pitchFamily="2" charset="-78"/>
              </a:rPr>
              <a:t>کشیده</a:t>
            </a:r>
            <a:r>
              <a:rPr lang="en-US" sz="2400" b="1" dirty="0">
                <a:solidFill>
                  <a:srgbClr val="7030A0"/>
                </a:solidFill>
                <a:cs typeface="B Titr" panose="00000700000000000000" pitchFamily="2" charset="-78"/>
              </a:rPr>
              <a:t> </a:t>
            </a:r>
            <a:r>
              <a:rPr lang="en-US" sz="2400" b="1" dirty="0" err="1">
                <a:solidFill>
                  <a:srgbClr val="7030A0"/>
                </a:solidFill>
                <a:cs typeface="B Titr" panose="00000700000000000000" pitchFamily="2" charset="-78"/>
              </a:rPr>
              <a:t>شده</a:t>
            </a:r>
            <a:r>
              <a:rPr lang="en-US" sz="2400" b="1" dirty="0">
                <a:solidFill>
                  <a:srgbClr val="7030A0"/>
                </a:solidFill>
                <a:cs typeface="B Titr" panose="00000700000000000000" pitchFamily="2" charset="-78"/>
              </a:rPr>
              <a:t> </a:t>
            </a:r>
            <a:r>
              <a:rPr lang="en-US" sz="2400" b="1" dirty="0" err="1">
                <a:solidFill>
                  <a:srgbClr val="7030A0"/>
                </a:solidFill>
                <a:cs typeface="B Titr" panose="00000700000000000000" pitchFamily="2" charset="-78"/>
              </a:rPr>
              <a:t>است</a:t>
            </a:r>
            <a:r>
              <a:rPr lang="en-US" sz="2400" b="1" dirty="0">
                <a:solidFill>
                  <a:srgbClr val="7030A0"/>
                </a:solidFill>
                <a:cs typeface="B Titr" panose="00000700000000000000" pitchFamily="2" charset="-78"/>
              </a:rPr>
              <a:t>،</a:t>
            </a:r>
            <a:endParaRPr lang="fa-IR" sz="2400" b="1" dirty="0">
              <a:solidFill>
                <a:srgbClr val="7030A0"/>
              </a:solidFill>
              <a:cs typeface="B Titr" panose="00000700000000000000" pitchFamily="2" charset="-78"/>
            </a:endParaRPr>
          </a:p>
          <a:p>
            <a:pPr algn="ctr" rtl="1"/>
            <a:r>
              <a:rPr lang="en-US" sz="2400" b="1" dirty="0">
                <a:solidFill>
                  <a:srgbClr val="7030A0"/>
                </a:solidFill>
                <a:cs typeface="B Titr" panose="00000700000000000000" pitchFamily="2" charset="-78"/>
              </a:rPr>
              <a:t> Attention</a:t>
            </a:r>
            <a:endParaRPr lang="fa-IR" sz="2400" b="1" dirty="0">
              <a:solidFill>
                <a:srgbClr val="7030A0"/>
              </a:solidFill>
              <a:cs typeface="B Titr" panose="00000700000000000000" pitchFamily="2" charset="-78"/>
            </a:endParaRPr>
          </a:p>
          <a:p>
            <a:pPr algn="ctr" rtl="1"/>
            <a:r>
              <a:rPr lang="en-US" sz="2400" b="1" dirty="0">
                <a:solidFill>
                  <a:srgbClr val="7030A0"/>
                </a:solidFill>
                <a:cs typeface="B Titr" panose="00000700000000000000" pitchFamily="2" charset="-78"/>
              </a:rPr>
              <a:t> Is All You Need.</a:t>
            </a:r>
          </a:p>
        </p:txBody>
      </p:sp>
      <p:cxnSp>
        <p:nvCxnSpPr>
          <p:cNvPr id="9" name="Straight Arrow Connector 8">
            <a:extLst>
              <a:ext uri="{FF2B5EF4-FFF2-40B4-BE49-F238E27FC236}">
                <a16:creationId xmlns:a16="http://schemas.microsoft.com/office/drawing/2014/main" id="{9BBC80A3-1823-2877-5E99-48B893E5D141}"/>
              </a:ext>
            </a:extLst>
          </p:cNvPr>
          <p:cNvCxnSpPr>
            <a:cxnSpLocks/>
          </p:cNvCxnSpPr>
          <p:nvPr/>
        </p:nvCxnSpPr>
        <p:spPr>
          <a:xfrm>
            <a:off x="4876800" y="2428568"/>
            <a:ext cx="924232" cy="33214"/>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5" name="Straight Arrow Connector 4">
            <a:extLst>
              <a:ext uri="{FF2B5EF4-FFF2-40B4-BE49-F238E27FC236}">
                <a16:creationId xmlns:a16="http://schemas.microsoft.com/office/drawing/2014/main" id="{544119F8-FB75-77E7-4D90-BA12ADF26878}"/>
              </a:ext>
            </a:extLst>
          </p:cNvPr>
          <p:cNvCxnSpPr>
            <a:cxnSpLocks/>
          </p:cNvCxnSpPr>
          <p:nvPr/>
        </p:nvCxnSpPr>
        <p:spPr>
          <a:xfrm flipH="1">
            <a:off x="4485968" y="4188542"/>
            <a:ext cx="5660922"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6" name="Rectangle: Rounded Corners 5">
            <a:extLst>
              <a:ext uri="{FF2B5EF4-FFF2-40B4-BE49-F238E27FC236}">
                <a16:creationId xmlns:a16="http://schemas.microsoft.com/office/drawing/2014/main" id="{4920D16B-A9E6-8E38-AAF9-39BFA2B81E9B}"/>
              </a:ext>
            </a:extLst>
          </p:cNvPr>
          <p:cNvSpPr/>
          <p:nvPr/>
        </p:nvSpPr>
        <p:spPr>
          <a:xfrm>
            <a:off x="838200" y="3134956"/>
            <a:ext cx="3647768" cy="2455417"/>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1"/>
            <a:r>
              <a:rPr lang="fa-IR" sz="2000" dirty="0">
                <a:cs typeface="B Titr" panose="00000700000000000000" pitchFamily="2" charset="-78"/>
              </a:rPr>
              <a:t>کمک می کند مدل در تولید محتوی آینده فقط به داده فعلی و گذشته توجه کند و از داده های آینده تقلب نکند.</a:t>
            </a:r>
          </a:p>
          <a:p>
            <a:pPr algn="ctr" rtl="1"/>
            <a:r>
              <a:rPr lang="fa-IR" sz="2000" dirty="0">
                <a:cs typeface="B Titr" panose="00000700000000000000" pitchFamily="2" charset="-78"/>
              </a:rPr>
              <a:t>این منجر به قابلیت‌های تولید متن واقعی‌تر و قوی‌تر می‌شود.</a:t>
            </a:r>
            <a:endParaRPr lang="en-US" sz="2000" dirty="0">
              <a:cs typeface="B Titr" panose="00000700000000000000" pitchFamily="2" charset="-78"/>
            </a:endParaRPr>
          </a:p>
        </p:txBody>
      </p:sp>
      <p:cxnSp>
        <p:nvCxnSpPr>
          <p:cNvPr id="11" name="Straight Arrow Connector 10">
            <a:extLst>
              <a:ext uri="{FF2B5EF4-FFF2-40B4-BE49-F238E27FC236}">
                <a16:creationId xmlns:a16="http://schemas.microsoft.com/office/drawing/2014/main" id="{C70F1E44-8802-E80D-86D4-7993AC0445AA}"/>
              </a:ext>
            </a:extLst>
          </p:cNvPr>
          <p:cNvCxnSpPr>
            <a:cxnSpLocks/>
          </p:cNvCxnSpPr>
          <p:nvPr/>
        </p:nvCxnSpPr>
        <p:spPr>
          <a:xfrm flipH="1">
            <a:off x="4876800" y="5308160"/>
            <a:ext cx="1514168" cy="85666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3" name="Rectangle: Rounded Corners 12">
            <a:extLst>
              <a:ext uri="{FF2B5EF4-FFF2-40B4-BE49-F238E27FC236}">
                <a16:creationId xmlns:a16="http://schemas.microsoft.com/office/drawing/2014/main" id="{7B9AEC63-BE65-93C2-CBC5-68F6F0D5BB32}"/>
              </a:ext>
            </a:extLst>
          </p:cNvPr>
          <p:cNvSpPr/>
          <p:nvPr/>
        </p:nvSpPr>
        <p:spPr>
          <a:xfrm>
            <a:off x="966020" y="6086168"/>
            <a:ext cx="3647768" cy="713573"/>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1"/>
            <a:r>
              <a:rPr lang="fa-IR" sz="2000" dirty="0">
                <a:cs typeface="B Titr" panose="00000700000000000000" pitchFamily="2" charset="-78"/>
              </a:rPr>
              <a:t>موقعیت توکن و ترتیب آنها را درنظر می گیرد.</a:t>
            </a:r>
            <a:endParaRPr lang="en-US" sz="2000" dirty="0">
              <a:cs typeface="B Titr" panose="00000700000000000000" pitchFamily="2" charset="-78"/>
            </a:endParaRPr>
          </a:p>
        </p:txBody>
      </p:sp>
      <p:sp>
        <p:nvSpPr>
          <p:cNvPr id="16" name="Freeform: Shape 15">
            <a:extLst>
              <a:ext uri="{FF2B5EF4-FFF2-40B4-BE49-F238E27FC236}">
                <a16:creationId xmlns:a16="http://schemas.microsoft.com/office/drawing/2014/main" id="{81BFF48C-55E8-79DE-BA0C-E59426465DF7}"/>
              </a:ext>
            </a:extLst>
          </p:cNvPr>
          <p:cNvSpPr/>
          <p:nvPr/>
        </p:nvSpPr>
        <p:spPr>
          <a:xfrm>
            <a:off x="6341806" y="1347019"/>
            <a:ext cx="5732207" cy="3549446"/>
          </a:xfrm>
          <a:custGeom>
            <a:avLst/>
            <a:gdLst>
              <a:gd name="connsiteX0" fmla="*/ 0 w 5732207"/>
              <a:gd name="connsiteY0" fmla="*/ 1887794 h 3549446"/>
              <a:gd name="connsiteX1" fmla="*/ 108155 w 5732207"/>
              <a:gd name="connsiteY1" fmla="*/ 1789471 h 3549446"/>
              <a:gd name="connsiteX2" fmla="*/ 167149 w 5732207"/>
              <a:gd name="connsiteY2" fmla="*/ 1730478 h 3549446"/>
              <a:gd name="connsiteX3" fmla="*/ 265471 w 5732207"/>
              <a:gd name="connsiteY3" fmla="*/ 1681316 h 3549446"/>
              <a:gd name="connsiteX4" fmla="*/ 294968 w 5732207"/>
              <a:gd name="connsiteY4" fmla="*/ 1661652 h 3549446"/>
              <a:gd name="connsiteX5" fmla="*/ 373626 w 5732207"/>
              <a:gd name="connsiteY5" fmla="*/ 1582994 h 3549446"/>
              <a:gd name="connsiteX6" fmla="*/ 442452 w 5732207"/>
              <a:gd name="connsiteY6" fmla="*/ 1543665 h 3549446"/>
              <a:gd name="connsiteX7" fmla="*/ 550607 w 5732207"/>
              <a:gd name="connsiteY7" fmla="*/ 1435510 h 3549446"/>
              <a:gd name="connsiteX8" fmla="*/ 757084 w 5732207"/>
              <a:gd name="connsiteY8" fmla="*/ 1278194 h 3549446"/>
              <a:gd name="connsiteX9" fmla="*/ 1012723 w 5732207"/>
              <a:gd name="connsiteY9" fmla="*/ 1081549 h 3549446"/>
              <a:gd name="connsiteX10" fmla="*/ 1111046 w 5732207"/>
              <a:gd name="connsiteY10" fmla="*/ 1022555 h 3549446"/>
              <a:gd name="connsiteX11" fmla="*/ 1209368 w 5732207"/>
              <a:gd name="connsiteY11" fmla="*/ 993058 h 3549446"/>
              <a:gd name="connsiteX12" fmla="*/ 1337188 w 5732207"/>
              <a:gd name="connsiteY12" fmla="*/ 884904 h 3549446"/>
              <a:gd name="connsiteX13" fmla="*/ 1406013 w 5732207"/>
              <a:gd name="connsiteY13" fmla="*/ 825910 h 3549446"/>
              <a:gd name="connsiteX14" fmla="*/ 1533833 w 5732207"/>
              <a:gd name="connsiteY14" fmla="*/ 747252 h 3549446"/>
              <a:gd name="connsiteX15" fmla="*/ 1582994 w 5732207"/>
              <a:gd name="connsiteY15" fmla="*/ 688258 h 3549446"/>
              <a:gd name="connsiteX16" fmla="*/ 1671484 w 5732207"/>
              <a:gd name="connsiteY16" fmla="*/ 609600 h 3549446"/>
              <a:gd name="connsiteX17" fmla="*/ 1730478 w 5732207"/>
              <a:gd name="connsiteY17" fmla="*/ 521110 h 3549446"/>
              <a:gd name="connsiteX18" fmla="*/ 1769807 w 5732207"/>
              <a:gd name="connsiteY18" fmla="*/ 471949 h 3549446"/>
              <a:gd name="connsiteX19" fmla="*/ 1868129 w 5732207"/>
              <a:gd name="connsiteY19" fmla="*/ 442452 h 3549446"/>
              <a:gd name="connsiteX20" fmla="*/ 1986117 w 5732207"/>
              <a:gd name="connsiteY20" fmla="*/ 383458 h 3549446"/>
              <a:gd name="connsiteX21" fmla="*/ 2281084 w 5732207"/>
              <a:gd name="connsiteY21" fmla="*/ 265471 h 3549446"/>
              <a:gd name="connsiteX22" fmla="*/ 2359742 w 5732207"/>
              <a:gd name="connsiteY22" fmla="*/ 255639 h 3549446"/>
              <a:gd name="connsiteX23" fmla="*/ 2438400 w 5732207"/>
              <a:gd name="connsiteY23" fmla="*/ 216310 h 3549446"/>
              <a:gd name="connsiteX24" fmla="*/ 2566220 w 5732207"/>
              <a:gd name="connsiteY24" fmla="*/ 127820 h 3549446"/>
              <a:gd name="connsiteX25" fmla="*/ 2615381 w 5732207"/>
              <a:gd name="connsiteY25" fmla="*/ 117987 h 3549446"/>
              <a:gd name="connsiteX26" fmla="*/ 2654710 w 5732207"/>
              <a:gd name="connsiteY26" fmla="*/ 88491 h 3549446"/>
              <a:gd name="connsiteX27" fmla="*/ 2821859 w 5732207"/>
              <a:gd name="connsiteY27" fmla="*/ 29497 h 3549446"/>
              <a:gd name="connsiteX28" fmla="*/ 2880852 w 5732207"/>
              <a:gd name="connsiteY28" fmla="*/ 19665 h 3549446"/>
              <a:gd name="connsiteX29" fmla="*/ 2949678 w 5732207"/>
              <a:gd name="connsiteY29" fmla="*/ 0 h 3549446"/>
              <a:gd name="connsiteX30" fmla="*/ 4119717 w 5732207"/>
              <a:gd name="connsiteY30" fmla="*/ 9833 h 3549446"/>
              <a:gd name="connsiteX31" fmla="*/ 4227871 w 5732207"/>
              <a:gd name="connsiteY31" fmla="*/ 29497 h 3549446"/>
              <a:gd name="connsiteX32" fmla="*/ 4345859 w 5732207"/>
              <a:gd name="connsiteY32" fmla="*/ 39329 h 3549446"/>
              <a:gd name="connsiteX33" fmla="*/ 4670323 w 5732207"/>
              <a:gd name="connsiteY33" fmla="*/ 68826 h 3549446"/>
              <a:gd name="connsiteX34" fmla="*/ 4788310 w 5732207"/>
              <a:gd name="connsiteY34" fmla="*/ 108155 h 3549446"/>
              <a:gd name="connsiteX35" fmla="*/ 5732207 w 5732207"/>
              <a:gd name="connsiteY35" fmla="*/ 186813 h 3549446"/>
              <a:gd name="connsiteX36" fmla="*/ 5683046 w 5732207"/>
              <a:gd name="connsiteY36" fmla="*/ 363794 h 3549446"/>
              <a:gd name="connsiteX37" fmla="*/ 5643717 w 5732207"/>
              <a:gd name="connsiteY37" fmla="*/ 776749 h 3549446"/>
              <a:gd name="connsiteX38" fmla="*/ 5673213 w 5732207"/>
              <a:gd name="connsiteY38" fmla="*/ 953729 h 3549446"/>
              <a:gd name="connsiteX39" fmla="*/ 5702710 w 5732207"/>
              <a:gd name="connsiteY39" fmla="*/ 1258529 h 3549446"/>
              <a:gd name="connsiteX40" fmla="*/ 5673213 w 5732207"/>
              <a:gd name="connsiteY40" fmla="*/ 1681316 h 3549446"/>
              <a:gd name="connsiteX41" fmla="*/ 5653549 w 5732207"/>
              <a:gd name="connsiteY41" fmla="*/ 1858297 h 3549446"/>
              <a:gd name="connsiteX42" fmla="*/ 5624052 w 5732207"/>
              <a:gd name="connsiteY42" fmla="*/ 1877962 h 3549446"/>
              <a:gd name="connsiteX43" fmla="*/ 5102942 w 5732207"/>
              <a:gd name="connsiteY43" fmla="*/ 1887794 h 3549446"/>
              <a:gd name="connsiteX44" fmla="*/ 4866968 w 5732207"/>
              <a:gd name="connsiteY44" fmla="*/ 1936955 h 3549446"/>
              <a:gd name="connsiteX45" fmla="*/ 4630994 w 5732207"/>
              <a:gd name="connsiteY45" fmla="*/ 1966452 h 3549446"/>
              <a:gd name="connsiteX46" fmla="*/ 4463846 w 5732207"/>
              <a:gd name="connsiteY46" fmla="*/ 1995949 h 3549446"/>
              <a:gd name="connsiteX47" fmla="*/ 4355691 w 5732207"/>
              <a:gd name="connsiteY47" fmla="*/ 2025446 h 3549446"/>
              <a:gd name="connsiteX48" fmla="*/ 3136491 w 5732207"/>
              <a:gd name="connsiteY48" fmla="*/ 2035278 h 3549446"/>
              <a:gd name="connsiteX49" fmla="*/ 3097162 w 5732207"/>
              <a:gd name="connsiteY49" fmla="*/ 2045110 h 3549446"/>
              <a:gd name="connsiteX50" fmla="*/ 3067665 w 5732207"/>
              <a:gd name="connsiteY50" fmla="*/ 2054942 h 3549446"/>
              <a:gd name="connsiteX51" fmla="*/ 3057833 w 5732207"/>
              <a:gd name="connsiteY51" fmla="*/ 2104104 h 3549446"/>
              <a:gd name="connsiteX52" fmla="*/ 3048000 w 5732207"/>
              <a:gd name="connsiteY52" fmla="*/ 2212258 h 3549446"/>
              <a:gd name="connsiteX53" fmla="*/ 3067665 w 5732207"/>
              <a:gd name="connsiteY53" fmla="*/ 2654710 h 3549446"/>
              <a:gd name="connsiteX54" fmla="*/ 3028336 w 5732207"/>
              <a:gd name="connsiteY54" fmla="*/ 2821858 h 3549446"/>
              <a:gd name="connsiteX55" fmla="*/ 3008671 w 5732207"/>
              <a:gd name="connsiteY55" fmla="*/ 2930013 h 3549446"/>
              <a:gd name="connsiteX56" fmla="*/ 2939846 w 5732207"/>
              <a:gd name="connsiteY56" fmla="*/ 3205316 h 3549446"/>
              <a:gd name="connsiteX57" fmla="*/ 2930013 w 5732207"/>
              <a:gd name="connsiteY57" fmla="*/ 3342968 h 3549446"/>
              <a:gd name="connsiteX58" fmla="*/ 2910349 w 5732207"/>
              <a:gd name="connsiteY58" fmla="*/ 3401962 h 3549446"/>
              <a:gd name="connsiteX59" fmla="*/ 2831691 w 5732207"/>
              <a:gd name="connsiteY59" fmla="*/ 3539613 h 3549446"/>
              <a:gd name="connsiteX60" fmla="*/ 2674375 w 5732207"/>
              <a:gd name="connsiteY60" fmla="*/ 3549446 h 3549446"/>
              <a:gd name="connsiteX61" fmla="*/ 1258529 w 5732207"/>
              <a:gd name="connsiteY61" fmla="*/ 3490452 h 3549446"/>
              <a:gd name="connsiteX62" fmla="*/ 363794 w 5732207"/>
              <a:gd name="connsiteY62" fmla="*/ 3362633 h 3549446"/>
              <a:gd name="connsiteX63" fmla="*/ 373626 w 5732207"/>
              <a:gd name="connsiteY63" fmla="*/ 2890684 h 3549446"/>
              <a:gd name="connsiteX64" fmla="*/ 393291 w 5732207"/>
              <a:gd name="connsiteY64" fmla="*/ 2753033 h 3549446"/>
              <a:gd name="connsiteX65" fmla="*/ 363794 w 5732207"/>
              <a:gd name="connsiteY65" fmla="*/ 2664542 h 3549446"/>
              <a:gd name="connsiteX66" fmla="*/ 334297 w 5732207"/>
              <a:gd name="connsiteY66" fmla="*/ 2487562 h 3549446"/>
              <a:gd name="connsiteX67" fmla="*/ 304800 w 5732207"/>
              <a:gd name="connsiteY67" fmla="*/ 2094271 h 3549446"/>
              <a:gd name="connsiteX68" fmla="*/ 265471 w 5732207"/>
              <a:gd name="connsiteY68" fmla="*/ 1848465 h 3549446"/>
              <a:gd name="connsiteX69" fmla="*/ 235975 w 5732207"/>
              <a:gd name="connsiteY69" fmla="*/ 1710813 h 35494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Lst>
            <a:rect l="l" t="t" r="r" b="b"/>
            <a:pathLst>
              <a:path w="5732207" h="3549446">
                <a:moveTo>
                  <a:pt x="0" y="1887794"/>
                </a:moveTo>
                <a:cubicBezTo>
                  <a:pt x="77818" y="1790521"/>
                  <a:pt x="-5795" y="1885890"/>
                  <a:pt x="108155" y="1789471"/>
                </a:cubicBezTo>
                <a:cubicBezTo>
                  <a:pt x="129385" y="1771508"/>
                  <a:pt x="144233" y="1746233"/>
                  <a:pt x="167149" y="1730478"/>
                </a:cubicBezTo>
                <a:cubicBezTo>
                  <a:pt x="197344" y="1709719"/>
                  <a:pt x="233208" y="1698688"/>
                  <a:pt x="265471" y="1681316"/>
                </a:cubicBezTo>
                <a:cubicBezTo>
                  <a:pt x="275875" y="1675714"/>
                  <a:pt x="286224" y="1669601"/>
                  <a:pt x="294968" y="1661652"/>
                </a:cubicBezTo>
                <a:cubicBezTo>
                  <a:pt x="322405" y="1636710"/>
                  <a:pt x="344672" y="1606158"/>
                  <a:pt x="373626" y="1582994"/>
                </a:cubicBezTo>
                <a:cubicBezTo>
                  <a:pt x="394259" y="1566487"/>
                  <a:pt x="422153" y="1560581"/>
                  <a:pt x="442452" y="1543665"/>
                </a:cubicBezTo>
                <a:cubicBezTo>
                  <a:pt x="481620" y="1511025"/>
                  <a:pt x="510052" y="1466409"/>
                  <a:pt x="550607" y="1435510"/>
                </a:cubicBezTo>
                <a:lnTo>
                  <a:pt x="757084" y="1278194"/>
                </a:lnTo>
                <a:cubicBezTo>
                  <a:pt x="823483" y="1226788"/>
                  <a:pt x="951623" y="1118209"/>
                  <a:pt x="1012723" y="1081549"/>
                </a:cubicBezTo>
                <a:cubicBezTo>
                  <a:pt x="1045497" y="1061884"/>
                  <a:pt x="1076191" y="1038240"/>
                  <a:pt x="1111046" y="1022555"/>
                </a:cubicBezTo>
                <a:cubicBezTo>
                  <a:pt x="1142249" y="1008513"/>
                  <a:pt x="1176594" y="1002890"/>
                  <a:pt x="1209368" y="993058"/>
                </a:cubicBezTo>
                <a:cubicBezTo>
                  <a:pt x="1298274" y="868590"/>
                  <a:pt x="1209703" y="969895"/>
                  <a:pt x="1337188" y="884904"/>
                </a:cubicBezTo>
                <a:cubicBezTo>
                  <a:pt x="1362329" y="868143"/>
                  <a:pt x="1382253" y="844578"/>
                  <a:pt x="1406013" y="825910"/>
                </a:cubicBezTo>
                <a:cubicBezTo>
                  <a:pt x="1471048" y="774811"/>
                  <a:pt x="1466530" y="780903"/>
                  <a:pt x="1533833" y="747252"/>
                </a:cubicBezTo>
                <a:cubicBezTo>
                  <a:pt x="1550220" y="727587"/>
                  <a:pt x="1564894" y="706358"/>
                  <a:pt x="1582994" y="688258"/>
                </a:cubicBezTo>
                <a:cubicBezTo>
                  <a:pt x="1650962" y="620290"/>
                  <a:pt x="1596454" y="705093"/>
                  <a:pt x="1671484" y="609600"/>
                </a:cubicBezTo>
                <a:cubicBezTo>
                  <a:pt x="1693386" y="581724"/>
                  <a:pt x="1709873" y="549957"/>
                  <a:pt x="1730478" y="521110"/>
                </a:cubicBezTo>
                <a:cubicBezTo>
                  <a:pt x="1742676" y="504033"/>
                  <a:pt x="1751586" y="482361"/>
                  <a:pt x="1769807" y="471949"/>
                </a:cubicBezTo>
                <a:cubicBezTo>
                  <a:pt x="1799516" y="454973"/>
                  <a:pt x="1836459" y="455408"/>
                  <a:pt x="1868129" y="442452"/>
                </a:cubicBezTo>
                <a:cubicBezTo>
                  <a:pt x="1908827" y="425803"/>
                  <a:pt x="1946271" y="402053"/>
                  <a:pt x="1986117" y="383458"/>
                </a:cubicBezTo>
                <a:cubicBezTo>
                  <a:pt x="2071595" y="343568"/>
                  <a:pt x="2184939" y="289507"/>
                  <a:pt x="2281084" y="265471"/>
                </a:cubicBezTo>
                <a:cubicBezTo>
                  <a:pt x="2306718" y="259062"/>
                  <a:pt x="2333523" y="258916"/>
                  <a:pt x="2359742" y="255639"/>
                </a:cubicBezTo>
                <a:cubicBezTo>
                  <a:pt x="2385961" y="242529"/>
                  <a:pt x="2413789" y="232235"/>
                  <a:pt x="2438400" y="216310"/>
                </a:cubicBezTo>
                <a:cubicBezTo>
                  <a:pt x="2481621" y="188343"/>
                  <a:pt x="2515761" y="144640"/>
                  <a:pt x="2566220" y="127820"/>
                </a:cubicBezTo>
                <a:cubicBezTo>
                  <a:pt x="2582074" y="122535"/>
                  <a:pt x="2598994" y="121265"/>
                  <a:pt x="2615381" y="117987"/>
                </a:cubicBezTo>
                <a:cubicBezTo>
                  <a:pt x="2628491" y="108155"/>
                  <a:pt x="2640324" y="96338"/>
                  <a:pt x="2654710" y="88491"/>
                </a:cubicBezTo>
                <a:cubicBezTo>
                  <a:pt x="2700229" y="63663"/>
                  <a:pt x="2774695" y="41288"/>
                  <a:pt x="2821859" y="29497"/>
                </a:cubicBezTo>
                <a:cubicBezTo>
                  <a:pt x="2841199" y="24662"/>
                  <a:pt x="2861427" y="24148"/>
                  <a:pt x="2880852" y="19665"/>
                </a:cubicBezTo>
                <a:cubicBezTo>
                  <a:pt x="2904101" y="14300"/>
                  <a:pt x="2926736" y="6555"/>
                  <a:pt x="2949678" y="0"/>
                </a:cubicBezTo>
                <a:lnTo>
                  <a:pt x="4119717" y="9833"/>
                </a:lnTo>
                <a:cubicBezTo>
                  <a:pt x="4156350" y="10678"/>
                  <a:pt x="4191536" y="24758"/>
                  <a:pt x="4227871" y="29497"/>
                </a:cubicBezTo>
                <a:cubicBezTo>
                  <a:pt x="4267005" y="34601"/>
                  <a:pt x="4306603" y="35268"/>
                  <a:pt x="4345859" y="39329"/>
                </a:cubicBezTo>
                <a:cubicBezTo>
                  <a:pt x="4641250" y="69887"/>
                  <a:pt x="4385780" y="51043"/>
                  <a:pt x="4670323" y="68826"/>
                </a:cubicBezTo>
                <a:cubicBezTo>
                  <a:pt x="4709652" y="81936"/>
                  <a:pt x="4746920" y="105812"/>
                  <a:pt x="4788310" y="108155"/>
                </a:cubicBezTo>
                <a:cubicBezTo>
                  <a:pt x="5744607" y="162285"/>
                  <a:pt x="5614331" y="-166802"/>
                  <a:pt x="5732207" y="186813"/>
                </a:cubicBezTo>
                <a:cubicBezTo>
                  <a:pt x="5715820" y="245807"/>
                  <a:pt x="5688428" y="302804"/>
                  <a:pt x="5683046" y="363794"/>
                </a:cubicBezTo>
                <a:cubicBezTo>
                  <a:pt x="5651227" y="724412"/>
                  <a:pt x="5667424" y="587090"/>
                  <a:pt x="5643717" y="776749"/>
                </a:cubicBezTo>
                <a:cubicBezTo>
                  <a:pt x="5653549" y="835742"/>
                  <a:pt x="5666952" y="894251"/>
                  <a:pt x="5673213" y="953729"/>
                </a:cubicBezTo>
                <a:cubicBezTo>
                  <a:pt x="5715488" y="1355339"/>
                  <a:pt x="5654215" y="991801"/>
                  <a:pt x="5702710" y="1258529"/>
                </a:cubicBezTo>
                <a:cubicBezTo>
                  <a:pt x="5692878" y="1399458"/>
                  <a:pt x="5684754" y="1540517"/>
                  <a:pt x="5673213" y="1681316"/>
                </a:cubicBezTo>
                <a:cubicBezTo>
                  <a:pt x="5668364" y="1740474"/>
                  <a:pt x="5702936" y="1825371"/>
                  <a:pt x="5653549" y="1858297"/>
                </a:cubicBezTo>
                <a:cubicBezTo>
                  <a:pt x="5643717" y="1864852"/>
                  <a:pt x="5635852" y="1877330"/>
                  <a:pt x="5624052" y="1877962"/>
                </a:cubicBezTo>
                <a:cubicBezTo>
                  <a:pt x="5450567" y="1887256"/>
                  <a:pt x="5276645" y="1884517"/>
                  <a:pt x="5102942" y="1887794"/>
                </a:cubicBezTo>
                <a:cubicBezTo>
                  <a:pt x="5019360" y="1907082"/>
                  <a:pt x="4951153" y="1924929"/>
                  <a:pt x="4866968" y="1936955"/>
                </a:cubicBezTo>
                <a:cubicBezTo>
                  <a:pt x="4507763" y="1988269"/>
                  <a:pt x="5103470" y="1890245"/>
                  <a:pt x="4630994" y="1966452"/>
                </a:cubicBezTo>
                <a:cubicBezTo>
                  <a:pt x="4575139" y="1975461"/>
                  <a:pt x="4519167" y="1984094"/>
                  <a:pt x="4463846" y="1995949"/>
                </a:cubicBezTo>
                <a:cubicBezTo>
                  <a:pt x="4427307" y="2003779"/>
                  <a:pt x="4393043" y="2024339"/>
                  <a:pt x="4355691" y="2025446"/>
                </a:cubicBezTo>
                <a:cubicBezTo>
                  <a:pt x="3949456" y="2037483"/>
                  <a:pt x="3542891" y="2032001"/>
                  <a:pt x="3136491" y="2035278"/>
                </a:cubicBezTo>
                <a:cubicBezTo>
                  <a:pt x="3123381" y="2038555"/>
                  <a:pt x="3110155" y="2041398"/>
                  <a:pt x="3097162" y="2045110"/>
                </a:cubicBezTo>
                <a:cubicBezTo>
                  <a:pt x="3087197" y="2047957"/>
                  <a:pt x="3073414" y="2046318"/>
                  <a:pt x="3067665" y="2054942"/>
                </a:cubicBezTo>
                <a:cubicBezTo>
                  <a:pt x="3058395" y="2068847"/>
                  <a:pt x="3061110" y="2087717"/>
                  <a:pt x="3057833" y="2104104"/>
                </a:cubicBezTo>
                <a:cubicBezTo>
                  <a:pt x="3054555" y="2140155"/>
                  <a:pt x="3047354" y="2176064"/>
                  <a:pt x="3048000" y="2212258"/>
                </a:cubicBezTo>
                <a:cubicBezTo>
                  <a:pt x="3050636" y="2359864"/>
                  <a:pt x="3072425" y="2507157"/>
                  <a:pt x="3067665" y="2654710"/>
                </a:cubicBezTo>
                <a:cubicBezTo>
                  <a:pt x="3065820" y="2711918"/>
                  <a:pt x="3040329" y="2765891"/>
                  <a:pt x="3028336" y="2821858"/>
                </a:cubicBezTo>
                <a:cubicBezTo>
                  <a:pt x="3020658" y="2857687"/>
                  <a:pt x="3017222" y="2894382"/>
                  <a:pt x="3008671" y="2930013"/>
                </a:cubicBezTo>
                <a:cubicBezTo>
                  <a:pt x="2886845" y="3437620"/>
                  <a:pt x="3047787" y="2701579"/>
                  <a:pt x="2939846" y="3205316"/>
                </a:cubicBezTo>
                <a:cubicBezTo>
                  <a:pt x="2936568" y="3251200"/>
                  <a:pt x="2936837" y="3297476"/>
                  <a:pt x="2930013" y="3342968"/>
                </a:cubicBezTo>
                <a:cubicBezTo>
                  <a:pt x="2926938" y="3363467"/>
                  <a:pt x="2914169" y="3381589"/>
                  <a:pt x="2910349" y="3401962"/>
                </a:cubicBezTo>
                <a:cubicBezTo>
                  <a:pt x="2894925" y="3484226"/>
                  <a:pt x="2931492" y="3517917"/>
                  <a:pt x="2831691" y="3539613"/>
                </a:cubicBezTo>
                <a:cubicBezTo>
                  <a:pt x="2780349" y="3550774"/>
                  <a:pt x="2726814" y="3546168"/>
                  <a:pt x="2674375" y="3549446"/>
                </a:cubicBezTo>
                <a:cubicBezTo>
                  <a:pt x="2217736" y="3539519"/>
                  <a:pt x="1719795" y="3545288"/>
                  <a:pt x="1258529" y="3490452"/>
                </a:cubicBezTo>
                <a:cubicBezTo>
                  <a:pt x="959363" y="3454887"/>
                  <a:pt x="662039" y="3405239"/>
                  <a:pt x="363794" y="3362633"/>
                </a:cubicBezTo>
                <a:cubicBezTo>
                  <a:pt x="367071" y="3205317"/>
                  <a:pt x="366021" y="3047851"/>
                  <a:pt x="373626" y="2890684"/>
                </a:cubicBezTo>
                <a:cubicBezTo>
                  <a:pt x="375866" y="2844389"/>
                  <a:pt x="395304" y="2799339"/>
                  <a:pt x="393291" y="2753033"/>
                </a:cubicBezTo>
                <a:cubicBezTo>
                  <a:pt x="391940" y="2721970"/>
                  <a:pt x="370539" y="2694894"/>
                  <a:pt x="363794" y="2664542"/>
                </a:cubicBezTo>
                <a:cubicBezTo>
                  <a:pt x="350820" y="2606159"/>
                  <a:pt x="342469" y="2546808"/>
                  <a:pt x="334297" y="2487562"/>
                </a:cubicBezTo>
                <a:cubicBezTo>
                  <a:pt x="316070" y="2355415"/>
                  <a:pt x="326350" y="2228961"/>
                  <a:pt x="304800" y="2094271"/>
                </a:cubicBezTo>
                <a:cubicBezTo>
                  <a:pt x="291690" y="2012336"/>
                  <a:pt x="284129" y="1929318"/>
                  <a:pt x="265471" y="1848465"/>
                </a:cubicBezTo>
                <a:cubicBezTo>
                  <a:pt x="235238" y="1717452"/>
                  <a:pt x="235975" y="1764372"/>
                  <a:pt x="235975" y="1710813"/>
                </a:cubicBezTo>
              </a:path>
            </a:pathLst>
          </a:custGeom>
        </p:spPr>
        <p:style>
          <a:lnRef idx="3">
            <a:schemeClr val="dk1"/>
          </a:lnRef>
          <a:fillRef idx="0">
            <a:schemeClr val="dk1"/>
          </a:fillRef>
          <a:effectRef idx="2">
            <a:schemeClr val="dk1"/>
          </a:effectRef>
          <a:fontRef idx="minor">
            <a:schemeClr val="tx1"/>
          </a:fontRef>
        </p:style>
        <p:txBody>
          <a:bodyPr rtlCol="0" anchor="ctr">
            <a:scene3d>
              <a:camera prst="orthographicFront"/>
              <a:lightRig rig="soft" dir="t">
                <a:rot lat="0" lon="0" rev="15600000"/>
              </a:lightRig>
            </a:scene3d>
            <a:sp3d extrusionH="57150" prstMaterial="softEdge">
              <a:bevelT w="25400" h="38100"/>
            </a:sp3d>
          </a:bodyPr>
          <a:lstStyle/>
          <a:p>
            <a:pPr algn="ctr"/>
            <a:endParaRPr lang="en-US" b="1">
              <a:ln/>
              <a:solidFill>
                <a:schemeClr val="accent4"/>
              </a:solidFill>
            </a:endParaRPr>
          </a:p>
        </p:txBody>
      </p:sp>
    </p:spTree>
    <p:extLst>
      <p:ext uri="{BB962C8B-B14F-4D97-AF65-F5344CB8AC3E}">
        <p14:creationId xmlns:p14="http://schemas.microsoft.com/office/powerpoint/2010/main" val="266900470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AB9A95-44A6-608F-1C24-023CAA1AAED4}"/>
              </a:ext>
            </a:extLst>
          </p:cNvPr>
          <p:cNvSpPr>
            <a:spLocks noGrp="1"/>
          </p:cNvSpPr>
          <p:nvPr>
            <p:ph type="title"/>
          </p:nvPr>
        </p:nvSpPr>
        <p:spPr/>
        <p:txBody>
          <a:bodyPr/>
          <a:lstStyle/>
          <a:p>
            <a:r>
              <a:rPr lang="en-US" dirty="0"/>
              <a:t>Pre-trained Transformers </a:t>
            </a:r>
          </a:p>
        </p:txBody>
      </p:sp>
      <p:sp>
        <p:nvSpPr>
          <p:cNvPr id="3" name="Content Placeholder 2">
            <a:extLst>
              <a:ext uri="{FF2B5EF4-FFF2-40B4-BE49-F238E27FC236}">
                <a16:creationId xmlns:a16="http://schemas.microsoft.com/office/drawing/2014/main" id="{E37134A9-ABAA-FACD-A8F6-905BF9806BA4}"/>
              </a:ext>
            </a:extLst>
          </p:cNvPr>
          <p:cNvSpPr>
            <a:spLocks noGrp="1"/>
          </p:cNvSpPr>
          <p:nvPr>
            <p:ph idx="1"/>
          </p:nvPr>
        </p:nvSpPr>
        <p:spPr/>
        <p:txBody>
          <a:bodyPr/>
          <a:lstStyle/>
          <a:p>
            <a:r>
              <a:rPr lang="en-US" dirty="0"/>
              <a:t>PTLMs (pre-trained language models) like BERT, GPT-2, and T5.</a:t>
            </a:r>
          </a:p>
          <a:p>
            <a:endParaRPr lang="en-US" dirty="0"/>
          </a:p>
          <a:p>
            <a:endParaRPr lang="en-US" dirty="0"/>
          </a:p>
          <a:p>
            <a:endParaRPr lang="en-US" dirty="0"/>
          </a:p>
          <a:p>
            <a:r>
              <a:rPr lang="en-US" dirty="0"/>
              <a:t>Emphasize the power of transfer learning from these models for various NLP tasks.</a:t>
            </a:r>
          </a:p>
        </p:txBody>
      </p:sp>
    </p:spTree>
    <p:extLst>
      <p:ext uri="{BB962C8B-B14F-4D97-AF65-F5344CB8AC3E}">
        <p14:creationId xmlns:p14="http://schemas.microsoft.com/office/powerpoint/2010/main" val="422846188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B52BCB-EE0D-73C8-28DD-D93CAB9F87F8}"/>
              </a:ext>
            </a:extLst>
          </p:cNvPr>
          <p:cNvSpPr>
            <a:spLocks noGrp="1"/>
          </p:cNvSpPr>
          <p:nvPr>
            <p:ph type="title"/>
          </p:nvPr>
        </p:nvSpPr>
        <p:spPr/>
        <p:txBody>
          <a:bodyPr/>
          <a:lstStyle/>
          <a:p>
            <a:r>
              <a:rPr lang="en-US" dirty="0"/>
              <a:t>hugging face</a:t>
            </a:r>
          </a:p>
        </p:txBody>
      </p:sp>
      <p:sp>
        <p:nvSpPr>
          <p:cNvPr id="3" name="Content Placeholder 2">
            <a:extLst>
              <a:ext uri="{FF2B5EF4-FFF2-40B4-BE49-F238E27FC236}">
                <a16:creationId xmlns:a16="http://schemas.microsoft.com/office/drawing/2014/main" id="{BA199095-0647-636F-D078-11459826D8D8}"/>
              </a:ext>
            </a:extLst>
          </p:cNvPr>
          <p:cNvSpPr>
            <a:spLocks noGrp="1"/>
          </p:cNvSpPr>
          <p:nvPr>
            <p:ph idx="1"/>
          </p:nvPr>
        </p:nvSpPr>
        <p:spPr/>
        <p:txBody>
          <a:bodyPr/>
          <a:lstStyle/>
          <a:p>
            <a:endParaRPr lang="en-US" dirty="0"/>
          </a:p>
        </p:txBody>
      </p:sp>
      <p:pic>
        <p:nvPicPr>
          <p:cNvPr id="1026" name="Picture 2">
            <a:extLst>
              <a:ext uri="{FF2B5EF4-FFF2-40B4-BE49-F238E27FC236}">
                <a16:creationId xmlns:a16="http://schemas.microsoft.com/office/drawing/2014/main" id="{E1190D82-ECBE-4A75-CFD9-C32D618836A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837625" y="3026031"/>
            <a:ext cx="2143125" cy="21431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9558716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F15A50-4EF6-CD3F-89E2-A1AAD8570A85}"/>
              </a:ext>
            </a:extLst>
          </p:cNvPr>
          <p:cNvSpPr>
            <a:spLocks noGrp="1"/>
          </p:cNvSpPr>
          <p:nvPr>
            <p:ph type="title"/>
          </p:nvPr>
        </p:nvSpPr>
        <p:spPr/>
        <p:txBody>
          <a:bodyPr>
            <a:normAutofit/>
          </a:bodyPr>
          <a:lstStyle/>
          <a:p>
            <a:r>
              <a:rPr lang="en-US" sz="6000" b="1" dirty="0"/>
              <a:t>Pretrained vs fine tuned model</a:t>
            </a:r>
          </a:p>
        </p:txBody>
      </p:sp>
      <p:pic>
        <p:nvPicPr>
          <p:cNvPr id="9" name="Content Placeholder 8">
            <a:extLst>
              <a:ext uri="{FF2B5EF4-FFF2-40B4-BE49-F238E27FC236}">
                <a16:creationId xmlns:a16="http://schemas.microsoft.com/office/drawing/2014/main" id="{F58926FF-A096-425A-D3C1-1902760F0252}"/>
              </a:ext>
            </a:extLst>
          </p:cNvPr>
          <p:cNvPicPr>
            <a:picLocks noGrp="1" noChangeAspect="1"/>
          </p:cNvPicPr>
          <p:nvPr>
            <p:ph idx="1"/>
          </p:nvPr>
        </p:nvPicPr>
        <p:blipFill>
          <a:blip r:embed="rId2"/>
          <a:stretch>
            <a:fillRect/>
          </a:stretch>
        </p:blipFill>
        <p:spPr>
          <a:xfrm>
            <a:off x="1042218" y="4529955"/>
            <a:ext cx="10311581" cy="2199275"/>
          </a:xfrm>
          <a:prstGeom prst="rect">
            <a:avLst/>
          </a:prstGeom>
          <a:ln w="228600" cap="sq" cmpd="thickThin">
            <a:solidFill>
              <a:srgbClr val="000000"/>
            </a:solidFill>
            <a:prstDash val="solid"/>
            <a:miter lim="800000"/>
          </a:ln>
          <a:effectLst>
            <a:innerShdw blurRad="76200">
              <a:srgbClr val="000000"/>
            </a:innerShdw>
          </a:effectLst>
        </p:spPr>
      </p:pic>
      <p:pic>
        <p:nvPicPr>
          <p:cNvPr id="7" name="Picture 6">
            <a:extLst>
              <a:ext uri="{FF2B5EF4-FFF2-40B4-BE49-F238E27FC236}">
                <a16:creationId xmlns:a16="http://schemas.microsoft.com/office/drawing/2014/main" id="{D0BBB6CD-D733-56A4-72BE-7E7D84723BF7}"/>
              </a:ext>
            </a:extLst>
          </p:cNvPr>
          <p:cNvPicPr>
            <a:picLocks noChangeAspect="1"/>
          </p:cNvPicPr>
          <p:nvPr/>
        </p:nvPicPr>
        <p:blipFill>
          <a:blip r:embed="rId3"/>
          <a:stretch>
            <a:fillRect/>
          </a:stretch>
        </p:blipFill>
        <p:spPr>
          <a:xfrm>
            <a:off x="1042219" y="1825626"/>
            <a:ext cx="10311580" cy="2199274"/>
          </a:xfrm>
          <a:prstGeom prst="rect">
            <a:avLst/>
          </a:prstGeom>
          <a:ln w="228600" cap="sq" cmpd="thickThin">
            <a:solidFill>
              <a:srgbClr val="000000"/>
            </a:solidFill>
            <a:prstDash val="solid"/>
            <a:miter lim="800000"/>
          </a:ln>
          <a:effectLst>
            <a:innerShdw blurRad="76200">
              <a:srgbClr val="000000"/>
            </a:innerShdw>
          </a:effectLst>
        </p:spPr>
      </p:pic>
    </p:spTree>
    <p:extLst>
      <p:ext uri="{BB962C8B-B14F-4D97-AF65-F5344CB8AC3E}">
        <p14:creationId xmlns:p14="http://schemas.microsoft.com/office/powerpoint/2010/main" val="112803139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447F1A-3BE1-33B6-CD6D-CD3AFC241D0E}"/>
              </a:ext>
            </a:extLst>
          </p:cNvPr>
          <p:cNvSpPr>
            <a:spLocks noGrp="1"/>
          </p:cNvSpPr>
          <p:nvPr>
            <p:ph type="title"/>
          </p:nvPr>
        </p:nvSpPr>
        <p:spPr/>
        <p:txBody>
          <a:bodyPr/>
          <a:lstStyle/>
          <a:p>
            <a:r>
              <a:rPr lang="en-US" dirty="0"/>
              <a:t>Bert</a:t>
            </a:r>
          </a:p>
        </p:txBody>
      </p:sp>
      <p:sp>
        <p:nvSpPr>
          <p:cNvPr id="3" name="Content Placeholder 2">
            <a:extLst>
              <a:ext uri="{FF2B5EF4-FFF2-40B4-BE49-F238E27FC236}">
                <a16:creationId xmlns:a16="http://schemas.microsoft.com/office/drawing/2014/main" id="{77FF2F25-F4DA-2DE0-DF1F-5B0B88412E55}"/>
              </a:ext>
            </a:extLst>
          </p:cNvPr>
          <p:cNvSpPr>
            <a:spLocks noGrp="1"/>
          </p:cNvSpPr>
          <p:nvPr>
            <p:ph idx="1"/>
          </p:nvPr>
        </p:nvSpPr>
        <p:spPr/>
        <p:txBody>
          <a:bodyPr/>
          <a:lstStyle/>
          <a:p>
            <a:endParaRPr lang="en-US" dirty="0"/>
          </a:p>
        </p:txBody>
      </p:sp>
      <p:pic>
        <p:nvPicPr>
          <p:cNvPr id="4" name="Picture 3">
            <a:extLst>
              <a:ext uri="{FF2B5EF4-FFF2-40B4-BE49-F238E27FC236}">
                <a16:creationId xmlns:a16="http://schemas.microsoft.com/office/drawing/2014/main" id="{CA371C9D-CA71-21DA-46A0-1FFCBB565D65}"/>
              </a:ext>
            </a:extLst>
          </p:cNvPr>
          <p:cNvPicPr>
            <a:picLocks noChangeAspect="1"/>
          </p:cNvPicPr>
          <p:nvPr/>
        </p:nvPicPr>
        <p:blipFill>
          <a:blip r:embed="rId2"/>
          <a:stretch>
            <a:fillRect/>
          </a:stretch>
        </p:blipFill>
        <p:spPr>
          <a:xfrm>
            <a:off x="1838018" y="1825626"/>
            <a:ext cx="7277100" cy="3788594"/>
          </a:xfrm>
          <a:prstGeom prst="rect">
            <a:avLst/>
          </a:prstGeom>
        </p:spPr>
      </p:pic>
      <p:sp>
        <p:nvSpPr>
          <p:cNvPr id="6" name="TextBox 5">
            <a:extLst>
              <a:ext uri="{FF2B5EF4-FFF2-40B4-BE49-F238E27FC236}">
                <a16:creationId xmlns:a16="http://schemas.microsoft.com/office/drawing/2014/main" id="{F490E027-88D5-E731-D220-882FBE5A3EBE}"/>
              </a:ext>
            </a:extLst>
          </p:cNvPr>
          <p:cNvSpPr txBox="1"/>
          <p:nvPr/>
        </p:nvSpPr>
        <p:spPr>
          <a:xfrm>
            <a:off x="757085" y="5715299"/>
            <a:ext cx="10412360" cy="646331"/>
          </a:xfrm>
          <a:prstGeom prst="rect">
            <a:avLst/>
          </a:prstGeom>
          <a:noFill/>
        </p:spPr>
        <p:txBody>
          <a:bodyPr wrap="square">
            <a:spAutoFit/>
          </a:bodyPr>
          <a:lstStyle/>
          <a:p>
            <a:pPr algn="l"/>
            <a:r>
              <a:rPr lang="en-US" b="0" i="0" dirty="0">
                <a:solidFill>
                  <a:srgbClr val="111111"/>
                </a:solidFill>
                <a:effectLst/>
                <a:latin typeface="Roboto" panose="02000000000000000000" pitchFamily="2" charset="0"/>
              </a:rPr>
              <a:t>Left: the overall BERT architecture; middle: the architecture of multi-head self-attention module; right: the architecture of scaled dot-product attention layer.</a:t>
            </a:r>
          </a:p>
        </p:txBody>
      </p:sp>
    </p:spTree>
    <p:extLst>
      <p:ext uri="{BB962C8B-B14F-4D97-AF65-F5344CB8AC3E}">
        <p14:creationId xmlns:p14="http://schemas.microsoft.com/office/powerpoint/2010/main" val="283119604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CC92B3-075F-B680-660B-B5D6054531AA}"/>
              </a:ext>
            </a:extLst>
          </p:cNvPr>
          <p:cNvSpPr>
            <a:spLocks noGrp="1"/>
          </p:cNvSpPr>
          <p:nvPr>
            <p:ph type="title"/>
          </p:nvPr>
        </p:nvSpPr>
        <p:spPr/>
        <p:txBody>
          <a:bodyPr/>
          <a:lstStyle/>
          <a:p>
            <a:r>
              <a:rPr lang="en-US" dirty="0" err="1"/>
              <a:t>RoBERTa</a:t>
            </a:r>
            <a:endParaRPr lang="en-US" dirty="0"/>
          </a:p>
        </p:txBody>
      </p:sp>
      <p:sp>
        <p:nvSpPr>
          <p:cNvPr id="3" name="Content Placeholder 2">
            <a:extLst>
              <a:ext uri="{FF2B5EF4-FFF2-40B4-BE49-F238E27FC236}">
                <a16:creationId xmlns:a16="http://schemas.microsoft.com/office/drawing/2014/main" id="{0872F96C-8B63-44D4-6A2B-5980ED30ACF0}"/>
              </a:ext>
            </a:extLst>
          </p:cNvPr>
          <p:cNvSpPr>
            <a:spLocks noGrp="1"/>
          </p:cNvSpPr>
          <p:nvPr>
            <p:ph idx="1"/>
          </p:nvPr>
        </p:nvSpPr>
        <p:spPr/>
        <p:txBody>
          <a:bodyPr/>
          <a:lstStyle/>
          <a:p>
            <a:pPr marL="0" indent="0" algn="ctr">
              <a:buNone/>
            </a:pPr>
            <a:r>
              <a:rPr lang="en-US" b="0" i="0" dirty="0">
                <a:solidFill>
                  <a:srgbClr val="4B5563"/>
                </a:solidFill>
                <a:effectLst/>
                <a:latin typeface="Source Sans Pro" panose="020B0503030403020204" pitchFamily="34" charset="0"/>
              </a:rPr>
              <a:t>The </a:t>
            </a:r>
            <a:r>
              <a:rPr lang="en-US" b="0" i="0" dirty="0" err="1">
                <a:solidFill>
                  <a:srgbClr val="4B5563"/>
                </a:solidFill>
                <a:effectLst/>
                <a:latin typeface="Source Sans Pro" panose="020B0503030403020204" pitchFamily="34" charset="0"/>
              </a:rPr>
              <a:t>RoBERTa</a:t>
            </a:r>
            <a:r>
              <a:rPr lang="en-US" b="0" i="0" dirty="0">
                <a:solidFill>
                  <a:srgbClr val="4B5563"/>
                </a:solidFill>
                <a:effectLst/>
                <a:latin typeface="Source Sans Pro" panose="020B0503030403020204" pitchFamily="34" charset="0"/>
              </a:rPr>
              <a:t> model was proposed in </a:t>
            </a:r>
            <a:r>
              <a:rPr lang="en-US" b="0" i="0" u="sng" dirty="0" err="1">
                <a:effectLst/>
                <a:latin typeface="Source Sans Pro" panose="020B0503030403020204" pitchFamily="34" charset="0"/>
                <a:hlinkClick r:id="rId2"/>
              </a:rPr>
              <a:t>RoBERTa</a:t>
            </a:r>
            <a:r>
              <a:rPr lang="en-US" b="0" i="0" u="sng" dirty="0">
                <a:effectLst/>
                <a:latin typeface="Source Sans Pro" panose="020B0503030403020204" pitchFamily="34" charset="0"/>
                <a:hlinkClick r:id="rId2"/>
              </a:rPr>
              <a:t>: A Robustly Optimized BERT Pretraining Approach</a:t>
            </a:r>
            <a:r>
              <a:rPr lang="en-US" b="0" i="0" dirty="0">
                <a:solidFill>
                  <a:srgbClr val="4B5563"/>
                </a:solidFill>
                <a:effectLst/>
                <a:latin typeface="Source Sans Pro" panose="020B0503030403020204" pitchFamily="34" charset="0"/>
              </a:rPr>
              <a:t> by </a:t>
            </a:r>
            <a:r>
              <a:rPr lang="en-US" b="0" i="0" dirty="0" err="1">
                <a:solidFill>
                  <a:srgbClr val="4B5563"/>
                </a:solidFill>
                <a:effectLst/>
                <a:latin typeface="Source Sans Pro" panose="020B0503030403020204" pitchFamily="34" charset="0"/>
              </a:rPr>
              <a:t>Yinhan</a:t>
            </a:r>
            <a:r>
              <a:rPr lang="en-US" b="0" i="0" dirty="0">
                <a:solidFill>
                  <a:srgbClr val="4B5563"/>
                </a:solidFill>
                <a:effectLst/>
                <a:latin typeface="Source Sans Pro" panose="020B0503030403020204" pitchFamily="34" charset="0"/>
              </a:rPr>
              <a:t> Liu, </a:t>
            </a:r>
            <a:r>
              <a:rPr lang="en-US" b="0" i="0" u="sng" dirty="0" err="1">
                <a:effectLst/>
                <a:latin typeface="Source Sans Pro" panose="020B0503030403020204" pitchFamily="34" charset="0"/>
                <a:hlinkClick r:id="rId3"/>
              </a:rPr>
              <a:t>Myle</a:t>
            </a:r>
            <a:r>
              <a:rPr lang="en-US" b="0" i="0" u="sng" dirty="0">
                <a:effectLst/>
                <a:latin typeface="Source Sans Pro" panose="020B0503030403020204" pitchFamily="34" charset="0"/>
                <a:hlinkClick r:id="rId3"/>
              </a:rPr>
              <a:t> Ott</a:t>
            </a:r>
            <a:r>
              <a:rPr lang="en-US" b="0" i="0" dirty="0">
                <a:solidFill>
                  <a:srgbClr val="4B5563"/>
                </a:solidFill>
                <a:effectLst/>
                <a:latin typeface="Source Sans Pro" panose="020B0503030403020204" pitchFamily="34" charset="0"/>
              </a:rPr>
              <a:t>, Naman Goyal, </a:t>
            </a:r>
            <a:r>
              <a:rPr lang="en-US" b="0" i="0" dirty="0" err="1">
                <a:solidFill>
                  <a:srgbClr val="4B5563"/>
                </a:solidFill>
                <a:effectLst/>
                <a:latin typeface="Source Sans Pro" panose="020B0503030403020204" pitchFamily="34" charset="0"/>
              </a:rPr>
              <a:t>Jingfei</a:t>
            </a:r>
            <a:r>
              <a:rPr lang="en-US" b="0" i="0" dirty="0">
                <a:solidFill>
                  <a:srgbClr val="4B5563"/>
                </a:solidFill>
                <a:effectLst/>
                <a:latin typeface="Source Sans Pro" panose="020B0503030403020204" pitchFamily="34" charset="0"/>
              </a:rPr>
              <a:t> Du, Mandar Joshi, </a:t>
            </a:r>
            <a:r>
              <a:rPr lang="en-US" b="0" i="0" dirty="0" err="1">
                <a:solidFill>
                  <a:srgbClr val="4B5563"/>
                </a:solidFill>
                <a:effectLst/>
                <a:latin typeface="Source Sans Pro" panose="020B0503030403020204" pitchFamily="34" charset="0"/>
              </a:rPr>
              <a:t>Danqi</a:t>
            </a:r>
            <a:r>
              <a:rPr lang="en-US" b="0" i="0" dirty="0">
                <a:solidFill>
                  <a:srgbClr val="4B5563"/>
                </a:solidFill>
                <a:effectLst/>
                <a:latin typeface="Source Sans Pro" panose="020B0503030403020204" pitchFamily="34" charset="0"/>
              </a:rPr>
              <a:t> Chen, Omer Levy, Mike Lewis, Luke </a:t>
            </a:r>
            <a:r>
              <a:rPr lang="en-US" b="0" i="0" dirty="0" err="1">
                <a:solidFill>
                  <a:srgbClr val="4B5563"/>
                </a:solidFill>
                <a:effectLst/>
                <a:latin typeface="Source Sans Pro" panose="020B0503030403020204" pitchFamily="34" charset="0"/>
              </a:rPr>
              <a:t>Zettlemoyer</a:t>
            </a:r>
            <a:r>
              <a:rPr lang="en-US" b="0" i="0" dirty="0">
                <a:solidFill>
                  <a:srgbClr val="4B5563"/>
                </a:solidFill>
                <a:effectLst/>
                <a:latin typeface="Source Sans Pro" panose="020B0503030403020204" pitchFamily="34" charset="0"/>
              </a:rPr>
              <a:t>, </a:t>
            </a:r>
            <a:r>
              <a:rPr lang="en-US" b="0" i="0" dirty="0" err="1">
                <a:solidFill>
                  <a:srgbClr val="4B5563"/>
                </a:solidFill>
                <a:effectLst/>
                <a:latin typeface="Source Sans Pro" panose="020B0503030403020204" pitchFamily="34" charset="0"/>
              </a:rPr>
              <a:t>Veselin</a:t>
            </a:r>
            <a:r>
              <a:rPr lang="en-US" b="0" i="0" dirty="0">
                <a:solidFill>
                  <a:srgbClr val="4B5563"/>
                </a:solidFill>
                <a:effectLst/>
                <a:latin typeface="Source Sans Pro" panose="020B0503030403020204" pitchFamily="34" charset="0"/>
              </a:rPr>
              <a:t> </a:t>
            </a:r>
            <a:r>
              <a:rPr lang="en-US" b="0" i="0" dirty="0" err="1">
                <a:solidFill>
                  <a:srgbClr val="4B5563"/>
                </a:solidFill>
                <a:effectLst/>
                <a:latin typeface="Source Sans Pro" panose="020B0503030403020204" pitchFamily="34" charset="0"/>
              </a:rPr>
              <a:t>Stoyanov</a:t>
            </a:r>
            <a:r>
              <a:rPr lang="en-US" b="0" i="0" dirty="0">
                <a:solidFill>
                  <a:srgbClr val="4B5563"/>
                </a:solidFill>
                <a:effectLst/>
                <a:latin typeface="Source Sans Pro" panose="020B0503030403020204" pitchFamily="34" charset="0"/>
              </a:rPr>
              <a:t>. It is based on Google’s BERT model released in 2018</a:t>
            </a:r>
            <a:endParaRPr lang="en-US" dirty="0"/>
          </a:p>
        </p:txBody>
      </p:sp>
    </p:spTree>
    <p:extLst>
      <p:ext uri="{BB962C8B-B14F-4D97-AF65-F5344CB8AC3E}">
        <p14:creationId xmlns:p14="http://schemas.microsoft.com/office/powerpoint/2010/main" val="138309704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7F834E-E87A-ABAA-2E84-6125BA8CE3E0}"/>
              </a:ext>
            </a:extLst>
          </p:cNvPr>
          <p:cNvSpPr>
            <a:spLocks noGrp="1"/>
          </p:cNvSpPr>
          <p:nvPr>
            <p:ph type="title"/>
          </p:nvPr>
        </p:nvSpPr>
        <p:spPr/>
        <p:txBody>
          <a:bodyPr/>
          <a:lstStyle/>
          <a:p>
            <a:r>
              <a:rPr lang="en-US" sz="4400"/>
              <a:t>architecture</a:t>
            </a:r>
            <a:endParaRPr lang="en-US" dirty="0"/>
          </a:p>
        </p:txBody>
      </p:sp>
      <p:sp>
        <p:nvSpPr>
          <p:cNvPr id="3" name="Content Placeholder 2">
            <a:extLst>
              <a:ext uri="{FF2B5EF4-FFF2-40B4-BE49-F238E27FC236}">
                <a16:creationId xmlns:a16="http://schemas.microsoft.com/office/drawing/2014/main" id="{12076979-6A0C-E6EE-5D3F-9BEDE66C2354}"/>
              </a:ext>
            </a:extLst>
          </p:cNvPr>
          <p:cNvSpPr>
            <a:spLocks noGrp="1"/>
          </p:cNvSpPr>
          <p:nvPr>
            <p:ph idx="1"/>
          </p:nvPr>
        </p:nvSpPr>
        <p:spPr/>
        <p:txBody>
          <a:bodyPr>
            <a:normAutofit/>
          </a:bodyPr>
          <a:lstStyle/>
          <a:p>
            <a:pPr marL="0" indent="0" algn="ctr">
              <a:buNone/>
            </a:pPr>
            <a:r>
              <a:rPr lang="en-US" sz="4400" dirty="0" err="1"/>
              <a:t>RoBERTa</a:t>
            </a:r>
            <a:r>
              <a:rPr lang="en-US" sz="4400" dirty="0"/>
              <a:t> has the same architecture as BERT, but uses a byte-level BPE as a tokenizer (same as GPT-2) and uses a different pretraining scheme.</a:t>
            </a:r>
          </a:p>
        </p:txBody>
      </p:sp>
    </p:spTree>
    <p:extLst>
      <p:ext uri="{BB962C8B-B14F-4D97-AF65-F5344CB8AC3E}">
        <p14:creationId xmlns:p14="http://schemas.microsoft.com/office/powerpoint/2010/main" val="421908560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966</TotalTime>
  <Words>1808</Words>
  <Application>Microsoft Office PowerPoint</Application>
  <PresentationFormat>Widescreen</PresentationFormat>
  <Paragraphs>129</Paragraphs>
  <Slides>28</Slides>
  <Notes>1</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28</vt:i4>
      </vt:variant>
    </vt:vector>
  </HeadingPairs>
  <TitlesOfParts>
    <vt:vector size="39" baseType="lpstr">
      <vt:lpstr>Aptos</vt:lpstr>
      <vt:lpstr>Arial</vt:lpstr>
      <vt:lpstr>B Nazanin</vt:lpstr>
      <vt:lpstr>B Titr</vt:lpstr>
      <vt:lpstr>Calibri</vt:lpstr>
      <vt:lpstr>Calibri Light</vt:lpstr>
      <vt:lpstr>inherit</vt:lpstr>
      <vt:lpstr>Roboto</vt:lpstr>
      <vt:lpstr>Source Sans Pro</vt:lpstr>
      <vt:lpstr>Times New Roman</vt:lpstr>
      <vt:lpstr>Office Theme</vt:lpstr>
      <vt:lpstr>Transformers</vt:lpstr>
      <vt:lpstr>Transformers</vt:lpstr>
      <vt:lpstr>Transformers</vt:lpstr>
      <vt:lpstr>tokenization</vt:lpstr>
      <vt:lpstr>Tokenizer</vt:lpstr>
      <vt:lpstr>Common Text Preprocessing Techniques</vt:lpstr>
      <vt:lpstr>Transformers are language models ??</vt:lpstr>
      <vt:lpstr>Self-supervised learning</vt:lpstr>
      <vt:lpstr>Introducing transformers</vt:lpstr>
      <vt:lpstr>the core architecture of the Transformer model</vt:lpstr>
      <vt:lpstr>Positional encoding</vt:lpstr>
      <vt:lpstr> the general architecture of the Transformer model.</vt:lpstr>
      <vt:lpstr>PowerPoint Presentation</vt:lpstr>
      <vt:lpstr>Encoder models </vt:lpstr>
      <vt:lpstr>Decoder models</vt:lpstr>
      <vt:lpstr>Sequence-to-sequence models sequence-to-sequence-models</vt:lpstr>
      <vt:lpstr>attention</vt:lpstr>
      <vt:lpstr>PowerPoint Presentation</vt:lpstr>
      <vt:lpstr>Self attention</vt:lpstr>
      <vt:lpstr>Multi head attention</vt:lpstr>
      <vt:lpstr>Cross attention</vt:lpstr>
      <vt:lpstr>The original architecture  </vt:lpstr>
      <vt:lpstr>Pre-trained Transformers </vt:lpstr>
      <vt:lpstr>hugging face</vt:lpstr>
      <vt:lpstr>Pretrained vs fine tuned model</vt:lpstr>
      <vt:lpstr>Bert</vt:lpstr>
      <vt:lpstr>RoBERTa</vt:lpstr>
      <vt:lpstr>architecture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Roberta</dc:title>
  <dc:creator>asus</dc:creator>
  <cp:lastModifiedBy>Ali Mollaei</cp:lastModifiedBy>
  <cp:revision>80</cp:revision>
  <dcterms:created xsi:type="dcterms:W3CDTF">2024-01-30T07:57:13Z</dcterms:created>
  <dcterms:modified xsi:type="dcterms:W3CDTF">2024-05-29T16:35:14Z</dcterms:modified>
</cp:coreProperties>
</file>