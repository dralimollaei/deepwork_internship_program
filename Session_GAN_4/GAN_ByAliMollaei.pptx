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4" r:id="rId4"/>
    <p:sldId id="263" r:id="rId5"/>
    <p:sldId id="266" r:id="rId6"/>
    <p:sldId id="259" r:id="rId7"/>
    <p:sldId id="265" r:id="rId8"/>
    <p:sldId id="260" r:id="rId9"/>
    <p:sldId id="26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B736605-8E4C-4415-B705-B6078541444E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4D4EA9FE-3C73-4D0D-8D88-A9D57B9E52A2}">
      <dgm:prSet custT="1"/>
      <dgm:spPr/>
      <dgm:t>
        <a:bodyPr/>
        <a:lstStyle/>
        <a:p>
          <a:pPr algn="ctr"/>
          <a:r>
            <a:rPr lang="fa-IR" sz="2400" b="0" i="0" baseline="0" dirty="0">
              <a:cs typeface="B Titr" panose="00000700000000000000" pitchFamily="2" charset="-78"/>
            </a:rPr>
            <a:t>شبکه های رقابتی (خصمانه) مولد از کلاس شبکه های عصبی مصنوعی هستند</a:t>
          </a:r>
          <a:endParaRPr lang="en-US" sz="2400" dirty="0">
            <a:cs typeface="B Titr" panose="00000700000000000000" pitchFamily="2" charset="-78"/>
          </a:endParaRPr>
        </a:p>
      </dgm:t>
    </dgm:pt>
    <dgm:pt modelId="{486793AC-7F5E-46A7-86F9-212070461A72}" type="parTrans" cxnId="{A1689F94-5B24-47D2-9188-8F27D590CB29}">
      <dgm:prSet/>
      <dgm:spPr/>
      <dgm:t>
        <a:bodyPr/>
        <a:lstStyle/>
        <a:p>
          <a:endParaRPr lang="en-US"/>
        </a:p>
      </dgm:t>
    </dgm:pt>
    <dgm:pt modelId="{0C55CFB3-C02D-47E3-843E-D05CC58B1F14}" type="sibTrans" cxnId="{A1689F94-5B24-47D2-9188-8F27D590CB29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F41A2C45-9380-450E-8A87-20E4B36F28CF}">
      <dgm:prSet custT="1"/>
      <dgm:spPr/>
      <dgm:t>
        <a:bodyPr/>
        <a:lstStyle/>
        <a:p>
          <a:pPr algn="ctr" rtl="1"/>
          <a:r>
            <a:rPr lang="fa-IR" sz="2400" dirty="0">
              <a:cs typeface="B Titr" panose="00000700000000000000" pitchFamily="2" charset="-78"/>
            </a:rPr>
            <a:t>شبکه های </a:t>
          </a:r>
          <a:r>
            <a:rPr lang="en-US" sz="2400" dirty="0">
              <a:cs typeface="B Titr" panose="00000700000000000000" pitchFamily="2" charset="-78"/>
            </a:rPr>
            <a:t>GAN</a:t>
          </a:r>
          <a:r>
            <a:rPr lang="fa-IR" sz="2400" dirty="0">
              <a:cs typeface="B Titr" panose="00000700000000000000" pitchFamily="2" charset="-78"/>
            </a:rPr>
            <a:t> </a:t>
          </a:r>
          <a:r>
            <a:rPr lang="fa-IR" sz="2400" b="0" i="0" baseline="0" dirty="0">
              <a:cs typeface="B Titr" panose="00000700000000000000" pitchFamily="2" charset="-78"/>
            </a:rPr>
            <a:t>از یادگیری بدون سرپرستی استفاده می کنند.</a:t>
          </a:r>
          <a:endParaRPr lang="en-US" sz="2400" dirty="0">
            <a:cs typeface="B Titr" panose="00000700000000000000" pitchFamily="2" charset="-78"/>
          </a:endParaRPr>
        </a:p>
      </dgm:t>
    </dgm:pt>
    <dgm:pt modelId="{ECBE5EA8-1F70-43E7-93B8-4ADAA53908E7}" type="parTrans" cxnId="{A4BE26FF-95D1-4ADF-AE0D-309146E033E1}">
      <dgm:prSet/>
      <dgm:spPr/>
      <dgm:t>
        <a:bodyPr/>
        <a:lstStyle/>
        <a:p>
          <a:endParaRPr lang="en-US"/>
        </a:p>
      </dgm:t>
    </dgm:pt>
    <dgm:pt modelId="{F8828A95-BF36-4A6C-8F9C-F25963C4DFC7}" type="sibTrans" cxnId="{A4BE26FF-95D1-4ADF-AE0D-309146E033E1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2A248AC7-3204-457B-883A-A3966F98C961}">
      <dgm:prSet/>
      <dgm:spPr/>
      <dgm:t>
        <a:bodyPr/>
        <a:lstStyle/>
        <a:p>
          <a:pPr algn="ctr" rtl="1"/>
          <a:r>
            <a:rPr lang="fa-IR" dirty="0">
              <a:cs typeface="B Titr" panose="00000700000000000000" pitchFamily="2" charset="-78"/>
            </a:rPr>
            <a:t>شبکه از دو جز شبکه دیگر به نام های ممیز (</a:t>
          </a:r>
          <a:r>
            <a:rPr lang="en-US" dirty="0">
              <a:cs typeface="B Titr" panose="00000700000000000000" pitchFamily="2" charset="-78"/>
            </a:rPr>
            <a:t>Discriminator</a:t>
          </a:r>
          <a:r>
            <a:rPr lang="fa-IR" dirty="0">
              <a:cs typeface="B Titr" panose="00000700000000000000" pitchFamily="2" charset="-78"/>
            </a:rPr>
            <a:t>)</a:t>
          </a:r>
          <a:endParaRPr lang="en-US" dirty="0">
            <a:cs typeface="B Titr" panose="00000700000000000000" pitchFamily="2" charset="-78"/>
          </a:endParaRPr>
        </a:p>
        <a:p>
          <a:pPr algn="ctr" rtl="1"/>
          <a:r>
            <a:rPr lang="fa-IR" dirty="0">
              <a:cs typeface="B Titr" panose="00000700000000000000" pitchFamily="2" charset="-78"/>
            </a:rPr>
            <a:t>  و </a:t>
          </a:r>
          <a:endParaRPr lang="en-US" dirty="0">
            <a:cs typeface="B Titr" panose="00000700000000000000" pitchFamily="2" charset="-78"/>
          </a:endParaRPr>
        </a:p>
        <a:p>
          <a:pPr algn="ctr" rtl="1"/>
          <a:r>
            <a:rPr lang="fa-IR" dirty="0">
              <a:cs typeface="B Titr" panose="00000700000000000000" pitchFamily="2" charset="-78"/>
            </a:rPr>
            <a:t>مولد (</a:t>
          </a:r>
          <a:r>
            <a:rPr lang="en-US" dirty="0" err="1">
              <a:cs typeface="B Titr" panose="00000700000000000000" pitchFamily="2" charset="-78"/>
            </a:rPr>
            <a:t>genrator</a:t>
          </a:r>
          <a:r>
            <a:rPr lang="fa-IR" dirty="0">
              <a:cs typeface="B Titr" panose="00000700000000000000" pitchFamily="2" charset="-78"/>
            </a:rPr>
            <a:t>) </a:t>
          </a:r>
          <a:endParaRPr lang="en-US" dirty="0">
            <a:cs typeface="B Titr" panose="00000700000000000000" pitchFamily="2" charset="-78"/>
          </a:endParaRPr>
        </a:p>
        <a:p>
          <a:pPr algn="ctr" rtl="1"/>
          <a:r>
            <a:rPr lang="fa-IR" dirty="0">
              <a:cs typeface="B Titr" panose="00000700000000000000" pitchFamily="2" charset="-78"/>
            </a:rPr>
            <a:t>شکل گرفته است.</a:t>
          </a:r>
          <a:endParaRPr lang="en-US" dirty="0">
            <a:cs typeface="B Titr" panose="00000700000000000000" pitchFamily="2" charset="-78"/>
          </a:endParaRPr>
        </a:p>
      </dgm:t>
    </dgm:pt>
    <dgm:pt modelId="{2D789F2C-A9BB-4A46-B044-A2B5A7658B70}" type="parTrans" cxnId="{4FF1A61C-8D41-4EAA-8236-881511C95391}">
      <dgm:prSet/>
      <dgm:spPr/>
      <dgm:t>
        <a:bodyPr/>
        <a:lstStyle/>
        <a:p>
          <a:endParaRPr lang="en-US"/>
        </a:p>
      </dgm:t>
    </dgm:pt>
    <dgm:pt modelId="{B690A6B7-DC0B-46B6-903E-1D060163EA74}" type="sibTrans" cxnId="{4FF1A61C-8D41-4EAA-8236-881511C95391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BFDAE73C-AD2A-4515-AC9E-81AE5995FB98}" type="pres">
      <dgm:prSet presAssocID="{4B736605-8E4C-4415-B705-B6078541444E}" presName="Name0" presStyleCnt="0">
        <dgm:presLayoutVars>
          <dgm:animLvl val="lvl"/>
          <dgm:resizeHandles val="exact"/>
        </dgm:presLayoutVars>
      </dgm:prSet>
      <dgm:spPr/>
    </dgm:pt>
    <dgm:pt modelId="{0E6E00E0-B79F-473E-910D-A25FB4AD310C}" type="pres">
      <dgm:prSet presAssocID="{4D4EA9FE-3C73-4D0D-8D88-A9D57B9E52A2}" presName="compositeNode" presStyleCnt="0">
        <dgm:presLayoutVars>
          <dgm:bulletEnabled val="1"/>
        </dgm:presLayoutVars>
      </dgm:prSet>
      <dgm:spPr/>
    </dgm:pt>
    <dgm:pt modelId="{B7AF534D-1B66-4BC2-A3BF-B23A6A7D5539}" type="pres">
      <dgm:prSet presAssocID="{4D4EA9FE-3C73-4D0D-8D88-A9D57B9E52A2}" presName="bgRect" presStyleLbl="bgAccFollowNode1" presStyleIdx="0" presStyleCnt="3"/>
      <dgm:spPr/>
    </dgm:pt>
    <dgm:pt modelId="{0D880D41-D53E-4B9C-8338-762FA62107D0}" type="pres">
      <dgm:prSet presAssocID="{0C55CFB3-C02D-47E3-843E-D05CC58B1F14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59AC95E4-1970-4FCC-89B6-5103362C5383}" type="pres">
      <dgm:prSet presAssocID="{4D4EA9FE-3C73-4D0D-8D88-A9D57B9E52A2}" presName="bottomLine" presStyleLbl="alignNode1" presStyleIdx="1" presStyleCnt="6">
        <dgm:presLayoutVars/>
      </dgm:prSet>
      <dgm:spPr/>
    </dgm:pt>
    <dgm:pt modelId="{CB7EF8FE-E51A-4972-B62F-5A19E0E60AB9}" type="pres">
      <dgm:prSet presAssocID="{4D4EA9FE-3C73-4D0D-8D88-A9D57B9E52A2}" presName="nodeText" presStyleLbl="bgAccFollowNode1" presStyleIdx="0" presStyleCnt="3">
        <dgm:presLayoutVars>
          <dgm:bulletEnabled val="1"/>
        </dgm:presLayoutVars>
      </dgm:prSet>
      <dgm:spPr/>
    </dgm:pt>
    <dgm:pt modelId="{B5E01EFE-4E62-4BAD-8060-BFFA5A7D3BA4}" type="pres">
      <dgm:prSet presAssocID="{0C55CFB3-C02D-47E3-843E-D05CC58B1F14}" presName="sibTrans" presStyleCnt="0"/>
      <dgm:spPr/>
    </dgm:pt>
    <dgm:pt modelId="{8B8AC142-5A05-475F-AEAD-0FA1CF824E91}" type="pres">
      <dgm:prSet presAssocID="{F41A2C45-9380-450E-8A87-20E4B36F28CF}" presName="compositeNode" presStyleCnt="0">
        <dgm:presLayoutVars>
          <dgm:bulletEnabled val="1"/>
        </dgm:presLayoutVars>
      </dgm:prSet>
      <dgm:spPr/>
    </dgm:pt>
    <dgm:pt modelId="{7E1FB276-3279-49C8-B084-2A631B92B8EB}" type="pres">
      <dgm:prSet presAssocID="{F41A2C45-9380-450E-8A87-20E4B36F28CF}" presName="bgRect" presStyleLbl="bgAccFollowNode1" presStyleIdx="1" presStyleCnt="3"/>
      <dgm:spPr/>
    </dgm:pt>
    <dgm:pt modelId="{1ABA62A3-ABDD-4B68-A716-C6A59B901093}" type="pres">
      <dgm:prSet presAssocID="{F8828A95-BF36-4A6C-8F9C-F25963C4DFC7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E5B0FC86-4246-4B2E-9A1A-AFD2E12ADB34}" type="pres">
      <dgm:prSet presAssocID="{F41A2C45-9380-450E-8A87-20E4B36F28CF}" presName="bottomLine" presStyleLbl="alignNode1" presStyleIdx="3" presStyleCnt="6">
        <dgm:presLayoutVars/>
      </dgm:prSet>
      <dgm:spPr/>
    </dgm:pt>
    <dgm:pt modelId="{FBC7C01A-A2A8-45C6-9862-35F6484C3EEA}" type="pres">
      <dgm:prSet presAssocID="{F41A2C45-9380-450E-8A87-20E4B36F28CF}" presName="nodeText" presStyleLbl="bgAccFollowNode1" presStyleIdx="1" presStyleCnt="3">
        <dgm:presLayoutVars>
          <dgm:bulletEnabled val="1"/>
        </dgm:presLayoutVars>
      </dgm:prSet>
      <dgm:spPr/>
    </dgm:pt>
    <dgm:pt modelId="{8A99C430-914E-4EA3-8603-C221B3C6DF21}" type="pres">
      <dgm:prSet presAssocID="{F8828A95-BF36-4A6C-8F9C-F25963C4DFC7}" presName="sibTrans" presStyleCnt="0"/>
      <dgm:spPr/>
    </dgm:pt>
    <dgm:pt modelId="{C973BCB2-31DA-4479-AF5E-E039B083DA52}" type="pres">
      <dgm:prSet presAssocID="{2A248AC7-3204-457B-883A-A3966F98C961}" presName="compositeNode" presStyleCnt="0">
        <dgm:presLayoutVars>
          <dgm:bulletEnabled val="1"/>
        </dgm:presLayoutVars>
      </dgm:prSet>
      <dgm:spPr/>
    </dgm:pt>
    <dgm:pt modelId="{200D457C-7119-4FD8-96F4-6D83EAB9340A}" type="pres">
      <dgm:prSet presAssocID="{2A248AC7-3204-457B-883A-A3966F98C961}" presName="bgRect" presStyleLbl="bgAccFollowNode1" presStyleIdx="2" presStyleCnt="3"/>
      <dgm:spPr/>
    </dgm:pt>
    <dgm:pt modelId="{6666BC1E-8595-4EC2-BB27-99F6086943E8}" type="pres">
      <dgm:prSet presAssocID="{B690A6B7-DC0B-46B6-903E-1D060163EA74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6DD75F92-87C0-4CCE-A076-A89B05A7111F}" type="pres">
      <dgm:prSet presAssocID="{2A248AC7-3204-457B-883A-A3966F98C961}" presName="bottomLine" presStyleLbl="alignNode1" presStyleIdx="5" presStyleCnt="6">
        <dgm:presLayoutVars/>
      </dgm:prSet>
      <dgm:spPr/>
    </dgm:pt>
    <dgm:pt modelId="{1F1CC59A-82AD-4AC6-A315-C81074506F84}" type="pres">
      <dgm:prSet presAssocID="{2A248AC7-3204-457B-883A-A3966F98C961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4AE84108-FB64-4F1E-90BC-C9A0F123CEA4}" type="presOf" srcId="{F41A2C45-9380-450E-8A87-20E4B36F28CF}" destId="{FBC7C01A-A2A8-45C6-9862-35F6484C3EEA}" srcOrd="1" destOrd="0" presId="urn:microsoft.com/office/officeart/2016/7/layout/BasicLinearProcessNumbered"/>
    <dgm:cxn modelId="{4FF1A61C-8D41-4EAA-8236-881511C95391}" srcId="{4B736605-8E4C-4415-B705-B6078541444E}" destId="{2A248AC7-3204-457B-883A-A3966F98C961}" srcOrd="2" destOrd="0" parTransId="{2D789F2C-A9BB-4A46-B044-A2B5A7658B70}" sibTransId="{B690A6B7-DC0B-46B6-903E-1D060163EA74}"/>
    <dgm:cxn modelId="{ACE6FD3C-8DF2-4E04-B64C-62D7276C7085}" type="presOf" srcId="{2A248AC7-3204-457B-883A-A3966F98C961}" destId="{1F1CC59A-82AD-4AC6-A315-C81074506F84}" srcOrd="1" destOrd="0" presId="urn:microsoft.com/office/officeart/2016/7/layout/BasicLinearProcessNumbered"/>
    <dgm:cxn modelId="{8815EE4B-EDD6-43B1-AD0D-7D78FDBD4782}" type="presOf" srcId="{4D4EA9FE-3C73-4D0D-8D88-A9D57B9E52A2}" destId="{CB7EF8FE-E51A-4972-B62F-5A19E0E60AB9}" srcOrd="1" destOrd="0" presId="urn:microsoft.com/office/officeart/2016/7/layout/BasicLinearProcessNumbered"/>
    <dgm:cxn modelId="{D9721F6C-18A3-4E2E-9EF5-754EA1D278CB}" type="presOf" srcId="{0C55CFB3-C02D-47E3-843E-D05CC58B1F14}" destId="{0D880D41-D53E-4B9C-8338-762FA62107D0}" srcOrd="0" destOrd="0" presId="urn:microsoft.com/office/officeart/2016/7/layout/BasicLinearProcessNumbered"/>
    <dgm:cxn modelId="{0564D979-9D3B-4FE2-9C34-46E91625909A}" type="presOf" srcId="{B690A6B7-DC0B-46B6-903E-1D060163EA74}" destId="{6666BC1E-8595-4EC2-BB27-99F6086943E8}" srcOrd="0" destOrd="0" presId="urn:microsoft.com/office/officeart/2016/7/layout/BasicLinearProcessNumbered"/>
    <dgm:cxn modelId="{A1689F94-5B24-47D2-9188-8F27D590CB29}" srcId="{4B736605-8E4C-4415-B705-B6078541444E}" destId="{4D4EA9FE-3C73-4D0D-8D88-A9D57B9E52A2}" srcOrd="0" destOrd="0" parTransId="{486793AC-7F5E-46A7-86F9-212070461A72}" sibTransId="{0C55CFB3-C02D-47E3-843E-D05CC58B1F14}"/>
    <dgm:cxn modelId="{A8AB8BC5-C158-472B-9B71-85E62F154695}" type="presOf" srcId="{4B736605-8E4C-4415-B705-B6078541444E}" destId="{BFDAE73C-AD2A-4515-AC9E-81AE5995FB98}" srcOrd="0" destOrd="0" presId="urn:microsoft.com/office/officeart/2016/7/layout/BasicLinearProcessNumbered"/>
    <dgm:cxn modelId="{C31BFCDC-E166-4E21-8FE8-CE4D6E410651}" type="presOf" srcId="{F8828A95-BF36-4A6C-8F9C-F25963C4DFC7}" destId="{1ABA62A3-ABDD-4B68-A716-C6A59B901093}" srcOrd="0" destOrd="0" presId="urn:microsoft.com/office/officeart/2016/7/layout/BasicLinearProcessNumbered"/>
    <dgm:cxn modelId="{974318EA-419E-4BCF-BCE2-AF4DB93C38AA}" type="presOf" srcId="{4D4EA9FE-3C73-4D0D-8D88-A9D57B9E52A2}" destId="{B7AF534D-1B66-4BC2-A3BF-B23A6A7D5539}" srcOrd="0" destOrd="0" presId="urn:microsoft.com/office/officeart/2016/7/layout/BasicLinearProcessNumbered"/>
    <dgm:cxn modelId="{51B423F9-8D6A-4F84-9737-CBCEE396F83D}" type="presOf" srcId="{2A248AC7-3204-457B-883A-A3966F98C961}" destId="{200D457C-7119-4FD8-96F4-6D83EAB9340A}" srcOrd="0" destOrd="0" presId="urn:microsoft.com/office/officeart/2016/7/layout/BasicLinearProcessNumbered"/>
    <dgm:cxn modelId="{37C8DCF9-07C6-49F7-9A32-8C9C2F6C7E52}" type="presOf" srcId="{F41A2C45-9380-450E-8A87-20E4B36F28CF}" destId="{7E1FB276-3279-49C8-B084-2A631B92B8EB}" srcOrd="0" destOrd="0" presId="urn:microsoft.com/office/officeart/2016/7/layout/BasicLinearProcessNumbered"/>
    <dgm:cxn modelId="{A4BE26FF-95D1-4ADF-AE0D-309146E033E1}" srcId="{4B736605-8E4C-4415-B705-B6078541444E}" destId="{F41A2C45-9380-450E-8A87-20E4B36F28CF}" srcOrd="1" destOrd="0" parTransId="{ECBE5EA8-1F70-43E7-93B8-4ADAA53908E7}" sibTransId="{F8828A95-BF36-4A6C-8F9C-F25963C4DFC7}"/>
    <dgm:cxn modelId="{10D039E2-7044-483F-B6EA-40A41D447EDF}" type="presParOf" srcId="{BFDAE73C-AD2A-4515-AC9E-81AE5995FB98}" destId="{0E6E00E0-B79F-473E-910D-A25FB4AD310C}" srcOrd="0" destOrd="0" presId="urn:microsoft.com/office/officeart/2016/7/layout/BasicLinearProcessNumbered"/>
    <dgm:cxn modelId="{7F2AAE72-576B-46A6-8E11-64BD83371CE5}" type="presParOf" srcId="{0E6E00E0-B79F-473E-910D-A25FB4AD310C}" destId="{B7AF534D-1B66-4BC2-A3BF-B23A6A7D5539}" srcOrd="0" destOrd="0" presId="urn:microsoft.com/office/officeart/2016/7/layout/BasicLinearProcessNumbered"/>
    <dgm:cxn modelId="{8B4B6F9B-5A8E-4297-8A87-10182DCAC794}" type="presParOf" srcId="{0E6E00E0-B79F-473E-910D-A25FB4AD310C}" destId="{0D880D41-D53E-4B9C-8338-762FA62107D0}" srcOrd="1" destOrd="0" presId="urn:microsoft.com/office/officeart/2016/7/layout/BasicLinearProcessNumbered"/>
    <dgm:cxn modelId="{8784A7BE-A078-496B-B46A-BEB9159DE6B2}" type="presParOf" srcId="{0E6E00E0-B79F-473E-910D-A25FB4AD310C}" destId="{59AC95E4-1970-4FCC-89B6-5103362C5383}" srcOrd="2" destOrd="0" presId="urn:microsoft.com/office/officeart/2016/7/layout/BasicLinearProcessNumbered"/>
    <dgm:cxn modelId="{C9E22579-2342-4B6F-9936-07A8971B5230}" type="presParOf" srcId="{0E6E00E0-B79F-473E-910D-A25FB4AD310C}" destId="{CB7EF8FE-E51A-4972-B62F-5A19E0E60AB9}" srcOrd="3" destOrd="0" presId="urn:microsoft.com/office/officeart/2016/7/layout/BasicLinearProcessNumbered"/>
    <dgm:cxn modelId="{06346195-7875-44A1-8516-C4CDB5B9AE93}" type="presParOf" srcId="{BFDAE73C-AD2A-4515-AC9E-81AE5995FB98}" destId="{B5E01EFE-4E62-4BAD-8060-BFFA5A7D3BA4}" srcOrd="1" destOrd="0" presId="urn:microsoft.com/office/officeart/2016/7/layout/BasicLinearProcessNumbered"/>
    <dgm:cxn modelId="{5CBA08A9-E2FB-489B-8F13-F0B00354BB9D}" type="presParOf" srcId="{BFDAE73C-AD2A-4515-AC9E-81AE5995FB98}" destId="{8B8AC142-5A05-475F-AEAD-0FA1CF824E91}" srcOrd="2" destOrd="0" presId="urn:microsoft.com/office/officeart/2016/7/layout/BasicLinearProcessNumbered"/>
    <dgm:cxn modelId="{8544673E-724B-4FB8-B59D-05D2034326C2}" type="presParOf" srcId="{8B8AC142-5A05-475F-AEAD-0FA1CF824E91}" destId="{7E1FB276-3279-49C8-B084-2A631B92B8EB}" srcOrd="0" destOrd="0" presId="urn:microsoft.com/office/officeart/2016/7/layout/BasicLinearProcessNumbered"/>
    <dgm:cxn modelId="{F2BC8A72-AA2A-4C53-8A9D-9702899DB3C2}" type="presParOf" srcId="{8B8AC142-5A05-475F-AEAD-0FA1CF824E91}" destId="{1ABA62A3-ABDD-4B68-A716-C6A59B901093}" srcOrd="1" destOrd="0" presId="urn:microsoft.com/office/officeart/2016/7/layout/BasicLinearProcessNumbered"/>
    <dgm:cxn modelId="{B5E0CCA1-B3FE-4976-A589-624D79381991}" type="presParOf" srcId="{8B8AC142-5A05-475F-AEAD-0FA1CF824E91}" destId="{E5B0FC86-4246-4B2E-9A1A-AFD2E12ADB34}" srcOrd="2" destOrd="0" presId="urn:microsoft.com/office/officeart/2016/7/layout/BasicLinearProcessNumbered"/>
    <dgm:cxn modelId="{47832A0E-68B6-4C56-9F00-7E01A98AF0F8}" type="presParOf" srcId="{8B8AC142-5A05-475F-AEAD-0FA1CF824E91}" destId="{FBC7C01A-A2A8-45C6-9862-35F6484C3EEA}" srcOrd="3" destOrd="0" presId="urn:microsoft.com/office/officeart/2016/7/layout/BasicLinearProcessNumbered"/>
    <dgm:cxn modelId="{53E134CD-4C85-426F-B5B4-71B048FD67B8}" type="presParOf" srcId="{BFDAE73C-AD2A-4515-AC9E-81AE5995FB98}" destId="{8A99C430-914E-4EA3-8603-C221B3C6DF21}" srcOrd="3" destOrd="0" presId="urn:microsoft.com/office/officeart/2016/7/layout/BasicLinearProcessNumbered"/>
    <dgm:cxn modelId="{01EBF58E-8DFB-4C32-B658-610AF5F47328}" type="presParOf" srcId="{BFDAE73C-AD2A-4515-AC9E-81AE5995FB98}" destId="{C973BCB2-31DA-4479-AF5E-E039B083DA52}" srcOrd="4" destOrd="0" presId="urn:microsoft.com/office/officeart/2016/7/layout/BasicLinearProcessNumbered"/>
    <dgm:cxn modelId="{CBB4CE9C-D7BA-4100-9553-06770E3942AA}" type="presParOf" srcId="{C973BCB2-31DA-4479-AF5E-E039B083DA52}" destId="{200D457C-7119-4FD8-96F4-6D83EAB9340A}" srcOrd="0" destOrd="0" presId="urn:microsoft.com/office/officeart/2016/7/layout/BasicLinearProcessNumbered"/>
    <dgm:cxn modelId="{C52E792B-63CC-4AAB-AF0B-27B50DDF00EC}" type="presParOf" srcId="{C973BCB2-31DA-4479-AF5E-E039B083DA52}" destId="{6666BC1E-8595-4EC2-BB27-99F6086943E8}" srcOrd="1" destOrd="0" presId="urn:microsoft.com/office/officeart/2016/7/layout/BasicLinearProcessNumbered"/>
    <dgm:cxn modelId="{17D0BCE1-914C-4DEC-8816-C8C651AE50C7}" type="presParOf" srcId="{C973BCB2-31DA-4479-AF5E-E039B083DA52}" destId="{6DD75F92-87C0-4CCE-A076-A89B05A7111F}" srcOrd="2" destOrd="0" presId="urn:microsoft.com/office/officeart/2016/7/layout/BasicLinearProcessNumbered"/>
    <dgm:cxn modelId="{D47A8B36-C441-4D74-8515-B15E7E087029}" type="presParOf" srcId="{C973BCB2-31DA-4479-AF5E-E039B083DA52}" destId="{1F1CC59A-82AD-4AC6-A315-C81074506F84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AF534D-1B66-4BC2-A3BF-B23A6A7D5539}">
      <dsp:nvSpPr>
        <dsp:cNvPr id="0" name=""/>
        <dsp:cNvSpPr/>
      </dsp:nvSpPr>
      <dsp:spPr>
        <a:xfrm>
          <a:off x="0" y="0"/>
          <a:ext cx="3286125" cy="4351338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199" tIns="330200" rIns="256199" bIns="33020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400" b="0" i="0" kern="1200" baseline="0" dirty="0">
              <a:cs typeface="B Titr" panose="00000700000000000000" pitchFamily="2" charset="-78"/>
            </a:rPr>
            <a:t>شبکه های رقابتی (خصمانه) مولد از کلاس شبکه های عصبی مصنوعی هستند</a:t>
          </a:r>
          <a:endParaRPr lang="en-US" sz="2400" kern="1200" dirty="0">
            <a:cs typeface="B Titr" panose="00000700000000000000" pitchFamily="2" charset="-78"/>
          </a:endParaRPr>
        </a:p>
      </dsp:txBody>
      <dsp:txXfrm>
        <a:off x="0" y="1653508"/>
        <a:ext cx="3286125" cy="2610802"/>
      </dsp:txXfrm>
    </dsp:sp>
    <dsp:sp modelId="{0D880D41-D53E-4B9C-8338-762FA62107D0}">
      <dsp:nvSpPr>
        <dsp:cNvPr id="0" name=""/>
        <dsp:cNvSpPr/>
      </dsp:nvSpPr>
      <dsp:spPr>
        <a:xfrm>
          <a:off x="990361" y="435133"/>
          <a:ext cx="1305401" cy="130540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774" tIns="12700" rIns="101774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1181533" y="626305"/>
        <a:ext cx="923057" cy="923057"/>
      </dsp:txXfrm>
    </dsp:sp>
    <dsp:sp modelId="{59AC95E4-1970-4FCC-89B6-5103362C5383}">
      <dsp:nvSpPr>
        <dsp:cNvPr id="0" name=""/>
        <dsp:cNvSpPr/>
      </dsp:nvSpPr>
      <dsp:spPr>
        <a:xfrm>
          <a:off x="0" y="4351266"/>
          <a:ext cx="3286125" cy="7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1FB276-3279-49C8-B084-2A631B92B8EB}">
      <dsp:nvSpPr>
        <dsp:cNvPr id="0" name=""/>
        <dsp:cNvSpPr/>
      </dsp:nvSpPr>
      <dsp:spPr>
        <a:xfrm>
          <a:off x="3614737" y="0"/>
          <a:ext cx="3286125" cy="4351338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199" tIns="330200" rIns="256199" bIns="330200" numCol="1" spcCol="1270" anchor="t" anchorCtr="0">
          <a:noAutofit/>
        </a:bodyPr>
        <a:lstStyle/>
        <a:p>
          <a:pPr marL="0" lvl="0" indent="0" algn="ctr" defTabSz="10668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400" kern="1200" dirty="0">
              <a:cs typeface="B Titr" panose="00000700000000000000" pitchFamily="2" charset="-78"/>
            </a:rPr>
            <a:t>شبکه های </a:t>
          </a:r>
          <a:r>
            <a:rPr lang="en-US" sz="2400" kern="1200" dirty="0">
              <a:cs typeface="B Titr" panose="00000700000000000000" pitchFamily="2" charset="-78"/>
            </a:rPr>
            <a:t>GAN</a:t>
          </a:r>
          <a:r>
            <a:rPr lang="fa-IR" sz="2400" kern="1200" dirty="0">
              <a:cs typeface="B Titr" panose="00000700000000000000" pitchFamily="2" charset="-78"/>
            </a:rPr>
            <a:t> </a:t>
          </a:r>
          <a:r>
            <a:rPr lang="fa-IR" sz="2400" b="0" i="0" kern="1200" baseline="0" dirty="0">
              <a:cs typeface="B Titr" panose="00000700000000000000" pitchFamily="2" charset="-78"/>
            </a:rPr>
            <a:t>از یادگیری بدون سرپرستی استفاده می کنند.</a:t>
          </a:r>
          <a:endParaRPr lang="en-US" sz="2400" kern="1200" dirty="0">
            <a:cs typeface="B Titr" panose="00000700000000000000" pitchFamily="2" charset="-78"/>
          </a:endParaRPr>
        </a:p>
      </dsp:txBody>
      <dsp:txXfrm>
        <a:off x="3614737" y="1653508"/>
        <a:ext cx="3286125" cy="2610802"/>
      </dsp:txXfrm>
    </dsp:sp>
    <dsp:sp modelId="{1ABA62A3-ABDD-4B68-A716-C6A59B901093}">
      <dsp:nvSpPr>
        <dsp:cNvPr id="0" name=""/>
        <dsp:cNvSpPr/>
      </dsp:nvSpPr>
      <dsp:spPr>
        <a:xfrm>
          <a:off x="4605099" y="435133"/>
          <a:ext cx="1305401" cy="1305401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774" tIns="12700" rIns="101774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4796271" y="626305"/>
        <a:ext cx="923057" cy="923057"/>
      </dsp:txXfrm>
    </dsp:sp>
    <dsp:sp modelId="{E5B0FC86-4246-4B2E-9A1A-AFD2E12ADB34}">
      <dsp:nvSpPr>
        <dsp:cNvPr id="0" name=""/>
        <dsp:cNvSpPr/>
      </dsp:nvSpPr>
      <dsp:spPr>
        <a:xfrm>
          <a:off x="3614737" y="4351266"/>
          <a:ext cx="3286125" cy="7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0D457C-7119-4FD8-96F4-6D83EAB9340A}">
      <dsp:nvSpPr>
        <dsp:cNvPr id="0" name=""/>
        <dsp:cNvSpPr/>
      </dsp:nvSpPr>
      <dsp:spPr>
        <a:xfrm>
          <a:off x="7229475" y="0"/>
          <a:ext cx="3286125" cy="4351338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199" tIns="330200" rIns="256199" bIns="330200" numCol="1" spcCol="1270" anchor="t" anchorCtr="0">
          <a:noAutofit/>
        </a:bodyPr>
        <a:lstStyle/>
        <a:p>
          <a:pPr marL="0" lvl="0" indent="0" algn="ctr" defTabSz="6667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500" kern="1200" dirty="0">
              <a:cs typeface="B Titr" panose="00000700000000000000" pitchFamily="2" charset="-78"/>
            </a:rPr>
            <a:t>شبکه از دو جز شبکه دیگر به نام های ممیز (</a:t>
          </a:r>
          <a:r>
            <a:rPr lang="en-US" sz="1500" kern="1200" dirty="0">
              <a:cs typeface="B Titr" panose="00000700000000000000" pitchFamily="2" charset="-78"/>
            </a:rPr>
            <a:t>Discriminator</a:t>
          </a:r>
          <a:r>
            <a:rPr lang="fa-IR" sz="1500" kern="1200" dirty="0">
              <a:cs typeface="B Titr" panose="00000700000000000000" pitchFamily="2" charset="-78"/>
            </a:rPr>
            <a:t>)</a:t>
          </a:r>
          <a:endParaRPr lang="en-US" sz="1500" kern="1200" dirty="0">
            <a:cs typeface="B Titr" panose="00000700000000000000" pitchFamily="2" charset="-78"/>
          </a:endParaRPr>
        </a:p>
        <a:p>
          <a:pPr marL="0" lvl="0" indent="0" algn="ctr" defTabSz="6667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500" kern="1200" dirty="0">
              <a:cs typeface="B Titr" panose="00000700000000000000" pitchFamily="2" charset="-78"/>
            </a:rPr>
            <a:t>  و </a:t>
          </a:r>
          <a:endParaRPr lang="en-US" sz="1500" kern="1200" dirty="0">
            <a:cs typeface="B Titr" panose="00000700000000000000" pitchFamily="2" charset="-78"/>
          </a:endParaRPr>
        </a:p>
        <a:p>
          <a:pPr marL="0" lvl="0" indent="0" algn="ctr" defTabSz="6667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500" kern="1200" dirty="0">
              <a:cs typeface="B Titr" panose="00000700000000000000" pitchFamily="2" charset="-78"/>
            </a:rPr>
            <a:t>مولد (</a:t>
          </a:r>
          <a:r>
            <a:rPr lang="en-US" sz="1500" kern="1200" dirty="0" err="1">
              <a:cs typeface="B Titr" panose="00000700000000000000" pitchFamily="2" charset="-78"/>
            </a:rPr>
            <a:t>genrator</a:t>
          </a:r>
          <a:r>
            <a:rPr lang="fa-IR" sz="1500" kern="1200" dirty="0">
              <a:cs typeface="B Titr" panose="00000700000000000000" pitchFamily="2" charset="-78"/>
            </a:rPr>
            <a:t>) </a:t>
          </a:r>
          <a:endParaRPr lang="en-US" sz="1500" kern="1200" dirty="0">
            <a:cs typeface="B Titr" panose="00000700000000000000" pitchFamily="2" charset="-78"/>
          </a:endParaRPr>
        </a:p>
        <a:p>
          <a:pPr marL="0" lvl="0" indent="0" algn="ctr" defTabSz="6667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500" kern="1200" dirty="0">
              <a:cs typeface="B Titr" panose="00000700000000000000" pitchFamily="2" charset="-78"/>
            </a:rPr>
            <a:t>شکل گرفته است.</a:t>
          </a:r>
          <a:endParaRPr lang="en-US" sz="1500" kern="1200" dirty="0">
            <a:cs typeface="B Titr" panose="00000700000000000000" pitchFamily="2" charset="-78"/>
          </a:endParaRPr>
        </a:p>
      </dsp:txBody>
      <dsp:txXfrm>
        <a:off x="7229475" y="1653508"/>
        <a:ext cx="3286125" cy="2610802"/>
      </dsp:txXfrm>
    </dsp:sp>
    <dsp:sp modelId="{6666BC1E-8595-4EC2-BB27-99F6086943E8}">
      <dsp:nvSpPr>
        <dsp:cNvPr id="0" name=""/>
        <dsp:cNvSpPr/>
      </dsp:nvSpPr>
      <dsp:spPr>
        <a:xfrm>
          <a:off x="8219836" y="435133"/>
          <a:ext cx="1305401" cy="1305401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774" tIns="12700" rIns="101774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8411008" y="626305"/>
        <a:ext cx="923057" cy="923057"/>
      </dsp:txXfrm>
    </dsp:sp>
    <dsp:sp modelId="{6DD75F92-87C0-4CCE-A076-A89B05A7111F}">
      <dsp:nvSpPr>
        <dsp:cNvPr id="0" name=""/>
        <dsp:cNvSpPr/>
      </dsp:nvSpPr>
      <dsp:spPr>
        <a:xfrm>
          <a:off x="7229475" y="4351266"/>
          <a:ext cx="3286125" cy="7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93BF8-D6F0-5904-83AE-99D53593EA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1C4244-2C18-90EB-D5A8-ABC89C2476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98340-7ECA-14FC-85C5-2CFE53C63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5DDDB-9FE4-410D-862C-2233E8221C35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C86D23-8F02-C5BD-5E40-A00C8C990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28C107-F2CC-E008-AFE5-A7E5AFA8C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C81AE-909D-45AB-A23B-AAFE93926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769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60F52-63D1-AAD1-A7EA-6C0F22BF3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FC55A-B00A-CA20-6B04-4BD0B8603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1F3F94-F749-5721-B0D2-292FB4729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5DDDB-9FE4-410D-862C-2233E8221C35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D61CA6-3364-17C3-C6E8-DBC3A01DF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5A3DB3-66EE-6FC9-E4FD-81818564E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C81AE-909D-45AB-A23B-AAFE93926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190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809CC-ED24-9155-00D4-72A973B5F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D30BF5-7F5D-5893-BA80-C076E86B46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08295A-0CDF-41ED-0F01-8F4AC6115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5DDDB-9FE4-410D-862C-2233E8221C35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02CC58-A688-EAFD-0B17-45FD8ED77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F49A6F-FAB9-9296-AC29-8BE7302BD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C81AE-909D-45AB-A23B-AAFE93926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363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DD605-DAB4-F8CF-57F1-30DE7887E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EED05-8B39-0C23-DF38-3B222930F9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CB64EE-23F7-10F7-06F3-576D6804D8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604810-7FE4-051E-BECE-00B39405C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5DDDB-9FE4-410D-862C-2233E8221C35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1FF02B-C2CB-72DB-5532-27782D634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02632B-A1F6-6E60-88CD-B16AA6CC0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C81AE-909D-45AB-A23B-AAFE93926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031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74E55-EC13-2887-36C4-9383E5671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031C51-4D1C-4BB9-AC5E-5C9D6C0F1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5CB8EC-6262-64C7-6BE0-0EE112C1FD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26DE12-2A59-2ABD-222F-988B9D6D29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C9C65F-40E3-C635-3DBC-7DDA96B0BF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CAF7DB-DA95-6853-C6DF-004734B21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5DDDB-9FE4-410D-862C-2233E8221C35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756154-D283-FD6C-1ACC-51E08A4A9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05E89F-4EDC-EEA6-8C24-F8FED571D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C81AE-909D-45AB-A23B-AAFE93926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011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AD51D-3EAE-0E71-7272-12EF7EB44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2167CB-20CC-2326-B0A8-349F80161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5DDDB-9FE4-410D-862C-2233E8221C35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ED63B3-528C-3D97-9F73-016F1C20A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813F17-D8CE-0869-904B-281193ACC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C81AE-909D-45AB-A23B-AAFE93926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934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5B5AF8-DAB1-B18C-1BD0-EAEFC5564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5DDDB-9FE4-410D-862C-2233E8221C35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3B22BD-DD2A-9824-E860-7620FABCE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0FC102-A811-3A08-C5DB-27D0201E6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C81AE-909D-45AB-A23B-AAFE93926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134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D9DAC-CF67-46B3-0183-8136C40C9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C4A48-470B-16C8-64BE-B5E9D58D1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964C9D-5FAC-A0D6-F10C-36DA2BA9D6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5876E2-8AD3-1928-9C3E-6CF540336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5DDDB-9FE4-410D-862C-2233E8221C35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54BEDA-1A61-7754-29D3-C4483D0BA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375EDA-0326-1CE6-439E-E4340CA43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C81AE-909D-45AB-A23B-AAFE93926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139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E73A4-E2F2-5ADF-D09B-504FE78D2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3780A4-4D11-67AB-D1F8-A23470EDDD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F8853C-DFF6-5D9C-77BA-93A3741E61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323B24-5862-C839-72C1-29F980596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5DDDB-9FE4-410D-862C-2233E8221C35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4022CE-1C67-D958-01B4-399544B43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23DE58-CF79-4A75-0BE6-E4DC44193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C81AE-909D-45AB-A23B-AAFE93926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676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5C12B-17E1-A40C-C837-30E9C349F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7CBFF3-EC99-318B-4B45-9087E47C90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540566-F57C-6B8A-F6F0-535C6969C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5DDDB-9FE4-410D-862C-2233E8221C35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B2C1B-022F-8BAC-972B-023A3D554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94A03-01FF-F317-D8CB-CFE55E89D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C81AE-909D-45AB-A23B-AAFE93926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223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802020-AFDD-F95E-F959-D0363330DB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1451AC-B62F-9EDC-254D-702650BE4F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E96D5C-24DF-6015-021E-C1C89C0CE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5DDDB-9FE4-410D-862C-2233E8221C35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008804-B577-B71A-293F-23FB95BDF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22C81-00EB-EFFB-0284-AEBCE5399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C81AE-909D-45AB-A23B-AAFE93926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492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F17AB9-49C2-6D00-84BF-A736D0AB8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B1663C-478E-06FA-07D6-183BA805E6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88DAE5-262C-1AE8-CF36-721FA6A38E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85DDDB-9FE4-410D-862C-2233E8221C35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59441B-DDB0-02AB-A999-613EE94107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26EA06-7A94-76FB-ED11-7A3AC873AF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DC81AE-909D-45AB-A23B-AAFE93926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022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4C410-2514-F50B-3697-5DAC1228F8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GAN</a:t>
            </a:r>
            <a:br>
              <a:rPr lang="en-US" dirty="0"/>
            </a:br>
            <a:r>
              <a:rPr lang="en-US" dirty="0"/>
              <a:t>Generative Adversarial Neural Network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C84B85-4665-37A8-0F24-45487302EB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Dr. Ali Mollaei</a:t>
            </a:r>
          </a:p>
        </p:txBody>
      </p:sp>
    </p:spTree>
    <p:extLst>
      <p:ext uri="{BB962C8B-B14F-4D97-AF65-F5344CB8AC3E}">
        <p14:creationId xmlns:p14="http://schemas.microsoft.com/office/powerpoint/2010/main" val="4101128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258F85B-6F1E-64D3-4CCC-B87B89FEC34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b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852272-47B6-9F62-378B-6942A6460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rtl="1"/>
            <a:r>
              <a:rPr lang="fa-IR" dirty="0">
                <a:cs typeface="B Titr" panose="00000700000000000000" pitchFamily="2" charset="-78"/>
              </a:rPr>
              <a:t>مقدمه</a:t>
            </a:r>
            <a:endParaRPr lang="en-US">
              <a:cs typeface="B Titr" panose="00000700000000000000" pitchFamily="2" charset="-78"/>
            </a:endParaRP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7979834B-7ED5-11E8-DDEC-82A8BDE782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967241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499273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Generative Adversarial Neural Networks: when machine learning is a ...">
            <a:extLst>
              <a:ext uri="{FF2B5EF4-FFF2-40B4-BE49-F238E27FC236}">
                <a16:creationId xmlns:a16="http://schemas.microsoft.com/office/drawing/2014/main" id="{9B090818-65F0-1FDD-E076-CDD55C43A3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9303" y="1690688"/>
            <a:ext cx="7573041" cy="4486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9F4E9AD-E516-4A26-CFBA-5DFD69881C93}"/>
              </a:ext>
            </a:extLst>
          </p:cNvPr>
          <p:cNvSpPr txBox="1"/>
          <p:nvPr/>
        </p:nvSpPr>
        <p:spPr>
          <a:xfrm>
            <a:off x="853205" y="123151"/>
            <a:ext cx="2172929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این یک بازی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 MINMAX </a:t>
            </a:r>
            <a:r>
              <a:rPr kumimoji="0" lang="fa-IR" altLang="en-US" sz="20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 </a:t>
            </a: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است. </a:t>
            </a:r>
            <a:endParaRPr kumimoji="0" lang="fa-IR" altLang="en-US" sz="2000" b="0" i="0" u="none" strike="noStrike" cap="none" normalizeH="0" baseline="0" dirty="0">
              <a:ln>
                <a:noFill/>
              </a:ln>
              <a:solidFill>
                <a:srgbClr val="00B0F0"/>
              </a:solidFill>
              <a:effectLst/>
              <a:latin typeface="Roboto" panose="02000000000000000000" pitchFamily="2" charset="0"/>
              <a:cs typeface="B Titr" panose="00000700000000000000" pitchFamily="2" charset="-78"/>
            </a:endParaRPr>
          </a:p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ممیز سعی دارد تشخیص خود را مبنی بر جعلی و واقعی بودن تصویر قوی</a:t>
            </a:r>
            <a:r>
              <a:rPr kumimoji="0" lang="fa-IR" altLang="en-US" sz="20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 </a:t>
            </a: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کند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.</a:t>
            </a:r>
            <a:endParaRPr lang="fa-IR" altLang="en-US" sz="2000" dirty="0">
              <a:solidFill>
                <a:srgbClr val="00B0F0"/>
              </a:solidFill>
              <a:latin typeface="Roboto" panose="02000000000000000000" pitchFamily="2" charset="0"/>
              <a:cs typeface="B Titr" panose="00000700000000000000" pitchFamily="2" charset="-78"/>
            </a:endParaRPr>
          </a:p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a-IR" altLang="en-US" sz="20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و مولد سعی دارد تصویری بسازد که ممیز نتواند جعلی بودن آن را تشخیص دهد.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0B0F0"/>
              </a:solidFill>
              <a:effectLst/>
              <a:cs typeface="B Titr" panose="00000700000000000000" pitchFamily="2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C639C3-463C-0CE6-E76C-41E20D2CB0DD}"/>
              </a:ext>
            </a:extLst>
          </p:cNvPr>
          <p:cNvSpPr txBox="1"/>
          <p:nvPr/>
        </p:nvSpPr>
        <p:spPr>
          <a:xfrm>
            <a:off x="5963853" y="707927"/>
            <a:ext cx="265250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A" altLang="en-US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نقطه تعادل زمانی است که مولد باید عکس های واقعی تولید کند به طوریکه انگار از مجموعه آموزشی آمده اند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.</a:t>
            </a:r>
          </a:p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A" altLang="en-US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و متمایز کننده هم در حالت 50 50 برای تشخیص اینکه این تصویر واقعی است یا جعلی بماند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77711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52272-47B6-9F62-378B-6942A6460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میکرو پروژه</a:t>
            </a:r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1A65A3A-465B-DF57-D479-635C8CBD5FE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75303" y="2114306"/>
            <a:ext cx="11641394" cy="434601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79350" rIns="91440" bIns="7935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ar-SA" altLang="en-US" dirty="0">
                <a:solidFill>
                  <a:srgbClr val="002060"/>
                </a:solidFill>
                <a:latin typeface="Roboto" panose="02000000000000000000" pitchFamily="2" charset="0"/>
                <a:cs typeface="B Titr" panose="00000700000000000000" pitchFamily="2" charset="-78"/>
              </a:rPr>
              <a:t>در این آموزش، ما از مجموعه داده‌ی چهره‌های افراد مشهور (</a:t>
            </a:r>
            <a:r>
              <a:rPr lang="en-US" altLang="en-US" dirty="0">
                <a:solidFill>
                  <a:srgbClr val="002060"/>
                </a:solidFill>
                <a:latin typeface="Roboto" panose="02000000000000000000" pitchFamily="2" charset="0"/>
                <a:cs typeface="B Titr" panose="00000700000000000000" pitchFamily="2" charset="-78"/>
              </a:rPr>
              <a:t>Celeb-A Faces</a:t>
            </a:r>
            <a:r>
              <a:rPr lang="ar-SA" altLang="en-US" dirty="0">
                <a:solidFill>
                  <a:srgbClr val="002060"/>
                </a:solidFill>
                <a:latin typeface="Roboto" panose="02000000000000000000" pitchFamily="2" charset="0"/>
                <a:cs typeface="B Titr" panose="00000700000000000000" pitchFamily="2" charset="-78"/>
              </a:rPr>
              <a:t>) استفاده خواهیم کرد.</a:t>
            </a:r>
            <a:endParaRPr lang="fa-IR" altLang="en-US" dirty="0">
              <a:solidFill>
                <a:srgbClr val="002060"/>
              </a:solidFill>
              <a:latin typeface="Roboto" panose="02000000000000000000" pitchFamily="2" charset="0"/>
              <a:cs typeface="B Titr" panose="00000700000000000000" pitchFamily="2" charset="-78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ar-SA" altLang="en-US" dirty="0">
                <a:solidFill>
                  <a:srgbClr val="002060"/>
                </a:solidFill>
                <a:latin typeface="Roboto" panose="02000000000000000000" pitchFamily="2" charset="0"/>
                <a:cs typeface="B Titr" panose="00000700000000000000" pitchFamily="2" charset="-78"/>
              </a:rPr>
              <a:t>فایل دانلود شده با نام </a:t>
            </a:r>
            <a:r>
              <a:rPr lang="en-US" altLang="en-US" dirty="0" err="1">
                <a:solidFill>
                  <a:srgbClr val="002060"/>
                </a:solidFill>
                <a:latin typeface="Roboto" panose="02000000000000000000" pitchFamily="2" charset="0"/>
                <a:cs typeface="B Titr" panose="00000700000000000000" pitchFamily="2" charset="-78"/>
              </a:rPr>
              <a:t>img_align_celeba</a:t>
            </a:r>
            <a:r>
              <a:rPr lang="ar-SA" altLang="en-US" dirty="0">
                <a:solidFill>
                  <a:srgbClr val="002060"/>
                </a:solidFill>
                <a:latin typeface="Roboto" panose="02000000000000000000" pitchFamily="2" charset="0"/>
                <a:cs typeface="B Titr" panose="00000700000000000000" pitchFamily="2" charset="-78"/>
              </a:rPr>
              <a:t>.</a:t>
            </a:r>
            <a:r>
              <a:rPr lang="en-US" altLang="en-US" dirty="0">
                <a:solidFill>
                  <a:srgbClr val="002060"/>
                </a:solidFill>
                <a:latin typeface="Roboto" panose="02000000000000000000" pitchFamily="2" charset="0"/>
                <a:cs typeface="B Titr" panose="00000700000000000000" pitchFamily="2" charset="-78"/>
              </a:rPr>
              <a:t>zip</a:t>
            </a:r>
            <a:r>
              <a:rPr lang="ar-SA" altLang="en-US" dirty="0">
                <a:solidFill>
                  <a:srgbClr val="002060"/>
                </a:solidFill>
                <a:latin typeface="Roboto" panose="02000000000000000000" pitchFamily="2" charset="0"/>
                <a:cs typeface="B Titr" panose="00000700000000000000" pitchFamily="2" charset="-78"/>
              </a:rPr>
              <a:t> خواهد بود.</a:t>
            </a:r>
            <a:br>
              <a:rPr lang="en-US" altLang="en-US" dirty="0">
                <a:solidFill>
                  <a:srgbClr val="002060"/>
                </a:solidFill>
                <a:latin typeface="Roboto" panose="02000000000000000000" pitchFamily="2" charset="0"/>
                <a:cs typeface="B Titr" panose="00000700000000000000" pitchFamily="2" charset="-78"/>
              </a:rPr>
            </a:br>
            <a:r>
              <a:rPr lang="fa-IR" altLang="en-US" dirty="0">
                <a:solidFill>
                  <a:srgbClr val="002060"/>
                </a:solidFill>
                <a:latin typeface="Roboto" panose="02000000000000000000" pitchFamily="2" charset="0"/>
                <a:cs typeface="B Titr" panose="00000700000000000000" pitchFamily="2" charset="-78"/>
              </a:rPr>
              <a:t>از دستور زیر برای باز گردن فایل فشرده مجموعه داده روی </a:t>
            </a:r>
            <a:r>
              <a:rPr lang="en-US" altLang="en-US" dirty="0" err="1">
                <a:solidFill>
                  <a:srgbClr val="002060"/>
                </a:solidFill>
                <a:latin typeface="Roboto" panose="02000000000000000000" pitchFamily="2" charset="0"/>
                <a:cs typeface="B Titr" panose="00000700000000000000" pitchFamily="2" charset="-78"/>
              </a:rPr>
              <a:t>Colab</a:t>
            </a:r>
            <a:r>
              <a:rPr lang="fa-IR" altLang="en-US" dirty="0">
                <a:solidFill>
                  <a:srgbClr val="002060"/>
                </a:solidFill>
                <a:latin typeface="Roboto" panose="02000000000000000000" pitchFamily="2" charset="0"/>
                <a:cs typeface="B Titr" panose="00000700000000000000" pitchFamily="2" charset="-78"/>
              </a:rPr>
              <a:t> استفاده خواهیم کرد.</a:t>
            </a:r>
            <a:endParaRPr lang="en-US" altLang="en-US" dirty="0">
              <a:solidFill>
                <a:srgbClr val="002060"/>
              </a:solidFill>
              <a:latin typeface="Roboto" panose="02000000000000000000" pitchFamily="2" charset="0"/>
              <a:cs typeface="B Titr" panose="00000700000000000000" pitchFamily="2" charset="-78"/>
            </a:endParaRPr>
          </a:p>
          <a:p>
            <a:pPr marL="0" marR="0" lvl="0" indent="0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lang="en-US" altLang="en-US" dirty="0">
                <a:solidFill>
                  <a:srgbClr val="002060"/>
                </a:solidFill>
                <a:latin typeface="Roboto" panose="02000000000000000000" pitchFamily="2" charset="0"/>
                <a:cs typeface="B Titr" panose="00000700000000000000" pitchFamily="2" charset="-78"/>
              </a:rPr>
            </a:br>
            <a:r>
              <a:rPr lang="en-US" altLang="en-US" dirty="0">
                <a:solidFill>
                  <a:srgbClr val="002060"/>
                </a:solidFill>
                <a:latin typeface="Roboto" panose="02000000000000000000" pitchFamily="2" charset="0"/>
                <a:cs typeface="B Titr" panose="00000700000000000000" pitchFamily="2" charset="-78"/>
              </a:rPr>
              <a:t># !unzip</a:t>
            </a:r>
            <a:endParaRPr lang="fa-IR" altLang="en-US" dirty="0">
              <a:solidFill>
                <a:srgbClr val="002060"/>
              </a:solidFill>
              <a:latin typeface="Roboto" panose="02000000000000000000" pitchFamily="2" charset="0"/>
              <a:cs typeface="B Titr" panose="00000700000000000000" pitchFamily="2" charset="-78"/>
            </a:endParaRPr>
          </a:p>
          <a:p>
            <a:pPr marL="0" marR="0" lvl="0" indent="0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02060"/>
                </a:solidFill>
                <a:latin typeface="Roboto" panose="02000000000000000000" pitchFamily="2" charset="0"/>
                <a:cs typeface="B Titr" panose="00000700000000000000" pitchFamily="2" charset="-78"/>
              </a:rPr>
              <a:t> </a:t>
            </a:r>
            <a:r>
              <a:rPr lang="en-US" altLang="en-US" sz="1800" dirty="0">
                <a:solidFill>
                  <a:srgbClr val="002060"/>
                </a:solidFill>
                <a:latin typeface="Roboto" panose="02000000000000000000" pitchFamily="2" charset="0"/>
                <a:cs typeface="B Titr" panose="00000700000000000000" pitchFamily="2" charset="-78"/>
              </a:rPr>
              <a:t>"/content/drive/</a:t>
            </a:r>
            <a:r>
              <a:rPr lang="en-US" altLang="en-US" sz="1800" dirty="0" err="1">
                <a:solidFill>
                  <a:srgbClr val="002060"/>
                </a:solidFill>
                <a:latin typeface="Roboto" panose="02000000000000000000" pitchFamily="2" charset="0"/>
                <a:cs typeface="B Titr" panose="00000700000000000000" pitchFamily="2" charset="-78"/>
              </a:rPr>
              <a:t>MyDrive</a:t>
            </a:r>
            <a:r>
              <a:rPr lang="en-US" altLang="en-US" sz="1800" dirty="0">
                <a:solidFill>
                  <a:srgbClr val="002060"/>
                </a:solidFill>
                <a:latin typeface="Roboto" panose="02000000000000000000" pitchFamily="2" charset="0"/>
                <a:cs typeface="B Titr" panose="00000700000000000000" pitchFamily="2" charset="-78"/>
              </a:rPr>
              <a:t>/</a:t>
            </a:r>
            <a:r>
              <a:rPr lang="en-US" altLang="en-US" sz="1800" dirty="0" err="1">
                <a:solidFill>
                  <a:srgbClr val="002060"/>
                </a:solidFill>
                <a:latin typeface="Roboto" panose="02000000000000000000" pitchFamily="2" charset="0"/>
                <a:cs typeface="B Titr" panose="00000700000000000000" pitchFamily="2" charset="-78"/>
              </a:rPr>
              <a:t>DeepLearning_Course</a:t>
            </a:r>
            <a:r>
              <a:rPr lang="en-US" altLang="en-US" sz="1800" dirty="0">
                <a:solidFill>
                  <a:srgbClr val="002060"/>
                </a:solidFill>
                <a:latin typeface="Roboto" panose="02000000000000000000" pitchFamily="2" charset="0"/>
                <a:cs typeface="B Titr" panose="00000700000000000000" pitchFamily="2" charset="-78"/>
              </a:rPr>
              <a:t>/4_Seesion_GAN/data/</a:t>
            </a:r>
            <a:r>
              <a:rPr lang="en-US" altLang="en-US" sz="1800" dirty="0" err="1">
                <a:solidFill>
                  <a:srgbClr val="002060"/>
                </a:solidFill>
                <a:latin typeface="Roboto" panose="02000000000000000000" pitchFamily="2" charset="0"/>
                <a:cs typeface="B Titr" panose="00000700000000000000" pitchFamily="2" charset="-78"/>
              </a:rPr>
              <a:t>celeba</a:t>
            </a:r>
            <a:r>
              <a:rPr lang="en-US" altLang="en-US" sz="1800" dirty="0">
                <a:solidFill>
                  <a:srgbClr val="002060"/>
                </a:solidFill>
                <a:latin typeface="Roboto" panose="02000000000000000000" pitchFamily="2" charset="0"/>
                <a:cs typeface="B Titr" panose="00000700000000000000" pitchFamily="2" charset="-78"/>
              </a:rPr>
              <a:t>/img_align_celeba.zip"</a:t>
            </a:r>
            <a:endParaRPr lang="fa-IR" altLang="en-US" sz="1800" dirty="0">
              <a:solidFill>
                <a:srgbClr val="002060"/>
              </a:solidFill>
              <a:latin typeface="Roboto" panose="02000000000000000000" pitchFamily="2" charset="0"/>
              <a:cs typeface="B Titr" panose="00000700000000000000" pitchFamily="2" charset="-78"/>
            </a:endParaRPr>
          </a:p>
          <a:p>
            <a:pPr marL="0" marR="0" lvl="0" indent="0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>
                <a:solidFill>
                  <a:srgbClr val="002060"/>
                </a:solidFill>
                <a:latin typeface="Roboto" panose="02000000000000000000" pitchFamily="2" charset="0"/>
                <a:cs typeface="B Titr" panose="00000700000000000000" pitchFamily="2" charset="-78"/>
              </a:rPr>
              <a:t> </a:t>
            </a:r>
            <a:r>
              <a:rPr lang="en-US" altLang="en-US" dirty="0">
                <a:solidFill>
                  <a:srgbClr val="002060"/>
                </a:solidFill>
                <a:latin typeface="Roboto" panose="02000000000000000000" pitchFamily="2" charset="0"/>
                <a:cs typeface="B Titr" panose="00000700000000000000" pitchFamily="2" charset="-78"/>
              </a:rPr>
              <a:t>-d </a:t>
            </a:r>
            <a:endParaRPr lang="fa-IR" altLang="en-US">
              <a:solidFill>
                <a:srgbClr val="002060"/>
              </a:solidFill>
              <a:latin typeface="Roboto" panose="02000000000000000000" pitchFamily="2" charset="0"/>
              <a:cs typeface="B Titr" panose="00000700000000000000" pitchFamily="2" charset="-78"/>
            </a:endParaRPr>
          </a:p>
          <a:p>
            <a:pPr marL="0" marR="0" lvl="0" indent="0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>
                <a:solidFill>
                  <a:srgbClr val="002060"/>
                </a:solidFill>
                <a:latin typeface="Roboto" panose="02000000000000000000" pitchFamily="2" charset="0"/>
                <a:cs typeface="B Titr" panose="00000700000000000000" pitchFamily="2" charset="-78"/>
              </a:rPr>
              <a:t>"/</a:t>
            </a:r>
            <a:r>
              <a:rPr lang="en-US" altLang="en-US" sz="2000" dirty="0">
                <a:solidFill>
                  <a:srgbClr val="002060"/>
                </a:solidFill>
                <a:latin typeface="Roboto" panose="02000000000000000000" pitchFamily="2" charset="0"/>
                <a:cs typeface="B Titr" panose="00000700000000000000" pitchFamily="2" charset="-78"/>
              </a:rPr>
              <a:t>content/drive/</a:t>
            </a:r>
            <a:r>
              <a:rPr lang="en-US" altLang="en-US" sz="2000" dirty="0" err="1">
                <a:solidFill>
                  <a:srgbClr val="002060"/>
                </a:solidFill>
                <a:latin typeface="Roboto" panose="02000000000000000000" pitchFamily="2" charset="0"/>
                <a:cs typeface="B Titr" panose="00000700000000000000" pitchFamily="2" charset="-78"/>
              </a:rPr>
              <a:t>MyDrive</a:t>
            </a:r>
            <a:r>
              <a:rPr lang="en-US" altLang="en-US" sz="2000" dirty="0">
                <a:solidFill>
                  <a:srgbClr val="002060"/>
                </a:solidFill>
                <a:latin typeface="Roboto" panose="02000000000000000000" pitchFamily="2" charset="0"/>
                <a:cs typeface="B Titr" panose="00000700000000000000" pitchFamily="2" charset="-78"/>
              </a:rPr>
              <a:t>/</a:t>
            </a:r>
            <a:r>
              <a:rPr lang="en-US" altLang="en-US" sz="2000" dirty="0" err="1">
                <a:solidFill>
                  <a:srgbClr val="002060"/>
                </a:solidFill>
                <a:latin typeface="Roboto" panose="02000000000000000000" pitchFamily="2" charset="0"/>
                <a:cs typeface="B Titr" panose="00000700000000000000" pitchFamily="2" charset="-78"/>
              </a:rPr>
              <a:t>DeepLearning_Course</a:t>
            </a:r>
            <a:r>
              <a:rPr lang="en-US" altLang="en-US" sz="2000" dirty="0">
                <a:solidFill>
                  <a:srgbClr val="002060"/>
                </a:solidFill>
                <a:latin typeface="Roboto" panose="02000000000000000000" pitchFamily="2" charset="0"/>
                <a:cs typeface="B Titr" panose="00000700000000000000" pitchFamily="2" charset="-78"/>
              </a:rPr>
              <a:t>/4_Seesion_GAN/data/</a:t>
            </a:r>
            <a:r>
              <a:rPr lang="en-US" altLang="en-US" sz="2000" dirty="0" err="1">
                <a:solidFill>
                  <a:srgbClr val="002060"/>
                </a:solidFill>
                <a:latin typeface="Roboto" panose="02000000000000000000" pitchFamily="2" charset="0"/>
                <a:cs typeface="B Titr" panose="00000700000000000000" pitchFamily="2" charset="-78"/>
              </a:rPr>
              <a:t>celeba</a:t>
            </a:r>
            <a:r>
              <a:rPr lang="en-US" altLang="en-US" sz="2000" dirty="0">
                <a:solidFill>
                  <a:srgbClr val="002060"/>
                </a:solidFill>
                <a:latin typeface="Roboto" panose="02000000000000000000" pitchFamily="2" charset="0"/>
                <a:cs typeface="B Titr" panose="00000700000000000000" pitchFamily="2" charset="-78"/>
              </a:rPr>
              <a:t>"</a:t>
            </a:r>
            <a:br>
              <a:rPr lang="en-US" altLang="en-US" sz="2000" dirty="0">
                <a:solidFill>
                  <a:srgbClr val="002060"/>
                </a:solidFill>
                <a:latin typeface="Roboto" panose="02000000000000000000" pitchFamily="2" charset="0"/>
                <a:cs typeface="B Titr" panose="00000700000000000000" pitchFamily="2" charset="-78"/>
              </a:rPr>
            </a:br>
            <a:endParaRPr lang="fa-IR" altLang="en-US" dirty="0">
              <a:solidFill>
                <a:srgbClr val="002060"/>
              </a:solidFill>
              <a:latin typeface="Roboto" panose="02000000000000000000" pitchFamily="2" charset="0"/>
              <a:cs typeface="B Titr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655919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52272-47B6-9F62-378B-6942A6460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میکرو پروژه</a:t>
            </a:r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1A65A3A-465B-DF57-D479-635C8CBD5FE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75303" y="2699080"/>
            <a:ext cx="11641394" cy="31764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79350" rIns="91440" bIns="7935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A" altLang="en-US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در این میکرو پروژه تصاویر سلبریتی هایی را به مدل نشان خواهیم داد و شبکه را آموزش می دهیم تا پس از نمایش افراد مشهور جدید تولید کند.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Roboto" panose="02000000000000000000" pitchFamily="2" charset="0"/>
              <a:cs typeface="B Titr" panose="00000700000000000000" pitchFamily="2" charset="-78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A" altLang="en-US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شبکه های گن توزیع داده های آموزش را دریافت می کنند و با توجه به آن داده های جدید می سازند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cs typeface="B Titr" panose="00000700000000000000" pitchFamily="2" charset="-78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A" altLang="en-US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در این شبکه دو مدل جداگانه وجود دارد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cs typeface="B Titr" panose="00000700000000000000" pitchFamily="2" charset="-78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fa-IR" altLang="en-US" b="0" i="1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  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generator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  </a:t>
            </a:r>
            <a:r>
              <a:rPr kumimoji="0" lang="fa-IR" altLang="en-US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     </a:t>
            </a:r>
            <a:r>
              <a:rPr kumimoji="0" lang="ar-SA" altLang="en-US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وظیفه مدل مولد تولید تصاویر جعلی است.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Roboto" panose="02000000000000000000" pitchFamily="2" charset="0"/>
              <a:cs typeface="B Titr" panose="00000700000000000000" pitchFamily="2" charset="-78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discriminator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. </a:t>
            </a:r>
            <a:r>
              <a:rPr kumimoji="0" lang="fa-IR" altLang="en-US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  </a:t>
            </a:r>
            <a:r>
              <a:rPr kumimoji="0" lang="ar-SA" altLang="en-US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وظیفه ممیز این است که بگوید تصویر واقعی است یا جعلی است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415783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0169D-7A47-F2F7-61D6-70F1D85B7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6FCAA50-F716-6FF2-9BDE-A23C7C8222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12690" y="2269227"/>
            <a:ext cx="11766620" cy="348423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79350" rIns="91440" bIns="7935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600" dirty="0">
                <a:solidFill>
                  <a:srgbClr val="002060"/>
                </a:solidFill>
                <a:latin typeface="Roboto" panose="02000000000000000000" pitchFamily="2" charset="0"/>
                <a:cs typeface="B Titr" panose="00000700000000000000" pitchFamily="2" charset="-78"/>
              </a:rPr>
              <a:t>X</a:t>
            </a:r>
            <a:r>
              <a:rPr lang="fa-IR" altLang="en-US" sz="3600" dirty="0">
                <a:solidFill>
                  <a:srgbClr val="002060"/>
                </a:solidFill>
                <a:latin typeface="Roboto" panose="02000000000000000000" pitchFamily="2" charset="0"/>
                <a:cs typeface="B Titr" panose="00000700000000000000" pitchFamily="2" charset="-78"/>
              </a:rPr>
              <a:t>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 </a:t>
            </a:r>
            <a:r>
              <a:rPr kumimoji="0" lang="fa-IR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: </a:t>
            </a:r>
            <a:r>
              <a:rPr kumimoji="0" lang="ar-SA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داده بازنمایی شده</a:t>
            </a:r>
            <a:r>
              <a:rPr kumimoji="0" lang="fa-IR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 از</a:t>
            </a:r>
            <a:r>
              <a:rPr kumimoji="0" lang="ar-SA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 یک تصویر است</a:t>
            </a:r>
            <a:r>
              <a:rPr kumimoji="0" lang="fa-IR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.</a:t>
            </a: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 D(x) </a:t>
            </a:r>
            <a:r>
              <a:rPr kumimoji="0" lang="fa-IR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 :  </a:t>
            </a:r>
            <a:r>
              <a:rPr kumimoji="0" lang="ar-SA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متمایز کننده ممیز یک اسکالر را می سازد.</a:t>
            </a:r>
            <a:r>
              <a:rPr kumimoji="0" lang="fa-IR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 </a:t>
            </a: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A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 ورودی ممیز یک تصویر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 CHW size 3x64x64 </a:t>
            </a:r>
            <a:r>
              <a:rPr kumimoji="0" lang="ar-SA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می باشد. </a:t>
            </a:r>
            <a:endParaRPr kumimoji="0" lang="fa-IR" altLang="en-US" sz="36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Roboto" panose="02000000000000000000" pitchFamily="2" charset="0"/>
              <a:cs typeface="B Titr" panose="00000700000000000000" pitchFamily="2" charset="-78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A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خروجی ممیز باید یک یا بالا باشد وقتی داده از مجموعه آموزش است</a:t>
            </a:r>
            <a:endParaRPr kumimoji="0" lang="fa-IR" altLang="en-US" sz="36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Roboto" panose="02000000000000000000" pitchFamily="2" charset="0"/>
              <a:cs typeface="B Titr" panose="00000700000000000000" pitchFamily="2" charset="-78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A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 و باید پایین باشد وقتی از داده های جعلی می باشد. </a:t>
            </a:r>
            <a:endParaRPr kumimoji="0" lang="fa-IR" altLang="en-US" sz="36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Roboto" panose="02000000000000000000" pitchFamily="2" charset="0"/>
              <a:cs typeface="B Titr" panose="00000700000000000000" pitchFamily="2" charset="-78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A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ممیز مانند یک دسته بندی کننده باینری</a:t>
            </a:r>
            <a:r>
              <a:rPr kumimoji="0" lang="fa-IR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 است.</a:t>
            </a:r>
          </a:p>
        </p:txBody>
      </p:sp>
    </p:spTree>
    <p:extLst>
      <p:ext uri="{BB962C8B-B14F-4D97-AF65-F5344CB8AC3E}">
        <p14:creationId xmlns:p14="http://schemas.microsoft.com/office/powerpoint/2010/main" val="21821082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B36BB-497E-C228-CCE5-B5B249B4F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1210DB-AA32-8E8F-CD38-9A7E19B52188}"/>
              </a:ext>
            </a:extLst>
          </p:cNvPr>
          <p:cNvSpPr txBox="1"/>
          <p:nvPr/>
        </p:nvSpPr>
        <p:spPr>
          <a:xfrm>
            <a:off x="734963" y="1894451"/>
            <a:ext cx="1061883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A" altLang="en-US" sz="2400" b="0" i="0" u="none" strike="noStrike" cap="none" normalizeH="0" baseline="0" dirty="0">
                <a:ln>
                  <a:noFill/>
                </a:ln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برای درک بهتر نحوه عملکرد مدل‌های تولیدکننده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 (Generator) </a:t>
            </a:r>
            <a:r>
              <a:rPr kumimoji="0" lang="ar-SA" altLang="en-US" sz="2400" b="0" i="0" u="none" strike="noStrike" cap="none" normalizeH="0" baseline="0" dirty="0">
                <a:ln>
                  <a:noFill/>
                </a:ln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در یادگیری عمیق، فرض کنید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 z </a:t>
            </a:r>
            <a:r>
              <a:rPr kumimoji="0" lang="ar-SA" altLang="en-US" sz="2400" b="0" i="0" u="none" strike="noStrike" cap="none" normalizeH="0" baseline="0" dirty="0">
                <a:ln>
                  <a:noFill/>
                </a:ln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یک بردار تصادفی است که از یک توزیع نرمال استاندارد نمونه‌گیری شده‌است. </a:t>
            </a:r>
            <a:endParaRPr kumimoji="0" lang="fa-IR" altLang="en-US" sz="2400" b="0" i="0" u="none" strike="noStrike" cap="none" normalizeH="0" baseline="0" dirty="0">
              <a:ln>
                <a:noFill/>
              </a:ln>
              <a:effectLst/>
              <a:latin typeface="Roboto" panose="02000000000000000000" pitchFamily="2" charset="0"/>
              <a:cs typeface="B Titr" panose="00000700000000000000" pitchFamily="2" charset="-78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A" altLang="en-US" sz="2400" b="0" i="0" u="none" strike="noStrike" cap="none" normalizeH="0" baseline="0" dirty="0">
                <a:ln>
                  <a:noFill/>
                </a:ln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تابع تولیدکننده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 G(z)</a:t>
            </a:r>
            <a:r>
              <a:rPr kumimoji="0" lang="fa-IR" altLang="en-US" sz="2400" b="0" i="0" u="none" strike="noStrike" cap="none" normalizeH="0" baseline="0" dirty="0">
                <a:ln>
                  <a:noFill/>
                </a:ln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 </a:t>
            </a:r>
            <a:r>
              <a:rPr kumimoji="0" lang="ar-SA" altLang="en-US" sz="2400" b="0" i="0" u="none" strike="noStrike" cap="none" normalizeH="0" baseline="0" dirty="0">
                <a:ln>
                  <a:noFill/>
                </a:ln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این بردار تصادفی را به فضای داده نگاشت می‌کند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cs typeface="B Titr" panose="00000700000000000000" pitchFamily="2" charset="-78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A" altLang="en-US" sz="2400" b="0" i="0" u="none" strike="noStrike" cap="none" normalizeH="0" baseline="0" dirty="0">
                <a:ln>
                  <a:noFill/>
                </a:ln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به این ترتیب، مدل </a:t>
            </a:r>
            <a:r>
              <a:rPr kumimoji="0" lang="fa-IR" altLang="en-US" sz="2400" b="0" i="0" u="none" strike="noStrike" cap="none" normalizeH="0" baseline="0" dirty="0">
                <a:ln>
                  <a:noFill/>
                </a:ln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مولد</a:t>
            </a:r>
            <a:r>
              <a:rPr kumimoji="0" lang="ar-SA" altLang="en-US" sz="2400" b="0" i="0" u="none" strike="noStrike" cap="none" normalizeH="0" baseline="0" dirty="0">
                <a:ln>
                  <a:noFill/>
                </a:ln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 قادر خواهد بود نمونه‌های جعلی جدیدی را بر اساس توزیع </a:t>
            </a:r>
            <a:r>
              <a:rPr kumimoji="0" lang="fa-IR" altLang="en-US" sz="2400" b="0" i="0" u="none" strike="noStrike" cap="none" normalizeH="0" baseline="0" dirty="0">
                <a:ln>
                  <a:noFill/>
                </a:ln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داده آموزش </a:t>
            </a:r>
            <a:r>
              <a:rPr kumimoji="0" lang="ar-SA" altLang="en-US" sz="2400" b="0" i="0" u="none" strike="noStrike" cap="none" normalizeH="0" baseline="0" dirty="0">
                <a:ln>
                  <a:noFill/>
                </a:ln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تولید کند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cs typeface="B Titr" panose="00000700000000000000" pitchFamily="2" charset="-78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D(G(z))</a:t>
            </a:r>
            <a:r>
              <a:rPr kumimoji="0" lang="fa-IR" altLang="en-US" sz="2400" b="0" i="0" u="none" strike="noStrike" cap="none" normalizeH="0" baseline="0" dirty="0">
                <a:ln>
                  <a:noFill/>
                </a:ln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   </a:t>
            </a:r>
            <a:r>
              <a:rPr kumimoji="0" lang="ar-SA" altLang="en-US" sz="2400" b="0" i="0" u="none" strike="noStrike" cap="none" normalizeH="0" baseline="0" dirty="0">
                <a:ln>
                  <a:noFill/>
                </a:ln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احتمال </a:t>
            </a:r>
            <a:r>
              <a:rPr kumimoji="0" lang="fa-IR" altLang="en-US" sz="2400" b="0" i="0" u="none" strike="noStrike" cap="none" normalizeH="0" baseline="0" dirty="0">
                <a:ln>
                  <a:noFill/>
                </a:ln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این است </a:t>
            </a:r>
            <a:r>
              <a:rPr kumimoji="0" lang="ar-SA" altLang="en-US" sz="2400" b="0" i="0" u="none" strike="noStrike" cap="none" normalizeH="0" baseline="0" dirty="0">
                <a:ln>
                  <a:noFill/>
                </a:ln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که خروجی مولد یک تصویر</a:t>
            </a:r>
            <a:r>
              <a:rPr kumimoji="0" lang="fa-IR" altLang="en-US" sz="2400" b="0" i="0" u="none" strike="noStrike" cap="none" normalizeH="0" baseline="0" dirty="0">
                <a:ln>
                  <a:noFill/>
                </a:ln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 نزدیک</a:t>
            </a:r>
            <a:r>
              <a:rPr kumimoji="0" lang="ar-SA" altLang="en-US" sz="2400" b="0" i="0" u="none" strike="noStrike" cap="none" normalizeH="0" baseline="0" dirty="0">
                <a:ln>
                  <a:noFill/>
                </a:ln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 </a:t>
            </a:r>
            <a:r>
              <a:rPr kumimoji="0" lang="fa-IR" altLang="en-US" sz="2400" b="0" i="0" u="none" strike="noStrike" cap="none" normalizeH="0" baseline="0" dirty="0">
                <a:ln>
                  <a:noFill/>
                </a:ln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به </a:t>
            </a:r>
            <a:r>
              <a:rPr kumimoji="0" lang="ar-SA" altLang="en-US" sz="2400" b="0" i="0" u="none" strike="noStrike" cap="none" normalizeH="0" baseline="0" dirty="0">
                <a:ln>
                  <a:noFill/>
                </a:ln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واقعی</a:t>
            </a:r>
            <a:r>
              <a:rPr kumimoji="0" lang="fa-IR" altLang="en-US" sz="2400" b="0" i="0" u="none" strike="noStrike" cap="none" normalizeH="0" baseline="0" dirty="0">
                <a:ln>
                  <a:noFill/>
                </a:ln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ت</a:t>
            </a:r>
            <a:r>
              <a:rPr kumimoji="0" lang="ar-SA" altLang="en-US" sz="2400" b="0" i="0" u="none" strike="noStrike" cap="none" normalizeH="0" baseline="0" dirty="0">
                <a:ln>
                  <a:noFill/>
                </a:ln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 باشد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.</a:t>
            </a:r>
            <a:r>
              <a:rPr lang="fa-IR" altLang="en-US" sz="2400" dirty="0">
                <a:cs typeface="B Titr" panose="00000700000000000000" pitchFamily="2" charset="-78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MathJax_Math-italic"/>
                <a:cs typeface="B Titr" panose="00000700000000000000" pitchFamily="2" charset="-78"/>
              </a:rPr>
              <a:t>logD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MathJax_Main"/>
                <a:cs typeface="B Titr" panose="00000700000000000000" pitchFamily="2" charset="-78"/>
              </a:rPr>
              <a:t>(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MathJax_Math-italic"/>
                <a:cs typeface="B Titr" panose="00000700000000000000" pitchFamily="2" charset="-78"/>
              </a:rPr>
              <a:t>x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MathJax_Main"/>
                <a:cs typeface="B Titr" panose="00000700000000000000" pitchFamily="2" charset="-78"/>
              </a:rPr>
              <a:t>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)</a:t>
            </a:r>
            <a:endParaRPr kumimoji="0" lang="fa-IR" altLang="en-US" sz="2400" b="0" i="0" u="none" strike="noStrike" cap="none" normalizeH="0" baseline="0" dirty="0">
              <a:ln>
                <a:noFill/>
              </a:ln>
              <a:effectLst/>
              <a:latin typeface="Roboto" panose="02000000000000000000" pitchFamily="2" charset="0"/>
              <a:cs typeface="B Titr" panose="00000700000000000000" pitchFamily="2" charset="-78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a-IR" altLang="en-US" sz="2400" dirty="0">
              <a:latin typeface="Roboto" panose="02000000000000000000" pitchFamily="2" charset="0"/>
              <a:cs typeface="B Titr" panose="00000700000000000000" pitchFamily="2" charset="-78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A" altLang="en-US" sz="2400" b="0" i="0" u="none" strike="noStrike" cap="none" normalizeH="0" baseline="0" dirty="0">
                <a:ln>
                  <a:noFill/>
                </a:ln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 مولد هم سعی دارد احتمال اینکه تولید او توسط ممیز شناسایی شود را پایین بیاورد</a:t>
            </a:r>
            <a:r>
              <a:rPr kumimoji="0" lang="fa-IR" altLang="en-US" sz="2400" b="0" i="0" u="none" strike="noStrike" cap="none" normalizeH="0" baseline="0" dirty="0">
                <a:ln>
                  <a:noFill/>
                </a:ln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(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MathJax_Math-italic"/>
                <a:cs typeface="B Titr" panose="00000700000000000000" pitchFamily="2" charset="-78"/>
              </a:rPr>
              <a:t>log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MathJax_Main"/>
                <a:cs typeface="B Titr" panose="00000700000000000000" pitchFamily="2" charset="-78"/>
              </a:rPr>
              <a:t>(1−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MathJax_Math-italic"/>
                <a:cs typeface="B Titr" panose="00000700000000000000" pitchFamily="2" charset="-78"/>
              </a:rPr>
              <a:t>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MathJax_Main"/>
                <a:cs typeface="B Titr" panose="00000700000000000000" pitchFamily="2" charset="-78"/>
              </a:rPr>
              <a:t>(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MathJax_Math-italic"/>
                <a:cs typeface="B Titr" panose="00000700000000000000" pitchFamily="2" charset="-78"/>
              </a:rPr>
              <a:t>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MathJax_Main"/>
                <a:cs typeface="B Titr" panose="00000700000000000000" pitchFamily="2" charset="-78"/>
              </a:rPr>
              <a:t>(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MathJax_Math-italic"/>
                <a:cs typeface="B Titr" panose="00000700000000000000" pitchFamily="2" charset="-78"/>
              </a:rPr>
              <a:t>z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MathJax_Main"/>
                <a:cs typeface="B Titr" panose="00000700000000000000" pitchFamily="2" charset="-78"/>
              </a:rPr>
              <a:t>)))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).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cs typeface="B Titr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918309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7F156-001F-C856-BA2F-6C202E787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058729-320F-C408-A192-B592AA138D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0DE951-EC3D-EB38-9F7A-A24CAB7BD4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99535" y="2577800"/>
            <a:ext cx="9792929" cy="1325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6633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7CCC0-29E4-6D52-E89C-ACA7667FE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0" i="0" dirty="0">
                <a:solidFill>
                  <a:srgbClr val="002060"/>
                </a:solidFill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What is a DCGAN?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44C8A-9D62-9585-2FCC-DDA4E42813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477" y="1474838"/>
            <a:ext cx="11808542" cy="5240593"/>
          </a:xfrm>
          <a:noFill/>
        </p:spPr>
        <p:txBody>
          <a:bodyPr>
            <a:noAutofit/>
          </a:bodyPr>
          <a:lstStyle/>
          <a:p>
            <a:pPr algn="just" rtl="1"/>
            <a:endParaRPr lang="fa-IR" sz="3600" b="0" i="0" dirty="0">
              <a:solidFill>
                <a:srgbClr val="002060"/>
              </a:solidFill>
              <a:effectLst/>
              <a:latin typeface="Roboto" panose="02000000000000000000" pitchFamily="2" charset="0"/>
              <a:cs typeface="B Titr" panose="00000700000000000000" pitchFamily="2" charset="-78"/>
            </a:endParaRPr>
          </a:p>
          <a:p>
            <a:pPr algn="r" rtl="1"/>
            <a:r>
              <a:rPr lang="fa-IR" sz="3600" b="0" i="0" dirty="0">
                <a:solidFill>
                  <a:srgbClr val="002060"/>
                </a:solidFill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شبکه‌های تولیدکننده‌ی تشویشی کانولوشنال عمیق</a:t>
            </a:r>
            <a:r>
              <a:rPr lang="en-US" sz="3600" b="0" i="0" dirty="0">
                <a:solidFill>
                  <a:srgbClr val="002060"/>
                </a:solidFill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DCGAN</a:t>
            </a:r>
            <a:r>
              <a:rPr lang="fa-IR" sz="3600" b="0" i="0" dirty="0">
                <a:solidFill>
                  <a:srgbClr val="002060"/>
                </a:solidFill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 </a:t>
            </a:r>
            <a:r>
              <a:rPr lang="en-US" sz="3600" b="0" i="0" dirty="0">
                <a:solidFill>
                  <a:srgbClr val="002060"/>
                </a:solidFill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 </a:t>
            </a:r>
            <a:r>
              <a:rPr lang="fa-IR" sz="3600" b="0" i="0" dirty="0">
                <a:solidFill>
                  <a:srgbClr val="002060"/>
                </a:solidFill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در واقع توسعه‌ی مستقیم شبکه‌های تولیدکننده‌ی تشویشی </a:t>
            </a:r>
            <a:r>
              <a:rPr lang="en-US" sz="3600" b="0" i="0" dirty="0">
                <a:solidFill>
                  <a:srgbClr val="002060"/>
                </a:solidFill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GAN</a:t>
            </a:r>
            <a:r>
              <a:rPr lang="fa-IR" sz="3600" dirty="0">
                <a:solidFill>
                  <a:srgbClr val="002060"/>
                </a:solidFill>
                <a:latin typeface="Roboto" panose="02000000000000000000" pitchFamily="2" charset="0"/>
                <a:cs typeface="B Titr" panose="00000700000000000000" pitchFamily="2" charset="-78"/>
              </a:rPr>
              <a:t>  </a:t>
            </a:r>
            <a:r>
              <a:rPr lang="en-US" sz="3600" b="0" i="0" dirty="0">
                <a:solidFill>
                  <a:srgbClr val="002060"/>
                </a:solidFill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 </a:t>
            </a:r>
            <a:r>
              <a:rPr lang="fa-IR" sz="3600" b="0" i="0" dirty="0">
                <a:solidFill>
                  <a:srgbClr val="002060"/>
                </a:solidFill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هستند، با این تفاوت که </a:t>
            </a:r>
            <a:r>
              <a:rPr lang="en-US" sz="3600" b="0" i="0" dirty="0">
                <a:solidFill>
                  <a:srgbClr val="002060"/>
                </a:solidFill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DCGAN </a:t>
            </a:r>
            <a:r>
              <a:rPr lang="fa-IR" sz="3600" b="0" i="0" dirty="0">
                <a:solidFill>
                  <a:srgbClr val="002060"/>
                </a:solidFill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 به‌صورت صریح از لایه‌های کانولوشن </a:t>
            </a:r>
            <a:r>
              <a:rPr lang="en-US" sz="3600" b="0" i="0" dirty="0">
                <a:solidFill>
                  <a:srgbClr val="002060"/>
                </a:solidFill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Convolution </a:t>
            </a:r>
            <a:r>
              <a:rPr lang="fa-IR" sz="3600" b="0" i="0" dirty="0">
                <a:solidFill>
                  <a:srgbClr val="002060"/>
                </a:solidFill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 و کانولوشن ترانسیوز  </a:t>
            </a:r>
            <a:r>
              <a:rPr lang="en-US" sz="3600" b="0" i="0" dirty="0">
                <a:solidFill>
                  <a:srgbClr val="002060"/>
                </a:solidFill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Convolutional Transpose</a:t>
            </a:r>
            <a:r>
              <a:rPr lang="fa-IR" sz="3600" b="0" i="0" dirty="0">
                <a:solidFill>
                  <a:srgbClr val="002060"/>
                </a:solidFill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 </a:t>
            </a:r>
            <a:r>
              <a:rPr lang="en-US" sz="3600" b="0" i="0" dirty="0">
                <a:solidFill>
                  <a:srgbClr val="002060"/>
                </a:solidFill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 </a:t>
            </a:r>
            <a:r>
              <a:rPr lang="fa-IR" sz="3600" b="0" i="0" dirty="0">
                <a:solidFill>
                  <a:srgbClr val="002060"/>
                </a:solidFill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به ترتیب در</a:t>
            </a:r>
            <a:r>
              <a:rPr lang="en-US" sz="3600" b="0" i="0" dirty="0">
                <a:solidFill>
                  <a:srgbClr val="002060"/>
                </a:solidFill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Discriminator</a:t>
            </a:r>
            <a:r>
              <a:rPr lang="fa-IR" sz="3600" b="0" i="0" dirty="0">
                <a:solidFill>
                  <a:srgbClr val="002060"/>
                </a:solidFill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 </a:t>
            </a:r>
            <a:r>
              <a:rPr lang="en-US" sz="3600" b="0" i="0" dirty="0">
                <a:solidFill>
                  <a:srgbClr val="002060"/>
                </a:solidFill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 </a:t>
            </a:r>
            <a:r>
              <a:rPr lang="fa-IR" sz="3600" b="0" i="0" dirty="0">
                <a:solidFill>
                  <a:srgbClr val="002060"/>
                </a:solidFill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و تولیدکننده  </a:t>
            </a:r>
            <a:r>
              <a:rPr lang="en-US" sz="3600" b="0" i="0" dirty="0">
                <a:solidFill>
                  <a:srgbClr val="002060"/>
                </a:solidFill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Generator</a:t>
            </a:r>
            <a:r>
              <a:rPr lang="fa-IR" sz="3600" b="0" i="0" dirty="0">
                <a:solidFill>
                  <a:srgbClr val="002060"/>
                </a:solidFill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 </a:t>
            </a:r>
            <a:r>
              <a:rPr lang="en-US" sz="3600" b="0" i="0" dirty="0">
                <a:solidFill>
                  <a:srgbClr val="002060"/>
                </a:solidFill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 </a:t>
            </a:r>
            <a:r>
              <a:rPr lang="fa-IR" sz="3600" b="0" i="0" dirty="0">
                <a:solidFill>
                  <a:srgbClr val="002060"/>
                </a:solidFill>
                <a:effectLst/>
                <a:latin typeface="Roboto" panose="02000000000000000000" pitchFamily="2" charset="0"/>
                <a:cs typeface="B Titr" panose="00000700000000000000" pitchFamily="2" charset="-78"/>
              </a:rPr>
              <a:t>استفاده می‌کند. </a:t>
            </a:r>
          </a:p>
        </p:txBody>
      </p:sp>
    </p:spTree>
    <p:extLst>
      <p:ext uri="{BB962C8B-B14F-4D97-AF65-F5344CB8AC3E}">
        <p14:creationId xmlns:p14="http://schemas.microsoft.com/office/powerpoint/2010/main" val="35994800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576</Words>
  <Application>Microsoft Office PowerPoint</Application>
  <PresentationFormat>Widescreen</PresentationFormat>
  <Paragraphs>45</Paragraphs>
  <Slides>9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Aptos</vt:lpstr>
      <vt:lpstr>Aptos Display</vt:lpstr>
      <vt:lpstr>Arial</vt:lpstr>
      <vt:lpstr>B Titr</vt:lpstr>
      <vt:lpstr>MathJax_Main</vt:lpstr>
      <vt:lpstr>MathJax_Math-italic</vt:lpstr>
      <vt:lpstr>Roboto</vt:lpstr>
      <vt:lpstr>Office Theme</vt:lpstr>
      <vt:lpstr>GAN Generative Adversarial Neural Network</vt:lpstr>
      <vt:lpstr>مقدمه</vt:lpstr>
      <vt:lpstr>PowerPoint Presentation</vt:lpstr>
      <vt:lpstr>میکرو پروژه</vt:lpstr>
      <vt:lpstr>میکرو پروژه</vt:lpstr>
      <vt:lpstr>PowerPoint Presentation</vt:lpstr>
      <vt:lpstr>PowerPoint Presentation</vt:lpstr>
      <vt:lpstr>PowerPoint Presentation</vt:lpstr>
      <vt:lpstr>What is a DCGAN?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GAN Adversarial Neural Network</dc:title>
  <dc:creator>Ali Mollaei</dc:creator>
  <cp:lastModifiedBy>Ali Mollaei</cp:lastModifiedBy>
  <cp:revision>49</cp:revision>
  <dcterms:created xsi:type="dcterms:W3CDTF">2024-05-18T09:20:49Z</dcterms:created>
  <dcterms:modified xsi:type="dcterms:W3CDTF">2024-05-23T12:41:59Z</dcterms:modified>
</cp:coreProperties>
</file>