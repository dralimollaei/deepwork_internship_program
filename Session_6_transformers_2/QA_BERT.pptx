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86" r:id="rId4"/>
    <p:sldId id="268" r:id="rId5"/>
    <p:sldId id="267" r:id="rId6"/>
    <p:sldId id="269" r:id="rId7"/>
    <p:sldId id="270" r:id="rId8"/>
    <p:sldId id="257" r:id="rId9"/>
    <p:sldId id="259" r:id="rId10"/>
    <p:sldId id="261" r:id="rId11"/>
    <p:sldId id="262" r:id="rId12"/>
    <p:sldId id="264" r:id="rId13"/>
    <p:sldId id="265" r:id="rId14"/>
    <p:sldId id="266" r:id="rId15"/>
    <p:sldId id="271" r:id="rId16"/>
    <p:sldId id="282" r:id="rId17"/>
    <p:sldId id="272" r:id="rId18"/>
    <p:sldId id="285" r:id="rId19"/>
    <p:sldId id="284" r:id="rId20"/>
    <p:sldId id="283" r:id="rId21"/>
    <p:sldId id="288" r:id="rId22"/>
    <p:sldId id="273" r:id="rId23"/>
    <p:sldId id="260" r:id="rId24"/>
    <p:sldId id="263" r:id="rId25"/>
    <p:sldId id="275" r:id="rId26"/>
    <p:sldId id="276" r:id="rId27"/>
    <p:sldId id="274" r:id="rId28"/>
    <p:sldId id="277" r:id="rId29"/>
    <p:sldId id="279" r:id="rId30"/>
    <p:sldId id="280" r:id="rId31"/>
    <p:sldId id="281" r:id="rId32"/>
    <p:sldId id="289" r:id="rId33"/>
    <p:sldId id="287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BABE6-A443-64C8-C21F-1EA25ADE57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A0FC18-6522-A61C-7358-09AC35E19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B5E0F-5678-9C8B-D760-804D87CD7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8BF04-6A46-481B-BBA6-1FB39B1BC1D6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49B15-AB69-E718-A95F-23E58DAD7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3BECF-9601-0AD0-7E07-17AC4B8FA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C5EFD-27D4-4837-9B1E-F6B401FC3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409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892A9-8E66-F44F-C528-CD56464E3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ACD33-08C8-FE88-ED08-885601D48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D75FB-BD58-A31B-E1D5-B12CCE615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8BF04-6A46-481B-BBA6-1FB39B1BC1D6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95817-D15E-706E-150C-C000EAB62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13E11-B339-1632-9FE5-085E04D29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C5EFD-27D4-4837-9B1E-F6B401FC3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879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31339-F7F2-CEE2-2BE4-8C2259617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EB157-4383-2414-6295-8FE2A991B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F43A1-A8B6-477A-10F9-8BD9200E2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8BF04-6A46-481B-BBA6-1FB39B1BC1D6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5261F-15C8-84D0-AE95-2F68F164B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2D994-3F3F-1442-7A58-86BE0F312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C5EFD-27D4-4837-9B1E-F6B401FC3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342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84228-80A2-BDD4-D626-DC92D9459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87446-D368-47DF-4DCE-67E9340FAC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46BF02-40FC-46F0-DD25-9264AD172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119AFC-F891-8EC7-6978-9C3D51B31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8BF04-6A46-481B-BBA6-1FB39B1BC1D6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31E21C-5CCA-CE1B-E5C0-92124BEFC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DE1AB3-9086-00CF-AD8F-21FFA3C46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C5EFD-27D4-4837-9B1E-F6B401FC3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135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A8C77-3572-5ECD-ED47-EE73CF9CF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F61B0-9412-C227-B277-07F46F2BA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AC2779-66E7-8944-D448-38520EAA27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6EAE0B-FE41-50F7-E117-11CD0256B8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9633B7-2256-B05E-5A78-C0384C67E2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BC5F83-DC18-42E0-E0FB-C63DEBA2D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8BF04-6A46-481B-BBA6-1FB39B1BC1D6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33A9B9-7596-F31B-ABC7-37BFD073D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F72CF-5CFD-2F7B-FA60-F8234B122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C5EFD-27D4-4837-9B1E-F6B401FC3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041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5AA75-F1C9-6EBF-6544-7F3A63667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C60A00-2EC5-B11D-3554-BF4C19519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8BF04-6A46-481B-BBA6-1FB39B1BC1D6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9009A8-3434-56D9-781E-AAD54983B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CDE301-EB98-AABE-F458-04904AE3A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C5EFD-27D4-4837-9B1E-F6B401FC3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77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4C3D32-261F-52B6-C2AD-E0A94ACCD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8BF04-6A46-481B-BBA6-1FB39B1BC1D6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B4F7C9-C430-CBE9-5D85-8FE83E11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9AEE3-2A8E-EDB2-2C22-71EC2A1FB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C5EFD-27D4-4837-9B1E-F6B401FC3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393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4B7EE-C50A-64DE-F368-9013560AA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CE70B-5ADE-BF5C-568B-2FE4260F2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66B4D2-3C71-DC4A-6EAD-4FAC7650FE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0A9E20-593D-2F22-D91B-EBB0DC4F4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8BF04-6A46-481B-BBA6-1FB39B1BC1D6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DB8D76-CB6F-B126-05C6-911E81663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98B239-5952-3718-E087-FF65493AB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C5EFD-27D4-4837-9B1E-F6B401FC3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147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899F0-FF2C-09AE-8BF5-A5D66647B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9CB7CA-816F-ADFA-E9AB-CEBA88596D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164ED4-406B-9F9D-7191-38DBC98455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97DB13-C9BB-2208-4D13-6B19CC309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8BF04-6A46-481B-BBA6-1FB39B1BC1D6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8EF76D-CE01-8589-40A0-CC36332E8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CC700-29C7-7E70-2F63-9B8EC9BBB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C5EFD-27D4-4837-9B1E-F6B401FC3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609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2334F-C043-91BB-959A-E351B4A09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026BF4-0B82-A143-ADA6-4C0F86D28F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242B9-0F2F-AF21-1ABC-804BE2064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8BF04-6A46-481B-BBA6-1FB39B1BC1D6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9DA77-6B0B-9AEA-7024-D06B5834F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5CD58-A0B7-F0B0-20C6-1C39A199A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C5EFD-27D4-4837-9B1E-F6B401FC3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265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CF04E6-A3FD-C5F5-EE08-2145785057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C23F5F-4644-2A13-92CD-96DDCD3A02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1C044-34CB-92E3-F80A-2007E73F6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8BF04-6A46-481B-BBA6-1FB39B1BC1D6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29F9F-4B11-F952-9DC7-FC942C853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CB2FA-6CE1-5787-4BA3-403652A54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C5EFD-27D4-4837-9B1E-F6B401FC3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578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A5047E-C2B6-F950-3F5E-4FEBE7E83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57F86-3838-C6F3-CC3A-5F7B028D0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1884F-732A-07F8-D642-2751AAB5E7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18BF04-6A46-481B-BBA6-1FB39B1BC1D6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4A269-EC39-0CBD-8DA9-121D483053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542D2-001C-0A24-9A6C-2147FCB772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4C5EFD-27D4-4837-9B1E-F6B401FC3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472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docs/transformers/en/add_new_model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DA130-68F0-CCF8-ED29-1DB7D49FB7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Question Answering Model of Bert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6811A-55BE-1FE9-1102-D5B4AE8886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 Ali Mollaei</a:t>
            </a:r>
          </a:p>
        </p:txBody>
      </p:sp>
    </p:spTree>
    <p:extLst>
      <p:ext uri="{BB962C8B-B14F-4D97-AF65-F5344CB8AC3E}">
        <p14:creationId xmlns:p14="http://schemas.microsoft.com/office/powerpoint/2010/main" val="2420495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5F81B-1BFA-B9FE-EAE1-555426B97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09E8C-1DC4-4CE4-B4E4-0AC6A11CF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  <a:p>
            <a:r>
              <a:rPr lang="en-US" dirty="0"/>
              <a:t>Tokenizer &amp;&amp; vocab</a:t>
            </a:r>
          </a:p>
          <a:p>
            <a:r>
              <a:rPr lang="en-US" dirty="0"/>
              <a:t>Data preparation</a:t>
            </a:r>
          </a:p>
          <a:p>
            <a:r>
              <a:rPr lang="en-US" dirty="0"/>
              <a:t>Training Arguments</a:t>
            </a:r>
          </a:p>
          <a:p>
            <a:r>
              <a:rPr lang="en-US" dirty="0"/>
              <a:t>Fine tuning</a:t>
            </a:r>
          </a:p>
          <a:p>
            <a:r>
              <a:rPr lang="en-US" dirty="0"/>
              <a:t>Deploy 	</a:t>
            </a:r>
          </a:p>
        </p:txBody>
      </p:sp>
    </p:spTree>
    <p:extLst>
      <p:ext uri="{BB962C8B-B14F-4D97-AF65-F5344CB8AC3E}">
        <p14:creationId xmlns:p14="http://schemas.microsoft.com/office/powerpoint/2010/main" val="3643686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07771-C9F9-BC89-CAE3-B817C5908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last concept	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2A21D-31D7-C2AB-32CC-3CFF642D8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LLMs</a:t>
            </a:r>
          </a:p>
          <a:p>
            <a:r>
              <a:rPr lang="en-US" dirty="0"/>
              <a:t>Transformers</a:t>
            </a:r>
          </a:p>
          <a:p>
            <a:r>
              <a:rPr lang="en-US" dirty="0"/>
              <a:t>Batch size</a:t>
            </a:r>
          </a:p>
          <a:p>
            <a:r>
              <a:rPr lang="en-US" dirty="0"/>
              <a:t>Encoder</a:t>
            </a:r>
          </a:p>
          <a:p>
            <a:r>
              <a:rPr lang="en-US" dirty="0"/>
              <a:t>Decoder</a:t>
            </a:r>
          </a:p>
          <a:p>
            <a:r>
              <a:rPr lang="en-US" dirty="0"/>
              <a:t>Attention </a:t>
            </a:r>
          </a:p>
          <a:p>
            <a:r>
              <a:rPr lang="en-US" dirty="0"/>
              <a:t>Data loader </a:t>
            </a:r>
          </a:p>
        </p:txBody>
      </p:sp>
    </p:spTree>
    <p:extLst>
      <p:ext uri="{BB962C8B-B14F-4D97-AF65-F5344CB8AC3E}">
        <p14:creationId xmlns:p14="http://schemas.microsoft.com/office/powerpoint/2010/main" val="4168330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29A09-DB8C-3BE8-F61B-3B29DC8F5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Bert vs MLP as a classic 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645D6-85FF-D25B-1D10-7F5E4A5AF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fa-IR" dirty="0"/>
              <a:t>موازی سازی فرآیند آموزش و افزایش سرعت</a:t>
            </a:r>
          </a:p>
          <a:p>
            <a:pPr algn="r" rtl="1"/>
            <a:r>
              <a:rPr lang="fa-IR" dirty="0"/>
              <a:t>بهبود گرادیان کاهشی</a:t>
            </a:r>
          </a:p>
          <a:p>
            <a:pPr algn="r" rtl="1"/>
            <a:r>
              <a:rPr lang="fa-IR" dirty="0"/>
              <a:t>توجه بهتر به کلمات قبل و بعد از یک توکن هدف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832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1217A-2DA4-E5C2-9F1B-D4C2D5D89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Bert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B11A4-36D2-F9ED-64A2-3C24DE4F7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4B5563"/>
                </a:solidFill>
                <a:effectLst/>
                <a:highlight>
                  <a:srgbClr val="FFFFFF"/>
                </a:highlight>
                <a:latin typeface="Source Sans Pro" panose="020B0503030403020204" pitchFamily="34" charset="0"/>
              </a:rPr>
              <a:t>Text Classification</a:t>
            </a:r>
          </a:p>
          <a:p>
            <a:r>
              <a:rPr lang="en-US" b="0" i="0" dirty="0">
                <a:solidFill>
                  <a:srgbClr val="4B5563"/>
                </a:solidFill>
                <a:effectLst/>
                <a:highlight>
                  <a:srgbClr val="FFFFFF"/>
                </a:highlight>
                <a:latin typeface="Source Sans Pro" panose="020B0503030403020204" pitchFamily="34" charset="0"/>
              </a:rPr>
              <a:t>Token Classification</a:t>
            </a:r>
          </a:p>
          <a:p>
            <a:r>
              <a:rPr lang="en-US" b="0" i="0" dirty="0">
                <a:solidFill>
                  <a:srgbClr val="4B5563"/>
                </a:solidFill>
                <a:effectLst/>
                <a:highlight>
                  <a:srgbClr val="FFFFFF"/>
                </a:highlight>
                <a:latin typeface="Source Sans Pro" panose="020B0503030403020204" pitchFamily="34" charset="0"/>
              </a:rPr>
              <a:t>Fill-Mask</a:t>
            </a:r>
            <a:endParaRPr lang="en-US" dirty="0">
              <a:solidFill>
                <a:srgbClr val="4B5563"/>
              </a:solidFill>
              <a:highlight>
                <a:srgbClr val="FFFFFF"/>
              </a:highlight>
              <a:latin typeface="Source Sans Pro" panose="020B0503030403020204" pitchFamily="34" charset="0"/>
            </a:endParaRPr>
          </a:p>
          <a:p>
            <a:r>
              <a:rPr lang="en-US" b="0" i="0" dirty="0">
                <a:solidFill>
                  <a:srgbClr val="4B5563"/>
                </a:solidFill>
                <a:effectLst/>
                <a:highlight>
                  <a:srgbClr val="FFFFFF"/>
                </a:highlight>
                <a:latin typeface="Source Sans Pro" panose="020B0503030403020204" pitchFamily="34" charset="0"/>
              </a:rPr>
              <a:t>Question Answering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051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7DE8F-50A0-31E2-B327-2A03E4038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tokens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56900-B96F-0936-77A5-50416F2D6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# Display special tokens</a:t>
            </a:r>
          </a:p>
          <a:p>
            <a:r>
              <a:rPr lang="en-US" dirty="0"/>
              <a:t> </a:t>
            </a:r>
            <a:r>
              <a:rPr lang="en-US" dirty="0" err="1"/>
              <a:t>special_tokens</a:t>
            </a:r>
            <a:r>
              <a:rPr lang="en-US" dirty="0"/>
              <a:t> = { </a:t>
            </a:r>
          </a:p>
          <a:p>
            <a:r>
              <a:rPr lang="en-US" dirty="0"/>
              <a:t>"</a:t>
            </a:r>
            <a:r>
              <a:rPr lang="en-US" dirty="0" err="1"/>
              <a:t>bos_token</a:t>
            </a:r>
            <a:r>
              <a:rPr lang="en-US" dirty="0"/>
              <a:t>":         </a:t>
            </a:r>
            <a:r>
              <a:rPr lang="en-US" dirty="0" err="1"/>
              <a:t>tokenizer.bos_token</a:t>
            </a:r>
            <a:r>
              <a:rPr lang="en-US" dirty="0"/>
              <a:t>,</a:t>
            </a:r>
          </a:p>
          <a:p>
            <a:r>
              <a:rPr lang="en-US" dirty="0"/>
              <a:t> "</a:t>
            </a:r>
            <a:r>
              <a:rPr lang="en-US" dirty="0" err="1"/>
              <a:t>eos_token</a:t>
            </a:r>
            <a:r>
              <a:rPr lang="en-US" dirty="0"/>
              <a:t>":        </a:t>
            </a:r>
            <a:r>
              <a:rPr lang="en-US" dirty="0" err="1"/>
              <a:t>tokenizer.eos_token</a:t>
            </a:r>
            <a:r>
              <a:rPr lang="en-US" dirty="0"/>
              <a:t>,</a:t>
            </a:r>
          </a:p>
          <a:p>
            <a:r>
              <a:rPr lang="en-US" dirty="0"/>
              <a:t> "</a:t>
            </a:r>
            <a:r>
              <a:rPr lang="en-US" dirty="0" err="1"/>
              <a:t>unk_token</a:t>
            </a:r>
            <a:r>
              <a:rPr lang="en-US" dirty="0"/>
              <a:t>":        </a:t>
            </a:r>
            <a:r>
              <a:rPr lang="en-US" dirty="0" err="1"/>
              <a:t>tokenizer.unk_token</a:t>
            </a:r>
            <a:r>
              <a:rPr lang="en-US" dirty="0"/>
              <a:t>,</a:t>
            </a:r>
          </a:p>
          <a:p>
            <a:r>
              <a:rPr lang="en-US" dirty="0"/>
              <a:t> "</a:t>
            </a:r>
            <a:r>
              <a:rPr lang="en-US" dirty="0" err="1"/>
              <a:t>sep_token</a:t>
            </a:r>
            <a:r>
              <a:rPr lang="en-US" dirty="0"/>
              <a:t>":        </a:t>
            </a:r>
            <a:r>
              <a:rPr lang="en-US" dirty="0" err="1"/>
              <a:t>tokenizer.sep_token</a:t>
            </a:r>
            <a:r>
              <a:rPr lang="en-US" dirty="0"/>
              <a:t>,</a:t>
            </a:r>
          </a:p>
          <a:p>
            <a:r>
              <a:rPr lang="en-US" dirty="0"/>
              <a:t> "</a:t>
            </a:r>
            <a:r>
              <a:rPr lang="en-US" dirty="0" err="1"/>
              <a:t>pad_token</a:t>
            </a:r>
            <a:r>
              <a:rPr lang="en-US" dirty="0"/>
              <a:t>":	 </a:t>
            </a:r>
            <a:r>
              <a:rPr lang="en-US" dirty="0" err="1"/>
              <a:t>tokenizer.pad_token</a:t>
            </a:r>
            <a:r>
              <a:rPr lang="en-US" dirty="0"/>
              <a:t>,</a:t>
            </a:r>
          </a:p>
          <a:p>
            <a:r>
              <a:rPr lang="en-US" dirty="0"/>
              <a:t> "</a:t>
            </a:r>
            <a:r>
              <a:rPr lang="en-US" dirty="0" err="1"/>
              <a:t>cls_token</a:t>
            </a:r>
            <a:r>
              <a:rPr lang="en-US" dirty="0"/>
              <a:t>":         </a:t>
            </a:r>
            <a:r>
              <a:rPr lang="en-US" dirty="0" err="1"/>
              <a:t>tokenizer.cls_token</a:t>
            </a:r>
            <a:r>
              <a:rPr lang="en-US" dirty="0"/>
              <a:t>,</a:t>
            </a:r>
          </a:p>
          <a:p>
            <a:r>
              <a:rPr lang="en-US" dirty="0"/>
              <a:t> "</a:t>
            </a:r>
            <a:r>
              <a:rPr lang="en-US" dirty="0" err="1"/>
              <a:t>mask_token</a:t>
            </a:r>
            <a:r>
              <a:rPr lang="en-US" dirty="0"/>
              <a:t>":    </a:t>
            </a:r>
            <a:r>
              <a:rPr lang="en-US" dirty="0" err="1"/>
              <a:t>tokenizer.mask_token</a:t>
            </a:r>
            <a:endParaRPr lang="en-US" dirty="0"/>
          </a:p>
          <a:p>
            <a:r>
              <a:rPr lang="en-US" dirty="0"/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3467088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C099A-B54F-C521-A551-C1C76BBC6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Special Tokens in BERT for Question Answering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BF5D0-F260-B5AD-4D69-E7BCCD4F6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2826"/>
            <a:ext cx="10515600" cy="5122605"/>
          </a:xfrm>
        </p:spPr>
        <p:txBody>
          <a:bodyPr>
            <a:normAutofit fontScale="92500" lnSpcReduction="10000"/>
          </a:bodyPr>
          <a:lstStyle/>
          <a:p>
            <a:pPr>
              <a:buFont typeface="+mj-lt"/>
              <a:buAutoNum type="arabicPeriod"/>
            </a:pPr>
            <a:r>
              <a:rPr lang="en-US" sz="1600" b="1" dirty="0"/>
              <a:t>[CLS] (Classification Token):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b="1" dirty="0"/>
              <a:t>Used at the beginning of every input sequence.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b="1" dirty="0"/>
              <a:t>For classification tasks, the final hidden state corresponding to this token is used as the aggregate sequence representation.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[SEP] (Separator Token):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b="1" dirty="0"/>
              <a:t>Used to separate different parts of the input, such as the question and the context in a QA task.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b="1" dirty="0"/>
              <a:t>Placed between the question and the context and at the end of the input sequence.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[PAD] (Padding Token):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b="1" dirty="0"/>
              <a:t>Used to pad sequences to ensure uniform length within a batch.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b="1" dirty="0"/>
              <a:t>Does not carry any meaningful information and is typically ignored by the model during training.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[UNK] (Unknown Token):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b="1" dirty="0"/>
              <a:t>Represents tokens that are not in the tokenizer's vocabulary.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[MASK] (Masking Token):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b="1" dirty="0"/>
              <a:t>Used in masked language modeling tasks (e.g., during pre-training of BERT).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b="1" dirty="0"/>
              <a:t>Not typically used in fine-tuning for QA tasks.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[BOS] (Beginning of Sequence Token):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b="1" dirty="0"/>
              <a:t>Represents the beginning of a sequence.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b="1" dirty="0"/>
              <a:t>Not used in standard BERT models but may be present in other transformer models.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[EOS] (End of Sequence Token):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b="1" dirty="0"/>
              <a:t>Represents the end of a sequence.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b="1" dirty="0"/>
              <a:t>Not used in standard BERT models but may be present in other transformer models.</a:t>
            </a:r>
          </a:p>
          <a:p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551928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8EC61-0619-3AF7-2DDD-E3B69CCC6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 Dataset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A70CB4-66C9-43BF-1F53-6F8EF4F3F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747" y="1996509"/>
            <a:ext cx="9488224" cy="31246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9A9456-D76F-5F48-C809-61BC69492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49" y="5426966"/>
            <a:ext cx="10515600" cy="1234831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5B558A9-6CB1-36E8-395B-B0D543B52F61}"/>
              </a:ext>
            </a:extLst>
          </p:cNvPr>
          <p:cNvSpPr/>
          <p:nvPr/>
        </p:nvSpPr>
        <p:spPr>
          <a:xfrm>
            <a:off x="8311945" y="752167"/>
            <a:ext cx="3116826" cy="9733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برشی از داده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549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8EC61-0619-3AF7-2DDD-E3B69CCC6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Dataset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DB4241-C36E-F7CE-7B7D-AC9C63E03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207" y="1521432"/>
            <a:ext cx="9871586" cy="5175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679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88D83-7F54-6916-CF38-3CD0FA02A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Bert input format</a:t>
            </a:r>
          </a:p>
        </p:txBody>
      </p:sp>
      <p:pic>
        <p:nvPicPr>
          <p:cNvPr id="1026" name="Picture 2" descr="Input format for QA">
            <a:extLst>
              <a:ext uri="{FF2B5EF4-FFF2-40B4-BE49-F238E27FC236}">
                <a16:creationId xmlns:a16="http://schemas.microsoft.com/office/drawing/2014/main" id="{0A99C972-B4C6-F5A7-1152-3D73C3DD7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832" y="2035278"/>
            <a:ext cx="6853084" cy="3991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CBAE1709-C6F7-E20F-106B-A394D1C232DD}"/>
              </a:ext>
            </a:extLst>
          </p:cNvPr>
          <p:cNvSpPr/>
          <p:nvPr/>
        </p:nvSpPr>
        <p:spPr>
          <a:xfrm>
            <a:off x="1229032" y="1592826"/>
            <a:ext cx="3087329" cy="158299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Segment embedding to distinguish between Question and Answer</a:t>
            </a:r>
          </a:p>
        </p:txBody>
      </p:sp>
    </p:spTree>
    <p:extLst>
      <p:ext uri="{BB962C8B-B14F-4D97-AF65-F5344CB8AC3E}">
        <p14:creationId xmlns:p14="http://schemas.microsoft.com/office/powerpoint/2010/main" val="312305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EF3C1-6B1D-C54D-22C6-B15431209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Predicting of start and end token for 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8C515-0DB8-1F91-D909-BE7EC0F45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Start token classification">
            <a:extLst>
              <a:ext uri="{FF2B5EF4-FFF2-40B4-BE49-F238E27FC236}">
                <a16:creationId xmlns:a16="http://schemas.microsoft.com/office/drawing/2014/main" id="{2A0042D3-DA37-0FD4-0AB6-9B1304B7CA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22" y="1844854"/>
            <a:ext cx="6437518" cy="490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End token classification">
            <a:extLst>
              <a:ext uri="{FF2B5EF4-FFF2-40B4-BE49-F238E27FC236}">
                <a16:creationId xmlns:a16="http://schemas.microsoft.com/office/drawing/2014/main" id="{4406ED92-2292-A409-81A0-25CC23383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6005" y="1690688"/>
            <a:ext cx="4904776" cy="490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2289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84C0E-AC5A-E0BE-6F56-BF1B9CE38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tokenizer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AAF712-D179-1E32-FBEC-AA68AC32C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77324"/>
            <a:ext cx="2705478" cy="49872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5E4634-CF63-884F-21C5-041771CBD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361" y="1777324"/>
            <a:ext cx="3002033" cy="49872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A4CB98-0B72-9527-7F9A-4F309DB225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758" y="1777324"/>
            <a:ext cx="2772162" cy="5080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152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F22-AC86-E768-460C-C27351DE4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313131"/>
                </a:solidFill>
                <a:effectLst/>
                <a:highlight>
                  <a:srgbClr val="FFFFFF"/>
                </a:highlight>
                <a:latin typeface="-apple-system"/>
              </a:rPr>
              <a:t>Visualizing Scores (start word scores)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1BECB-14C5-353E-52BD-BC802B3E8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Start word scores">
            <a:extLst>
              <a:ext uri="{FF2B5EF4-FFF2-40B4-BE49-F238E27FC236}">
                <a16:creationId xmlns:a16="http://schemas.microsoft.com/office/drawing/2014/main" id="{C634F5F6-5718-74B9-B69C-621459A4F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5" y="1485900"/>
            <a:ext cx="12121485" cy="537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9047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F22-AC86-E768-460C-C27351DE4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313131"/>
                </a:solidFill>
                <a:effectLst/>
                <a:highlight>
                  <a:srgbClr val="FFFFFF"/>
                </a:highlight>
                <a:latin typeface="-apple-system"/>
              </a:rPr>
              <a:t>Visualizing Scores (End word Scores)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1BECB-14C5-353E-52BD-BC802B3E8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End word scores">
            <a:extLst>
              <a:ext uri="{FF2B5EF4-FFF2-40B4-BE49-F238E27FC236}">
                <a16:creationId xmlns:a16="http://schemas.microsoft.com/office/drawing/2014/main" id="{DCB70845-FF43-CFC1-8F47-FCAA471CA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85900"/>
            <a:ext cx="12192000" cy="537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3887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54013-09E3-4A87-1837-1EC819E2F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of QA </a:t>
            </a:r>
            <a:r>
              <a:rPr lang="en-US" dirty="0" err="1"/>
              <a:t>bert</a:t>
            </a:r>
            <a:r>
              <a:rPr lang="en-US" dirty="0"/>
              <a:t> Model  tokenization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BCB03-DE19-32FD-5E00-32590DE17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70000" lnSpcReduction="20000"/>
          </a:bodyPr>
          <a:lstStyle/>
          <a:p>
            <a:r>
              <a:rPr lang="en-US" sz="4600" b="0" dirty="0">
                <a:solidFill>
                  <a:srgbClr val="9CDCFE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text</a:t>
            </a:r>
            <a:r>
              <a:rPr lang="en-US" sz="4600" b="0" dirty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 = </a:t>
            </a:r>
            <a:r>
              <a:rPr lang="en-US" sz="4600" b="0" dirty="0">
                <a:solidFill>
                  <a:srgbClr val="569CD6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r</a:t>
            </a:r>
            <a:r>
              <a:rPr lang="en-US" sz="4600" b="0" dirty="0">
                <a:solidFill>
                  <a:srgbClr val="D16969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"""</a:t>
            </a:r>
            <a:r>
              <a:rPr lang="fa-IR" sz="4600" b="0" dirty="0">
                <a:solidFill>
                  <a:srgbClr val="D16969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سلام  دوره علم داده با پایتون در کارخانه نوآوری مشهد برگزار میگردد با تدریس دکتر علی ملایی در روز های یکشنبه و سه شنبه در ساعت های شانزده الی بیست """</a:t>
            </a:r>
            <a:endParaRPr lang="fa-IR" sz="4600" b="0" dirty="0">
              <a:solidFill>
                <a:srgbClr val="D4D4D4"/>
              </a:solidFill>
              <a:effectLst/>
              <a:highlight>
                <a:srgbClr val="1E1E1E"/>
              </a:highlight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9CDCFE"/>
              </a:solidFill>
              <a:effectLst/>
              <a:highlight>
                <a:srgbClr val="1E1E1E"/>
              </a:highlight>
              <a:latin typeface="Consolas" panose="020B0609020204030204" pitchFamily="49" charset="0"/>
            </a:endParaRPr>
          </a:p>
          <a:p>
            <a:r>
              <a:rPr lang="en-US" sz="4600" dirty="0">
                <a:solidFill>
                  <a:srgbClr val="9CDCFE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questions</a:t>
            </a:r>
            <a:r>
              <a:rPr lang="en-US" b="0" dirty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 = [</a:t>
            </a:r>
          </a:p>
          <a:p>
            <a:pPr lvl="1"/>
            <a:r>
              <a:rPr lang="en-US" sz="3900" b="0" dirty="0">
                <a:solidFill>
                  <a:srgbClr val="CE9178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"</a:t>
            </a:r>
            <a:r>
              <a:rPr lang="fa-IR" sz="3900" b="0" dirty="0">
                <a:solidFill>
                  <a:srgbClr val="CE9178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مکان برگزاری دوره کجاست؟“</a:t>
            </a:r>
            <a:endParaRPr lang="en-US" sz="3900" b="0" dirty="0">
              <a:solidFill>
                <a:srgbClr val="CE9178"/>
              </a:solidFill>
              <a:effectLst/>
              <a:highlight>
                <a:srgbClr val="1E1E1E"/>
              </a:highlight>
              <a:latin typeface="Consolas" panose="020B0609020204030204" pitchFamily="49" charset="0"/>
            </a:endParaRPr>
          </a:p>
          <a:p>
            <a:pPr lvl="1"/>
            <a:r>
              <a:rPr lang="fa-IR" sz="3900" b="0" dirty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, </a:t>
            </a:r>
            <a:r>
              <a:rPr lang="fa-IR" sz="3900" b="0" dirty="0">
                <a:solidFill>
                  <a:srgbClr val="CE9178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"دوره در چه روزهایی برگزار می شود؟“</a:t>
            </a:r>
            <a:endParaRPr lang="en-US" sz="3900" b="0" dirty="0">
              <a:solidFill>
                <a:srgbClr val="CE9178"/>
              </a:solidFill>
              <a:effectLst/>
              <a:highlight>
                <a:srgbClr val="1E1E1E"/>
              </a:highlight>
              <a:latin typeface="Consolas" panose="020B0609020204030204" pitchFamily="49" charset="0"/>
            </a:endParaRPr>
          </a:p>
          <a:p>
            <a:pPr lvl="1"/>
            <a:r>
              <a:rPr lang="fa-IR" sz="3900" b="0" dirty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, </a:t>
            </a:r>
            <a:r>
              <a:rPr lang="fa-IR" sz="3900" b="0" dirty="0">
                <a:solidFill>
                  <a:srgbClr val="CE9178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"کارخانه نوآوری کجاست؟“</a:t>
            </a:r>
            <a:endParaRPr lang="en-US" sz="3900" b="0" dirty="0">
              <a:solidFill>
                <a:srgbClr val="CE9178"/>
              </a:solidFill>
              <a:effectLst/>
              <a:highlight>
                <a:srgbClr val="1E1E1E"/>
              </a:highlight>
              <a:latin typeface="Consolas" panose="020B0609020204030204" pitchFamily="49" charset="0"/>
            </a:endParaRPr>
          </a:p>
          <a:p>
            <a:r>
              <a:rPr lang="fa-IR" b="0" dirty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]</a:t>
            </a:r>
          </a:p>
          <a:p>
            <a:br>
              <a:rPr lang="fa-IR" b="0" dirty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</a:br>
            <a:endParaRPr lang="fa-IR" b="0" dirty="0">
              <a:solidFill>
                <a:srgbClr val="D4D4D4"/>
              </a:solidFill>
              <a:effectLst/>
              <a:highlight>
                <a:srgbClr val="1E1E1E"/>
              </a:highlight>
              <a:latin typeface="Consolas" panose="020B0609020204030204" pitchFamily="49" charset="0"/>
            </a:endParaRPr>
          </a:p>
          <a:p>
            <a:br>
              <a:rPr lang="fa-IR" b="0" dirty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</a:br>
            <a:endParaRPr lang="fa-IR" b="0" dirty="0">
              <a:solidFill>
                <a:srgbClr val="D4D4D4"/>
              </a:solidFill>
              <a:effectLst/>
              <a:highlight>
                <a:srgbClr val="1E1E1E"/>
              </a:highlight>
              <a:latin typeface="Consolas" panose="020B060902020403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919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54013-09E3-4A87-1837-1EC819E2F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of </a:t>
            </a:r>
            <a:r>
              <a:rPr lang="en-US"/>
              <a:t>QA </a:t>
            </a:r>
            <a:r>
              <a:rPr lang="en-US" dirty="0"/>
              <a:t>B</a:t>
            </a:r>
            <a:r>
              <a:rPr lang="en-US"/>
              <a:t>ert </a:t>
            </a:r>
            <a:r>
              <a:rPr lang="en-US" dirty="0"/>
              <a:t>Model  tokenization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BCB03-DE19-32FD-5E00-32590DE17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55000" lnSpcReduction="20000"/>
          </a:bodyPr>
          <a:lstStyle/>
          <a:p>
            <a:r>
              <a:rPr lang="en-US" sz="4600" b="0" dirty="0">
                <a:solidFill>
                  <a:srgbClr val="9CDCFE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Question:</a:t>
            </a:r>
            <a:r>
              <a:rPr lang="fa-IR" sz="4800" b="0" dirty="0">
                <a:solidFill>
                  <a:srgbClr val="CE9178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مکان برگزاری دوره کجاست؟</a:t>
            </a:r>
            <a:r>
              <a:rPr lang="en-US" sz="4800" b="0" dirty="0">
                <a:solidFill>
                  <a:srgbClr val="CE9178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 </a:t>
            </a:r>
            <a:r>
              <a:rPr lang="en-US" sz="4600" b="0" dirty="0">
                <a:solidFill>
                  <a:srgbClr val="9CDCFE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 </a:t>
            </a:r>
            <a:endParaRPr lang="fa-IR" sz="4600" b="0" dirty="0">
              <a:solidFill>
                <a:srgbClr val="9CDCFE"/>
              </a:solidFill>
              <a:effectLst/>
              <a:highlight>
                <a:srgbClr val="1E1E1E"/>
              </a:highlight>
              <a:latin typeface="Consolas" panose="020B0609020204030204" pitchFamily="49" charset="0"/>
            </a:endParaRPr>
          </a:p>
          <a:p>
            <a:r>
              <a:rPr lang="en-US" sz="4600" b="0" dirty="0">
                <a:solidFill>
                  <a:srgbClr val="9CDCFE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Tokenized input IDs: </a:t>
            </a:r>
          </a:p>
          <a:p>
            <a:r>
              <a:rPr lang="en-US" sz="4600" b="0" dirty="0">
                <a:solidFill>
                  <a:srgbClr val="9CDCFE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 tensor([[    2,  4586,  5003,  3511, 13558,  1350,     4,  4285,  3511,  5120, 3171,  2799, 22504,  2786,  6307,  8524,  6187,  4004,  4687,  2799,6692,  4283,  3366, 56258,  2786,  2991,  6343,  6368,  1379,  3140,</a:t>
            </a:r>
          </a:p>
          <a:p>
            <a:r>
              <a:rPr lang="en-US" sz="4600" b="0" dirty="0">
                <a:solidFill>
                  <a:srgbClr val="9CDCFE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          4815,  2786,  3551,  6343, 13457,  4527,  5687,     4]])</a:t>
            </a:r>
          </a:p>
          <a:p>
            <a:r>
              <a:rPr lang="en-US" sz="4600" b="0" dirty="0">
                <a:solidFill>
                  <a:srgbClr val="9CDCFE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Tokens: </a:t>
            </a:r>
          </a:p>
          <a:p>
            <a:r>
              <a:rPr lang="en-US" sz="4600" b="0" dirty="0">
                <a:solidFill>
                  <a:srgbClr val="9CDCFE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 ['[CLS]', '</a:t>
            </a:r>
            <a:r>
              <a:rPr lang="fa-IR" sz="4600" b="0" dirty="0">
                <a:solidFill>
                  <a:srgbClr val="9CDCFE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مکان', 'برگزاری', 'دوره', 'کجاست', '؟', '[</a:t>
            </a:r>
            <a:r>
              <a:rPr lang="en-US" sz="4600" b="0" dirty="0">
                <a:solidFill>
                  <a:srgbClr val="9CDCFE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SEP]', '</a:t>
            </a:r>
            <a:r>
              <a:rPr lang="fa-IR" sz="4600" b="0" dirty="0">
                <a:solidFill>
                  <a:srgbClr val="9CDCFE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سلام', 'دوره', 'علم', 'داده', 'با', 'پایتون', 'در', 'کارخانه', 'نواوری', 'مشهد', 'برگزار', 'میگردد', 'با', 'تدریس', 'دکتر', 'علی', 'ملایی', 'در', 'روز', 'های', 'یکشنبه', 'و', 'سه', 'شنبه', 'در', 'ساعت', 'های', 'شانزده', 'الی', 'بیست', '[</a:t>
            </a:r>
            <a:r>
              <a:rPr lang="en-US" sz="4600" b="0" dirty="0">
                <a:solidFill>
                  <a:srgbClr val="9CDCFE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SEP]']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6447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54DA0-51A7-94BE-0587-7241865A9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before Preparation for QA Bert Model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999BBA2-B037-1FE5-D409-123A76D87F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Content Placeholder 9" descr="A screenshot of a computer">
            <a:extLst>
              <a:ext uri="{FF2B5EF4-FFF2-40B4-BE49-F238E27FC236}">
                <a16:creationId xmlns:a16="http://schemas.microsoft.com/office/drawing/2014/main" id="{9991E698-129F-8B17-134B-5831B5A132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8" t="29447" b="26942"/>
          <a:stretch/>
        </p:blipFill>
        <p:spPr>
          <a:xfrm>
            <a:off x="336786" y="1317523"/>
            <a:ext cx="11855214" cy="5407742"/>
          </a:xfrm>
        </p:spPr>
      </p:pic>
    </p:spTree>
    <p:extLst>
      <p:ext uri="{BB962C8B-B14F-4D97-AF65-F5344CB8AC3E}">
        <p14:creationId xmlns:p14="http://schemas.microsoft.com/office/powerpoint/2010/main" val="7411770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455E8-BF99-14C2-3C11-71EDB4864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Tokenizer keys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C43E95-907E-F6D0-30B2-64ED8EBA7E29}"/>
              </a:ext>
            </a:extLst>
          </p:cNvPr>
          <p:cNvSpPr txBox="1"/>
          <p:nvPr/>
        </p:nvSpPr>
        <p:spPr>
          <a:xfrm>
            <a:off x="78658" y="1723296"/>
            <a:ext cx="1195602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'</a:t>
            </a:r>
            <a:r>
              <a:rPr lang="en-US" sz="2400" b="1" dirty="0" err="1"/>
              <a:t>input_ids</a:t>
            </a:r>
            <a:r>
              <a:rPr lang="en-US" sz="2400" dirty="0"/>
              <a:t>’: </a:t>
            </a:r>
          </a:p>
          <a:p>
            <a:pPr marL="914400" lvl="1" indent="-457200">
              <a:buFontTx/>
              <a:buChar char="-"/>
            </a:pPr>
            <a:r>
              <a:rPr lang="en-US" sz="2400" dirty="0"/>
              <a:t>The tokenized input sequences converted to numerical ids for the model to process.</a:t>
            </a:r>
          </a:p>
          <a:p>
            <a:r>
              <a:rPr lang="en-US" sz="2400" dirty="0"/>
              <a:t>'</a:t>
            </a:r>
            <a:r>
              <a:rPr lang="en-US" sz="2400" b="1" dirty="0" err="1"/>
              <a:t>token_type_ids</a:t>
            </a:r>
            <a:r>
              <a:rPr lang="en-US" sz="2400" dirty="0"/>
              <a:t>’:</a:t>
            </a:r>
          </a:p>
          <a:p>
            <a:pPr marL="914400" lvl="1" indent="-457200">
              <a:buFontTx/>
              <a:buChar char="-"/>
            </a:pPr>
            <a:r>
              <a:rPr lang="en-US" sz="2400" dirty="0"/>
              <a:t> Identifies which part of the input sequence corresponds to the question and which part to the context.</a:t>
            </a:r>
          </a:p>
          <a:p>
            <a:r>
              <a:rPr lang="en-US" sz="2400" dirty="0"/>
              <a:t>'</a:t>
            </a:r>
            <a:r>
              <a:rPr lang="en-US" sz="2400" b="1" dirty="0" err="1"/>
              <a:t>attention_mask</a:t>
            </a:r>
            <a:r>
              <a:rPr lang="en-US" sz="2400" dirty="0"/>
              <a:t>’:</a:t>
            </a:r>
          </a:p>
          <a:p>
            <a:pPr marL="914400" lvl="1" indent="-457200">
              <a:buFontTx/>
              <a:buChar char="-"/>
            </a:pPr>
            <a:r>
              <a:rPr lang="en-US" sz="2400" dirty="0"/>
              <a:t> Denotes which tokens should be attended to by the model during processing.</a:t>
            </a:r>
          </a:p>
          <a:p>
            <a:r>
              <a:rPr lang="en-US" sz="2400" dirty="0"/>
              <a:t>'</a:t>
            </a:r>
            <a:r>
              <a:rPr lang="en-US" sz="2400" b="1" dirty="0" err="1"/>
              <a:t>offset_mapping</a:t>
            </a:r>
            <a:r>
              <a:rPr lang="en-US" sz="2400" dirty="0"/>
              <a:t>’: </a:t>
            </a:r>
          </a:p>
          <a:p>
            <a:pPr marL="914400" lvl="1" indent="-457200">
              <a:buFontTx/>
              <a:buChar char="-"/>
            </a:pPr>
            <a:r>
              <a:rPr lang="en-US" sz="2400" dirty="0"/>
              <a:t>Provides the mapping of tokens to their corresponding character offsets in the original text.</a:t>
            </a:r>
          </a:p>
          <a:p>
            <a:r>
              <a:rPr lang="en-US" sz="2400" b="1" dirty="0"/>
              <a:t>'</a:t>
            </a:r>
            <a:r>
              <a:rPr lang="en-US" sz="2400" b="1" dirty="0" err="1"/>
              <a:t>overflow_to_sample_mapping</a:t>
            </a:r>
            <a:r>
              <a:rPr lang="en-US" sz="2400" dirty="0"/>
              <a:t>’: </a:t>
            </a:r>
          </a:p>
          <a:p>
            <a:r>
              <a:rPr lang="en-US" sz="2400" dirty="0"/>
              <a:t>	- Maps overflowed tokenized examples back to the original examples they 	originated from.</a:t>
            </a:r>
          </a:p>
        </p:txBody>
      </p:sp>
    </p:spTree>
    <p:extLst>
      <p:ext uri="{BB962C8B-B14F-4D97-AF65-F5344CB8AC3E}">
        <p14:creationId xmlns:p14="http://schemas.microsoft.com/office/powerpoint/2010/main" val="22541559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54DA0-51A7-94BE-0587-7241865A9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after Preparation for QA Bert Model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999BBA2-B037-1FE5-D409-123A76D87F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Content Placeholder 6" descr="A screenshot of a computer">
            <a:extLst>
              <a:ext uri="{FF2B5EF4-FFF2-40B4-BE49-F238E27FC236}">
                <a16:creationId xmlns:a16="http://schemas.microsoft.com/office/drawing/2014/main" id="{391AFD78-3F0A-356F-8C58-EAB583EBE0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22" t="18602" r="1" b="19033"/>
          <a:stretch/>
        </p:blipFill>
        <p:spPr>
          <a:xfrm>
            <a:off x="119295" y="1356853"/>
            <a:ext cx="11972349" cy="5348748"/>
          </a:xfrm>
        </p:spPr>
      </p:pic>
    </p:spTree>
    <p:extLst>
      <p:ext uri="{BB962C8B-B14F-4D97-AF65-F5344CB8AC3E}">
        <p14:creationId xmlns:p14="http://schemas.microsoft.com/office/powerpoint/2010/main" val="37816997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E4600-CFDA-1F6E-7D76-9B1F85AE5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Summery </a:t>
            </a:r>
          </a:p>
        </p:txBody>
      </p:sp>
      <p:pic>
        <p:nvPicPr>
          <p:cNvPr id="5" name="Content Placeholder 4" descr="A screenshot of a computer">
            <a:extLst>
              <a:ext uri="{FF2B5EF4-FFF2-40B4-BE49-F238E27FC236}">
                <a16:creationId xmlns:a16="http://schemas.microsoft.com/office/drawing/2014/main" id="{0E34B13E-27FD-4EE1-6589-784B1FD5FA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40320" b="5978"/>
          <a:stretch/>
        </p:blipFill>
        <p:spPr>
          <a:xfrm>
            <a:off x="4814538" y="0"/>
            <a:ext cx="7377462" cy="6858000"/>
          </a:xfr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93CF433-9FCC-7F93-1DBF-A9CBEDBC0200}"/>
              </a:ext>
            </a:extLst>
          </p:cNvPr>
          <p:cNvSpPr/>
          <p:nvPr/>
        </p:nvSpPr>
        <p:spPr>
          <a:xfrm>
            <a:off x="196645" y="2300748"/>
            <a:ext cx="4513007" cy="16911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rgbClr val="FFFF00"/>
                </a:solidFill>
              </a:rPr>
              <a:t>162,252,290 Bert parameters</a:t>
            </a:r>
          </a:p>
        </p:txBody>
      </p:sp>
    </p:spTree>
    <p:extLst>
      <p:ext uri="{BB962C8B-B14F-4D97-AF65-F5344CB8AC3E}">
        <p14:creationId xmlns:p14="http://schemas.microsoft.com/office/powerpoint/2010/main" val="42574924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771A6-347C-C93D-BECE-A6D7DB376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size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574F3FE4-721A-2000-8005-86DAB3B85E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8" t="20409" r="70972" b="63152"/>
          <a:stretch/>
        </p:blipFill>
        <p:spPr>
          <a:xfrm>
            <a:off x="1681316" y="2389239"/>
            <a:ext cx="9139470" cy="3106994"/>
          </a:xfrm>
        </p:spPr>
      </p:pic>
    </p:spTree>
    <p:extLst>
      <p:ext uri="{BB962C8B-B14F-4D97-AF65-F5344CB8AC3E}">
        <p14:creationId xmlns:p14="http://schemas.microsoft.com/office/powerpoint/2010/main" val="34716477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3E39B-F63E-EEBE-5E71-A3C6C921F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of QA Bert Model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3DDF7D8C-8A28-3B17-8A95-9C19A68133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039"/>
            <a:ext cx="12192000" cy="5687961"/>
          </a:xfrm>
        </p:spPr>
      </p:pic>
    </p:spTree>
    <p:extLst>
      <p:ext uri="{BB962C8B-B14F-4D97-AF65-F5344CB8AC3E}">
        <p14:creationId xmlns:p14="http://schemas.microsoft.com/office/powerpoint/2010/main" val="18959160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6F5B9-ABCE-C442-E4B2-9B57292E9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Bert QA vs GPT QA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24A07-4CDC-876C-C0B5-650B39B30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Montserrat" panose="02000505000000020004" pitchFamily="2" charset="0"/>
              </a:rPr>
              <a:t>Bert finds answers from reference text</a:t>
            </a:r>
          </a:p>
          <a:p>
            <a:pPr lvl="1"/>
            <a:r>
              <a:rPr lang="en-US" sz="2800" dirty="0">
                <a:latin typeface="Montserrat" panose="02000505000000020004" pitchFamily="2" charset="0"/>
              </a:rPr>
              <a:t>But GPT try to generate Preferred answers</a:t>
            </a:r>
          </a:p>
          <a:p>
            <a:r>
              <a:rPr lang="en-US" dirty="0">
                <a:latin typeface="Montserrat" panose="02000505000000020004" pitchFamily="2" charset="0"/>
              </a:rPr>
              <a:t>Bert have been trained with dataset include the question, answer and context text</a:t>
            </a:r>
          </a:p>
          <a:p>
            <a:pPr lvl="1"/>
            <a:r>
              <a:rPr lang="en-US" sz="2800" dirty="0">
                <a:latin typeface="Montserrat" panose="02000505000000020004" pitchFamily="2" charset="0"/>
              </a:rPr>
              <a:t>But GPT have been trained on </a:t>
            </a:r>
            <a:r>
              <a:rPr lang="en-US" sz="2800" dirty="0" err="1">
                <a:latin typeface="Montserrat" panose="02000505000000020004" pitchFamily="2" charset="0"/>
              </a:rPr>
              <a:t>continouse</a:t>
            </a:r>
            <a:r>
              <a:rPr lang="en-US" sz="2800" dirty="0">
                <a:latin typeface="Montserrat" panose="02000505000000020004" pitchFamily="2" charset="0"/>
              </a:rPr>
              <a:t> words.</a:t>
            </a:r>
          </a:p>
          <a:p>
            <a:r>
              <a:rPr lang="en-US" dirty="0">
                <a:latin typeface="Montserrat" panose="02000505000000020004" pitchFamily="2" charset="0"/>
              </a:rPr>
              <a:t>ERT uses a bidirectional approach</a:t>
            </a:r>
          </a:p>
          <a:p>
            <a:pPr lvl="1"/>
            <a:r>
              <a:rPr lang="en-US" sz="2800" dirty="0">
                <a:latin typeface="Montserrat" panose="02000505000000020004" pitchFamily="2" charset="0"/>
              </a:rPr>
              <a:t>GPT uses a unidirectional approach</a:t>
            </a:r>
          </a:p>
        </p:txBody>
      </p:sp>
    </p:spTree>
    <p:extLst>
      <p:ext uri="{BB962C8B-B14F-4D97-AF65-F5344CB8AC3E}">
        <p14:creationId xmlns:p14="http://schemas.microsoft.com/office/powerpoint/2010/main" val="17526221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D53D5-8F1B-79F1-9487-63D001D07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Distillation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116F4-EAC3-4E6A-1AB7-B72A7DF41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62626"/>
                </a:solidFill>
                <a:effectLst/>
                <a:highlight>
                  <a:srgbClr val="FFFFFF"/>
                </a:highlight>
                <a:latin typeface="FreightSans"/>
              </a:rPr>
              <a:t>Knowledge distillation is a technique that enables knowledge transfer from large, computationally expensive models to smaller ones without losing validity. This allows for deployment on less powerful hardware, making evaluation faster and more efficient.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309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DACA4-161A-0652-47CD-A3F00A2B4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01BE0-99E7-CFB4-3AE0-881F900D5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Number of parameters in </a:t>
            </a:r>
            <a:r>
              <a:rPr lang="en-US" dirty="0" err="1"/>
              <a:t>TrainingArguments</a:t>
            </a:r>
            <a:r>
              <a:rPr lang="en-US" dirty="0"/>
              <a:t> class: </a:t>
            </a:r>
            <a:r>
              <a:rPr lang="en-US" sz="6000" dirty="0"/>
              <a:t>129</a:t>
            </a:r>
          </a:p>
          <a:p>
            <a:r>
              <a:rPr lang="en-US" b="0" dirty="0" err="1">
                <a:solidFill>
                  <a:srgbClr val="9CDCFE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evaluation_strategy</a:t>
            </a:r>
            <a:r>
              <a:rPr lang="en-US" b="0" dirty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"epoch"</a:t>
            </a:r>
            <a:r>
              <a:rPr lang="en-US" b="0" dirty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US" b="0" dirty="0" err="1">
                <a:solidFill>
                  <a:srgbClr val="9CDCFE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logging_strategy</a:t>
            </a:r>
            <a:r>
              <a:rPr lang="en-US" b="0" dirty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"steps"</a:t>
            </a:r>
            <a:r>
              <a:rPr lang="en-US" b="0" dirty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US" b="0" dirty="0" err="1">
                <a:solidFill>
                  <a:srgbClr val="9CDCFE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learning_rate</a:t>
            </a:r>
            <a:r>
              <a:rPr lang="en-US" b="0" dirty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=</a:t>
            </a:r>
            <a:r>
              <a:rPr lang="en-US" b="0" dirty="0" err="1">
                <a:solidFill>
                  <a:srgbClr val="9CDCFE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lr</a:t>
            </a:r>
            <a:r>
              <a:rPr lang="en-US" b="0" dirty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US" b="0" dirty="0" err="1">
                <a:solidFill>
                  <a:srgbClr val="9CDCFE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per_device_train_batch_size</a:t>
            </a:r>
            <a:r>
              <a:rPr lang="en-US" b="0" dirty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=</a:t>
            </a:r>
            <a:r>
              <a:rPr lang="en-US" b="0" dirty="0" err="1">
                <a:solidFill>
                  <a:srgbClr val="9CDCFE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batch_size</a:t>
            </a:r>
            <a:r>
              <a:rPr lang="en-US" b="0" dirty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US" b="0" dirty="0" err="1">
                <a:solidFill>
                  <a:srgbClr val="9CDCFE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per_device_eval_batch_size</a:t>
            </a:r>
            <a:r>
              <a:rPr lang="en-US" b="0" dirty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=</a:t>
            </a:r>
            <a:r>
              <a:rPr lang="en-US" b="0" dirty="0" err="1">
                <a:solidFill>
                  <a:srgbClr val="9CDCFE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batch_size</a:t>
            </a:r>
            <a:r>
              <a:rPr lang="en-US" b="0" dirty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US" b="0" dirty="0" err="1">
                <a:solidFill>
                  <a:srgbClr val="9CDCFE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num_train_epochs</a:t>
            </a:r>
            <a:r>
              <a:rPr lang="en-US" b="0" dirty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9CDCFE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epoch</a:t>
            </a:r>
            <a:r>
              <a:rPr lang="en-US" b="0" dirty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US" b="0" dirty="0" err="1">
                <a:solidFill>
                  <a:srgbClr val="9CDCFE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weight_decay</a:t>
            </a:r>
            <a:r>
              <a:rPr lang="en-US" b="0" dirty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0.0001</a:t>
            </a:r>
            <a:r>
              <a:rPr lang="en-US" b="0" dirty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US" b="0" dirty="0" err="1">
                <a:solidFill>
                  <a:srgbClr val="9CDCFE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save_total_limit</a:t>
            </a:r>
            <a:r>
              <a:rPr lang="en-US" b="0" dirty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2</a:t>
            </a:r>
            <a:endParaRPr lang="en-US" dirty="0">
              <a:solidFill>
                <a:srgbClr val="D4D4D4"/>
              </a:solidFill>
              <a:highlight>
                <a:srgbClr val="1E1E1E"/>
              </a:highlight>
              <a:latin typeface="Consolas" panose="020B0609020204030204" pitchFamily="49" charset="0"/>
            </a:endParaRPr>
          </a:p>
          <a:p>
            <a:r>
              <a:rPr lang="en-US" sz="2900" dirty="0" err="1">
                <a:solidFill>
                  <a:srgbClr val="9CDCFE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  <a:t>load_best_model_at_end</a:t>
            </a:r>
            <a:endParaRPr lang="en-US" sz="2900" dirty="0">
              <a:solidFill>
                <a:srgbClr val="9CDCFE"/>
              </a:solidFill>
              <a:highlight>
                <a:srgbClr val="1E1E1E"/>
              </a:highlight>
              <a:latin typeface="Consolas" panose="020B0609020204030204" pitchFamily="49" charset="0"/>
            </a:endParaRPr>
          </a:p>
          <a:p>
            <a:br>
              <a:rPr lang="en-US" sz="2900" dirty="0">
                <a:solidFill>
                  <a:srgbClr val="9CDCFE"/>
                </a:solidFill>
                <a:highlight>
                  <a:srgbClr val="1E1E1E"/>
                </a:highlight>
                <a:latin typeface="Consolas" panose="020B0609020204030204" pitchFamily="49" charset="0"/>
              </a:rPr>
            </a:br>
            <a:endParaRPr lang="en-US" sz="2900" dirty="0">
              <a:solidFill>
                <a:srgbClr val="9CDCFE"/>
              </a:solidFill>
              <a:highlight>
                <a:srgbClr val="1E1E1E"/>
              </a:highlight>
              <a:latin typeface="Consolas" panose="020B060902020403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45292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EEEA7-3B8B-FC6D-BDA1-822C435A6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Trainer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CAF85-2C6C-CED7-740A-80D981B3B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7522"/>
            <a:ext cx="10515600" cy="5540477"/>
          </a:xfrm>
        </p:spPr>
        <p:txBody>
          <a:bodyPr>
            <a:normAutofit/>
          </a:bodyPr>
          <a:lstStyle/>
          <a:p>
            <a:r>
              <a:rPr lang="en-US" sz="1800" b="1" dirty="0"/>
              <a:t>1. model - The model to be trained.</a:t>
            </a:r>
          </a:p>
          <a:p>
            <a:r>
              <a:rPr lang="en-US" sz="1800" b="1" dirty="0"/>
              <a:t>2. </a:t>
            </a:r>
            <a:r>
              <a:rPr lang="en-US" sz="1800" b="1" dirty="0" err="1"/>
              <a:t>args</a:t>
            </a:r>
            <a:r>
              <a:rPr lang="en-US" sz="1800" b="1" dirty="0"/>
              <a:t> - Training arguments containing settings such as batch size, learning rate, and number of epochs.</a:t>
            </a:r>
          </a:p>
          <a:p>
            <a:r>
              <a:rPr lang="en-US" sz="1800" b="1" dirty="0"/>
              <a:t>3. </a:t>
            </a:r>
            <a:r>
              <a:rPr lang="en-US" sz="1800" b="1" dirty="0" err="1"/>
              <a:t>data_collator</a:t>
            </a:r>
            <a:r>
              <a:rPr lang="en-US" sz="1800" b="1" dirty="0"/>
              <a:t> - Data collator used for batching and creating batches of input data.</a:t>
            </a:r>
          </a:p>
          <a:p>
            <a:r>
              <a:rPr lang="en-US" sz="1800" b="1" dirty="0"/>
              <a:t>4. </a:t>
            </a:r>
            <a:r>
              <a:rPr lang="en-US" sz="1800" b="1" dirty="0" err="1"/>
              <a:t>train_dataset</a:t>
            </a:r>
            <a:r>
              <a:rPr lang="en-US" sz="1800" b="1" dirty="0"/>
              <a:t> - Dataset containing the training data.</a:t>
            </a:r>
          </a:p>
          <a:p>
            <a:r>
              <a:rPr lang="en-US" sz="1800" b="1" dirty="0"/>
              <a:t>5. </a:t>
            </a:r>
            <a:r>
              <a:rPr lang="en-US" sz="1800" b="1" dirty="0" err="1"/>
              <a:t>eval_dataset</a:t>
            </a:r>
            <a:r>
              <a:rPr lang="en-US" sz="1800" b="1" dirty="0"/>
              <a:t> - Dataset containing the evaluation data.</a:t>
            </a:r>
          </a:p>
          <a:p>
            <a:r>
              <a:rPr lang="en-US" sz="1800" b="1" dirty="0"/>
              <a:t>6. tokenizer - Tokenizer used for tokenizing input data.</a:t>
            </a:r>
          </a:p>
          <a:p>
            <a:r>
              <a:rPr lang="en-US" sz="1800" b="1" dirty="0"/>
              <a:t>7. </a:t>
            </a:r>
            <a:r>
              <a:rPr lang="en-US" sz="1800" b="1" dirty="0" err="1"/>
              <a:t>compute_metrics</a:t>
            </a:r>
            <a:r>
              <a:rPr lang="en-US" sz="1800" b="1" dirty="0"/>
              <a:t> - Function used for calculating evaluation metrics.</a:t>
            </a:r>
          </a:p>
          <a:p>
            <a:r>
              <a:rPr lang="en-US" sz="1800" b="1" dirty="0"/>
              <a:t>8. callbacks - List of callbacks to be called during training.</a:t>
            </a:r>
          </a:p>
          <a:p>
            <a:r>
              <a:rPr lang="en-US" sz="1800" b="1" dirty="0"/>
              <a:t>9. </a:t>
            </a:r>
            <a:r>
              <a:rPr lang="en-US" sz="1800" b="1" dirty="0" err="1"/>
              <a:t>model_init</a:t>
            </a:r>
            <a:r>
              <a:rPr lang="en-US" sz="1800" b="1" dirty="0"/>
              <a:t> - Callback function used to perform model initialization.</a:t>
            </a:r>
          </a:p>
          <a:p>
            <a:r>
              <a:rPr lang="en-US" sz="1800" b="1" dirty="0"/>
              <a:t>10. optimizers - Optimizers used for updating model parameters during training.</a:t>
            </a:r>
          </a:p>
          <a:p>
            <a:r>
              <a:rPr lang="en-US" sz="1800" b="1" dirty="0"/>
              <a:t>11. scheduler - Learning rate scheduler used for adjusting learning rates during training.</a:t>
            </a:r>
          </a:p>
          <a:p>
            <a:r>
              <a:rPr lang="en-US" sz="1800" b="1" dirty="0"/>
              <a:t>12. device - Device used for training (e.g. "</a:t>
            </a:r>
            <a:r>
              <a:rPr lang="en-US" sz="1800" b="1" dirty="0" err="1"/>
              <a:t>cuda</a:t>
            </a:r>
            <a:r>
              <a:rPr lang="en-US" sz="1800" b="1" dirty="0"/>
              <a:t>" for GPU training).</a:t>
            </a:r>
          </a:p>
          <a:p>
            <a:r>
              <a:rPr lang="en-US" sz="1800" b="1" dirty="0"/>
              <a:t>13. </a:t>
            </a:r>
            <a:r>
              <a:rPr lang="en-US" sz="1800" b="1" dirty="0" err="1"/>
              <a:t>data_collator</a:t>
            </a:r>
            <a:r>
              <a:rPr lang="en-US" sz="1800" b="1" dirty="0"/>
              <a:t> - The function to use to create the data collator that will be used for training. If None, data collator will be generated using default settings.</a:t>
            </a:r>
          </a:p>
        </p:txBody>
      </p:sp>
    </p:spTree>
    <p:extLst>
      <p:ext uri="{BB962C8B-B14F-4D97-AF65-F5344CB8AC3E}">
        <p14:creationId xmlns:p14="http://schemas.microsoft.com/office/powerpoint/2010/main" val="3735894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F3C80-B2CF-9170-D617-9DE931F69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5731"/>
            <a:ext cx="10515600" cy="1325563"/>
          </a:xfrm>
        </p:spPr>
        <p:txBody>
          <a:bodyPr>
            <a:normAutofit fontScale="90000"/>
          </a:bodyPr>
          <a:lstStyle/>
          <a:p>
            <a:pPr algn="l"/>
            <a:r>
              <a:rPr lang="en-US" b="0" i="0" dirty="0">
                <a:solidFill>
                  <a:srgbClr val="FFFFFF"/>
                </a:solidFill>
                <a:effectLst/>
                <a:highlight>
                  <a:srgbClr val="444654"/>
                </a:highlight>
                <a:latin typeface="Montserrat" panose="02000505000000020004" pitchFamily="2" charset="0"/>
              </a:rPr>
              <a:t>which parameters of Transformers </a:t>
            </a:r>
            <a:r>
              <a:rPr lang="en-US" b="0" i="0" dirty="0" err="1">
                <a:solidFill>
                  <a:srgbClr val="FFFFFF"/>
                </a:solidFill>
                <a:effectLst/>
                <a:highlight>
                  <a:srgbClr val="444654"/>
                </a:highlight>
                <a:latin typeface="Montserrat" panose="02000505000000020004" pitchFamily="2" charset="0"/>
              </a:rPr>
              <a:t>TrainingArguments</a:t>
            </a:r>
            <a:r>
              <a:rPr lang="en-US" b="0" i="0" dirty="0">
                <a:solidFill>
                  <a:srgbClr val="FFFFFF"/>
                </a:solidFill>
                <a:effectLst/>
                <a:highlight>
                  <a:srgbClr val="444654"/>
                </a:highlight>
                <a:latin typeface="Montserrat" panose="02000505000000020004" pitchFamily="2" charset="0"/>
              </a:rPr>
              <a:t> class is for enabling create check point of model?</a:t>
            </a:r>
            <a:br>
              <a:rPr lang="en-US" b="0" i="0" dirty="0">
                <a:solidFill>
                  <a:srgbClr val="FFFFFF"/>
                </a:solidFill>
                <a:effectLst/>
                <a:highlight>
                  <a:srgbClr val="444654"/>
                </a:highlight>
                <a:latin typeface="Montserrat" panose="02000505000000020004" pitchFamily="2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92C94-BFCD-FF00-3B3F-4420F2F13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54709"/>
            <a:ext cx="10515600" cy="3522253"/>
          </a:xfrm>
        </p:spPr>
        <p:txBody>
          <a:bodyPr>
            <a:normAutofit fontScale="92500"/>
          </a:bodyPr>
          <a:lstStyle/>
          <a:p>
            <a:r>
              <a:rPr lang="en-US" dirty="0"/>
              <a:t>`</a:t>
            </a:r>
            <a:r>
              <a:rPr lang="en-US" dirty="0" err="1"/>
              <a:t>save_strategy</a:t>
            </a:r>
            <a:r>
              <a:rPr lang="en-US" dirty="0"/>
              <a:t>`: This parameter specifies the strategy used to save checkpoints during training. </a:t>
            </a:r>
          </a:p>
          <a:p>
            <a:r>
              <a:rPr lang="en-US" dirty="0"/>
              <a:t>The possible values for </a:t>
            </a:r>
            <a:r>
              <a:rPr lang="en-US" dirty="0" err="1"/>
              <a:t>save_strategy</a:t>
            </a:r>
            <a:r>
              <a:rPr lang="en-US" dirty="0"/>
              <a:t> are</a:t>
            </a:r>
          </a:p>
          <a:p>
            <a:r>
              <a:rPr lang="en-US" dirty="0"/>
              <a:t> `no`, `steps`, `epoch`, `</a:t>
            </a:r>
            <a:r>
              <a:rPr lang="en-US" dirty="0" err="1"/>
              <a:t>steps+percentage</a:t>
            </a:r>
            <a:r>
              <a:rPr lang="en-US" dirty="0"/>
              <a:t>`, `</a:t>
            </a:r>
            <a:r>
              <a:rPr lang="en-US" dirty="0" err="1"/>
              <a:t>epoch+percentage</a:t>
            </a:r>
            <a:r>
              <a:rPr lang="en-US" dirty="0"/>
              <a:t>`, or a custom implementation of `</a:t>
            </a:r>
            <a:r>
              <a:rPr lang="en-US" dirty="0" err="1"/>
              <a:t>torch.optim.lr_scheduler.LambdaLR</a:t>
            </a:r>
            <a:r>
              <a:rPr lang="en-US" dirty="0"/>
              <a:t>`. </a:t>
            </a:r>
          </a:p>
          <a:p>
            <a:r>
              <a:rPr lang="en-US" dirty="0"/>
              <a:t>By default, the </a:t>
            </a:r>
            <a:r>
              <a:rPr lang="en-US" dirty="0" err="1"/>
              <a:t>save_strategy</a:t>
            </a:r>
            <a:r>
              <a:rPr lang="en-US" dirty="0"/>
              <a:t> is set to `steps`.</a:t>
            </a:r>
          </a:p>
          <a:p>
            <a:r>
              <a:rPr lang="en-US" b="0" dirty="0" err="1">
                <a:solidFill>
                  <a:srgbClr val="9CDCFE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save_total_limit</a:t>
            </a:r>
            <a:r>
              <a:rPr lang="en-US" b="0" dirty="0">
                <a:solidFill>
                  <a:srgbClr val="9CDCFE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= </a:t>
            </a:r>
            <a:r>
              <a:rPr lang="en-US" b="0" dirty="0">
                <a:solidFill>
                  <a:srgbClr val="B5CEA8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  </a:t>
            </a:r>
            <a:r>
              <a:rPr lang="en-US" b="0" dirty="0">
                <a:solidFill>
                  <a:srgbClr val="6A9955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# Save the last 2 checkpoints)</a:t>
            </a:r>
            <a:endParaRPr lang="en-US" b="0" dirty="0">
              <a:solidFill>
                <a:srgbClr val="D4D4D4"/>
              </a:solidFill>
              <a:effectLst/>
              <a:highlight>
                <a:srgbClr val="1E1E1E"/>
              </a:highlight>
              <a:latin typeface="Consolas" panose="020B060902020403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8019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8EB86-C513-CD11-F2C5-7C47F4CE9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Nvidia-</a:t>
            </a:r>
            <a:r>
              <a:rPr lang="en-US" dirty="0" err="1"/>
              <a:t>smi</a:t>
            </a:r>
            <a:r>
              <a:rPr lang="en-US" dirty="0"/>
              <a:t> and task manager for GPU monitoring (RAM, Temperature, …)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18D267-4168-51B6-291E-B6EB609E0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71046"/>
            <a:ext cx="6096000" cy="46869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459183-4634-BE53-68A1-7D9B6BC23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2171046"/>
            <a:ext cx="6096001" cy="468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6316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69649-DF59-3CD2-04FD-13D975452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B6076-3F5D-3764-9C26-2614CE852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نصب آناکاندا با دسترسی ادمین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ایجاد یک محیط مجازی با پایتون 3.8 یا بالاتر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ar-SA" sz="1800" dirty="0">
                <a:solidFill>
                  <a:srgbClr val="FF006D"/>
                </a:solidFill>
                <a:effectLst/>
                <a:highlight>
                  <a:srgbClr val="F6F7F8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فعال سازی محیط مجازی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ar-SA" sz="1800" dirty="0">
                <a:solidFill>
                  <a:srgbClr val="1C1C1C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دانلود </a:t>
            </a:r>
            <a:r>
              <a:rPr lang="en-US" sz="1800" dirty="0">
                <a:solidFill>
                  <a:srgbClr val="1C1C1C"/>
                </a:solidFill>
                <a:effectLst/>
                <a:highlight>
                  <a:srgbClr val="FFFFFF"/>
                </a:highlight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CUDA v11  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دانلود </a:t>
            </a:r>
            <a:r>
              <a:rPr lang="en-US" sz="1800" dirty="0">
                <a:solidFill>
                  <a:srgbClr val="1C1C1C"/>
                </a:solidFill>
                <a:effectLst/>
                <a:highlight>
                  <a:srgbClr val="FFFFFF"/>
                </a:highlight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Microsoft Visual Studio version for C++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fa-I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نصب کننده </a:t>
            </a:r>
            <a:r>
              <a:rPr lang="en-US" sz="1800" dirty="0">
                <a:solidFill>
                  <a:srgbClr val="1C1C1C"/>
                </a:solidFill>
                <a:effectLst/>
                <a:highlight>
                  <a:srgbClr val="FFFFFF"/>
                </a:highlight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CUDA v11</a:t>
            </a:r>
            <a:r>
              <a:rPr lang="ar-SA" sz="1800" dirty="0">
                <a:solidFill>
                  <a:srgbClr val="1C1C1C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 را اجرا کنید.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ar-SA" sz="1800" dirty="0">
                <a:solidFill>
                  <a:srgbClr val="1C1C1C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از مسیر زیر </a:t>
            </a:r>
            <a:r>
              <a:rPr lang="en-US" sz="1800" dirty="0" err="1">
                <a:solidFill>
                  <a:srgbClr val="1C1C1C"/>
                </a:solidFill>
                <a:effectLst/>
                <a:highlight>
                  <a:srgbClr val="FFFFFF"/>
                </a:highlight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cuDNN</a:t>
            </a:r>
            <a:r>
              <a:rPr lang="en-US" sz="1800" dirty="0">
                <a:solidFill>
                  <a:srgbClr val="1C1C1C"/>
                </a:solidFill>
                <a:effectLst/>
                <a:highlight>
                  <a:srgbClr val="FFFFFF"/>
                </a:highlight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r>
              <a:rPr lang="ar-SA" sz="1800" dirty="0">
                <a:solidFill>
                  <a:srgbClr val="1C1C1C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 را دانلود کنید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ar-SA" sz="1800" dirty="0">
                <a:solidFill>
                  <a:srgbClr val="1C1C1C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تعریف متغیرهای ویندوزی با توجه به مراحل زیر :</a:t>
            </a:r>
            <a:endParaRPr lang="en-US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6549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91513-F975-40C0-B128-D9C828B4C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command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212CB-1EB5-4FD2-9FC1-03CFED8B0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NVIDIA-</a:t>
            </a:r>
            <a:r>
              <a:rPr lang="en-US" dirty="0" err="1"/>
              <a:t>smi</a:t>
            </a:r>
            <a:endParaRPr lang="en-US" dirty="0"/>
          </a:p>
          <a:p>
            <a:r>
              <a:rPr lang="en-US" dirty="0" err="1"/>
              <a:t>Conda</a:t>
            </a:r>
            <a:r>
              <a:rPr lang="en-US" dirty="0"/>
              <a:t> info –</a:t>
            </a:r>
            <a:r>
              <a:rPr lang="en-US" dirty="0" err="1"/>
              <a:t>envs</a:t>
            </a:r>
            <a:endParaRPr lang="en-US" dirty="0"/>
          </a:p>
          <a:p>
            <a:r>
              <a:rPr lang="en-US" dirty="0" err="1"/>
              <a:t>Conda</a:t>
            </a:r>
            <a:r>
              <a:rPr lang="en-US" dirty="0"/>
              <a:t> activate</a:t>
            </a:r>
          </a:p>
          <a:p>
            <a:r>
              <a:rPr lang="en-US" dirty="0" err="1"/>
              <a:t>Conda</a:t>
            </a:r>
            <a:r>
              <a:rPr lang="en-US" dirty="0"/>
              <a:t> clone</a:t>
            </a:r>
          </a:p>
        </p:txBody>
      </p:sp>
    </p:spTree>
    <p:extLst>
      <p:ext uri="{BB962C8B-B14F-4D97-AF65-F5344CB8AC3E}">
        <p14:creationId xmlns:p14="http://schemas.microsoft.com/office/powerpoint/2010/main" val="34883186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BEB26-561B-7A1D-502B-D3B4062FA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7598"/>
          </a:xfrm>
        </p:spPr>
        <p:txBody>
          <a:bodyPr>
            <a:normAutofit fontScale="9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 Scenarios Leading to "CUDA Out of Memory" Error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FD9897D-468F-AC99-516C-7ED68406F2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5806" y="1185138"/>
            <a:ext cx="11533239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 sz="1800" b="1" dirty="0">
                <a:latin typeface="Arial" panose="020B0604020202020204" pitchFamily="34" charset="0"/>
              </a:rPr>
              <a:t>Large Batch Size: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batch size is too large, consuming too much GPU memory.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Reduce the batch size. For example, if you are using a batch size of 32, try reducing it to 16 or 8.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 Model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model is too large to fit into the GPU memory, especially for deep networks with many layers.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Use a smaller model or apply model pruning techniques to reduce the model size.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High-Resolution Input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input data (e.g., images, sequences) is of very high resolution.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Resize or crop the input data to a smaller resolution that still retains necessary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Memory Leaks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Inefficient code that retains unnecessary references to large tensors.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Ensure that you delete unnecessary tensors and use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torch.cuda.empty_cache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free up unused memory.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Accumulating Gradients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performing operations like gradient accumulation, which hold gradients in memory over multiple batches.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Clear gradients more frequently using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optimizer.zero_grad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Simultaneous Processes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processes or applications using the GPU simultaneously.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Close other applications or processes that are using the GPU.</a:t>
            </a:r>
          </a:p>
        </p:txBody>
      </p:sp>
    </p:spTree>
    <p:extLst>
      <p:ext uri="{BB962C8B-B14F-4D97-AF65-F5344CB8AC3E}">
        <p14:creationId xmlns:p14="http://schemas.microsoft.com/office/powerpoint/2010/main" val="10252519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DBD9A-62EE-62D4-155E-BCBF8314E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add new model to transformers library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E4BBC-6747-6E35-52BD-237696B4E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https://huggingface.co/docs/transformers/en/add_new_model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8416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EFB1C-78D8-A4BF-EA79-F4E4BE67C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CF568-6B72-5B30-5BCA-B7E1789A4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Fine tuning Bert model by new dataset.</a:t>
            </a:r>
          </a:p>
          <a:p>
            <a:r>
              <a:rPr lang="en-US" dirty="0"/>
              <a:t>Writing a compute metrics function</a:t>
            </a:r>
          </a:p>
          <a:p>
            <a:r>
              <a:rPr lang="en-US" dirty="0"/>
              <a:t>How work data preparation function</a:t>
            </a:r>
          </a:p>
          <a:p>
            <a:r>
              <a:rPr lang="en-US" dirty="0"/>
              <a:t>Change </a:t>
            </a:r>
            <a:r>
              <a:rPr lang="en-US"/>
              <a:t>batch size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624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</TotalTime>
  <Words>1672</Words>
  <Application>Microsoft Office PowerPoint</Application>
  <PresentationFormat>Widescreen</PresentationFormat>
  <Paragraphs>183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5" baseType="lpstr">
      <vt:lpstr>-apple-system</vt:lpstr>
      <vt:lpstr>Aptos</vt:lpstr>
      <vt:lpstr>Aptos Display</vt:lpstr>
      <vt:lpstr>Arial</vt:lpstr>
      <vt:lpstr>Arial Unicode MS</vt:lpstr>
      <vt:lpstr>Calibri</vt:lpstr>
      <vt:lpstr>Calibri Light</vt:lpstr>
      <vt:lpstr>Consolas</vt:lpstr>
      <vt:lpstr>FreightSans</vt:lpstr>
      <vt:lpstr>Montserrat</vt:lpstr>
      <vt:lpstr>Source Sans Pro</vt:lpstr>
      <vt:lpstr>Office Theme</vt:lpstr>
      <vt:lpstr>Question Answering Model of Bert</vt:lpstr>
      <vt:lpstr>Topics</vt:lpstr>
      <vt:lpstr>Review last concept s</vt:lpstr>
      <vt:lpstr>Why Bert vs MLP as a classic NN</vt:lpstr>
      <vt:lpstr>Bert tasks</vt:lpstr>
      <vt:lpstr>Special tokens</vt:lpstr>
      <vt:lpstr>Special Tokens in BERT for Question Answering</vt:lpstr>
      <vt:lpstr>Train Dataset</vt:lpstr>
      <vt:lpstr>Test Dataset</vt:lpstr>
      <vt:lpstr>Bert input format</vt:lpstr>
      <vt:lpstr>Predicting of start and end token for answer</vt:lpstr>
      <vt:lpstr>Output tokenizer</vt:lpstr>
      <vt:lpstr>Visualizing Scores (start word scores)</vt:lpstr>
      <vt:lpstr>Visualizing Scores (End word Scores)</vt:lpstr>
      <vt:lpstr>Input of QA bert Model  tokenization</vt:lpstr>
      <vt:lpstr>output of QA Bert Model  tokenization</vt:lpstr>
      <vt:lpstr>Data before Preparation for QA Bert Model</vt:lpstr>
      <vt:lpstr>Tokenizer keys</vt:lpstr>
      <vt:lpstr>Data after Preparation for QA Bert Model</vt:lpstr>
      <vt:lpstr>Model Summery </vt:lpstr>
      <vt:lpstr>Models size</vt:lpstr>
      <vt:lpstr>Output of QA Bert Model</vt:lpstr>
      <vt:lpstr>Bert QA vs GPT QA</vt:lpstr>
      <vt:lpstr>Distillation </vt:lpstr>
      <vt:lpstr>Training Arguments</vt:lpstr>
      <vt:lpstr>Trainer parameters</vt:lpstr>
      <vt:lpstr>which parameters of Transformers TrainingArguments class is for enabling create check point of model? </vt:lpstr>
      <vt:lpstr>Nvidia-smi and task manager for GPU monitoring (RAM, Temperature, …)</vt:lpstr>
      <vt:lpstr>GPU installation</vt:lpstr>
      <vt:lpstr>Useful command </vt:lpstr>
      <vt:lpstr>Common Scenarios Leading to "CUDA Out of Memory" Error</vt:lpstr>
      <vt:lpstr>How can add new model to transformers library </vt:lpstr>
      <vt:lpstr>exercises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Mollaei</dc:creator>
  <cp:lastModifiedBy>Ali Mollaei</cp:lastModifiedBy>
  <cp:revision>83</cp:revision>
  <dcterms:created xsi:type="dcterms:W3CDTF">2024-06-16T13:20:05Z</dcterms:created>
  <dcterms:modified xsi:type="dcterms:W3CDTF">2024-06-23T14:44:15Z</dcterms:modified>
</cp:coreProperties>
</file>